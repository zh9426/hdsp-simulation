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a4deb3c82c4fea" /><Relationship Type="http://schemas.openxmlformats.org/officeDocument/2006/relationships/extended-properties" Target="/docProps/app.xml" Id="R1ba84e52413a4a36" /><Relationship Type="http://schemas.openxmlformats.org/officeDocument/2006/relationships/officeDocument" Target="/ppt/presentation.xml" Id="R231c4470f9be44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c3e48717c43d4"/>
  </p:sldMasterIdLst>
  <p:notesMasterIdLst>
    <p:notesMasterId xmlns:r="http://schemas.openxmlformats.org/officeDocument/2006/relationships" r:id="Re9141262b1544249"/>
  </p:notesMasterIdLst>
  <p:sldIdLst>
    <p:sldId xmlns:r="http://schemas.openxmlformats.org/officeDocument/2006/relationships" id="256" r:id="Re16ce37dc2e74513"/>
    <p:sldId xmlns:r="http://schemas.openxmlformats.org/officeDocument/2006/relationships" id="257" r:id="R8d1e759e2c79479b"/>
    <p:sldId xmlns:r="http://schemas.openxmlformats.org/officeDocument/2006/relationships" id="258" r:id="Rfa879f1cd0324bd8"/>
    <p:sldId xmlns:r="http://schemas.openxmlformats.org/officeDocument/2006/relationships" id="259" r:id="R0d820da0c8a94c7b"/>
    <p:sldId xmlns:r="http://schemas.openxmlformats.org/officeDocument/2006/relationships" id="260" r:id="Rc445406c0fda48e6"/>
    <p:sldId xmlns:r="http://schemas.openxmlformats.org/officeDocument/2006/relationships" id="261" r:id="R0c6028d89a7142dd"/>
    <p:sldId xmlns:r="http://schemas.openxmlformats.org/officeDocument/2006/relationships" id="262" r:id="R09a06454c0a24303"/>
    <p:sldId xmlns:r="http://schemas.openxmlformats.org/officeDocument/2006/relationships" id="263" r:id="R1b3427283357459e"/>
    <p:sldId xmlns:r="http://schemas.openxmlformats.org/officeDocument/2006/relationships" id="264" r:id="Rc806760da398435e"/>
    <p:sldId xmlns:r="http://schemas.openxmlformats.org/officeDocument/2006/relationships" id="265" r:id="Ra173a73514074a94"/>
    <p:sldId xmlns:r="http://schemas.openxmlformats.org/officeDocument/2006/relationships" id="266" r:id="R2dcf1b81285d4c37"/>
  </p:sldIdLst>
  <p:sldSz cx="174752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c3e48717c43d4" /><Relationship Type="http://schemas.openxmlformats.org/officeDocument/2006/relationships/theme" Target="/ppt/theme/theme1.xml" Id="R7e5180ccd4854fb8" /><Relationship Type="http://schemas.openxmlformats.org/officeDocument/2006/relationships/notesMaster" Target="/ppt/notesMasters/notesMaster1.xml" Id="Re9141262b1544249" /><Relationship Type="http://schemas.openxmlformats.org/officeDocument/2006/relationships/presProps" Target="/ppt/presProps.xml" Id="R6d7c7104eea14fde" /><Relationship Type="http://schemas.openxmlformats.org/officeDocument/2006/relationships/viewProps" Target="/ppt/viewProps.xml" Id="R6f29bbb3e96346b4" /><Relationship Type="http://schemas.openxmlformats.org/officeDocument/2006/relationships/tableStyles" Target="/ppt/tableStyles.xml" Id="R91c7270e7d12455c" /><Relationship Type="http://schemas.openxmlformats.org/officeDocument/2006/relationships/slide" Target="/ppt/slides/slide1.xml" Id="Re16ce37dc2e74513" /><Relationship Type="http://schemas.openxmlformats.org/officeDocument/2006/relationships/slide" Target="/ppt/slides/slide2.xml" Id="R8d1e759e2c79479b" /><Relationship Type="http://schemas.openxmlformats.org/officeDocument/2006/relationships/slide" Target="/ppt/slides/slide3.xml" Id="Rfa879f1cd0324bd8" /><Relationship Type="http://schemas.openxmlformats.org/officeDocument/2006/relationships/slide" Target="/ppt/slides/slide4.xml" Id="R0d820da0c8a94c7b" /><Relationship Type="http://schemas.openxmlformats.org/officeDocument/2006/relationships/slide" Target="/ppt/slides/slide5.xml" Id="Rc445406c0fda48e6" /><Relationship Type="http://schemas.openxmlformats.org/officeDocument/2006/relationships/slide" Target="/ppt/slides/slide6.xml" Id="R0c6028d89a7142dd" /><Relationship Type="http://schemas.openxmlformats.org/officeDocument/2006/relationships/slide" Target="/ppt/slides/slide7.xml" Id="R09a06454c0a24303" /><Relationship Type="http://schemas.openxmlformats.org/officeDocument/2006/relationships/slide" Target="/ppt/slides/slide8.xml" Id="R1b3427283357459e" /><Relationship Type="http://schemas.openxmlformats.org/officeDocument/2006/relationships/slide" Target="/ppt/slides/slide9.xml" Id="Rc806760da398435e" /><Relationship Type="http://schemas.openxmlformats.org/officeDocument/2006/relationships/slide" Target="/ppt/slides/slide10.xml" Id="Ra173a73514074a94" /><Relationship Type="http://schemas.openxmlformats.org/officeDocument/2006/relationships/slide" Target="/ppt/slides/slide11.xml" Id="R2dcf1b81285d4c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6c29dfe0c041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62491aa494cc9" /><Relationship Type="http://schemas.openxmlformats.org/officeDocument/2006/relationships/notesMaster" Target="/ppt/notesMasters/notesMaster1.xml" Id="R1e0f3441997843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9162b2dd1490e" /><Relationship Type="http://schemas.openxmlformats.org/officeDocument/2006/relationships/notesMaster" Target="/ppt/notesMasters/notesMaster1.xml" Id="Rd7174dd8c8404e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8787b19852414e" /><Relationship Type="http://schemas.openxmlformats.org/officeDocument/2006/relationships/notesMaster" Target="/ppt/notesMasters/notesMaster1.xml" Id="Rd45073e04b0f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4ae44a0034f5f" /><Relationship Type="http://schemas.openxmlformats.org/officeDocument/2006/relationships/notesMaster" Target="/ppt/notesMasters/notesMaster1.xml" Id="R6ef609cc277b48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140727ce04202" /><Relationship Type="http://schemas.openxmlformats.org/officeDocument/2006/relationships/notesMaster" Target="/ppt/notesMasters/notesMaster1.xml" Id="R35974af80d3b45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9177a6b0cb4c54" /><Relationship Type="http://schemas.openxmlformats.org/officeDocument/2006/relationships/notesMaster" Target="/ppt/notesMasters/notesMaster1.xml" Id="Rb7e4bdbe63574f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47d33c1674d48" /><Relationship Type="http://schemas.openxmlformats.org/officeDocument/2006/relationships/notesMaster" Target="/ppt/notesMasters/notesMaster1.xml" Id="R398d2cd7217443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53865a90494945" /><Relationship Type="http://schemas.openxmlformats.org/officeDocument/2006/relationships/notesMaster" Target="/ppt/notesMasters/notesMaster1.xml" Id="Re80272d0d24a40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54e02bc6e4111" /><Relationship Type="http://schemas.openxmlformats.org/officeDocument/2006/relationships/notesMaster" Target="/ppt/notesMasters/notesMaster1.xml" Id="Rdc28128ab0e5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071f2afe14452a" /><Relationship Type="http://schemas.openxmlformats.org/officeDocument/2006/relationships/notesMaster" Target="/ppt/notesMasters/notesMaster1.xml" Id="R8048ee9a273541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f8df31a9c94997" /><Relationship Type="http://schemas.openxmlformats.org/officeDocument/2006/relationships/notesMaster" Target="/ppt/notesMasters/notesMaster1.xml" Id="Re8d0f6d981ad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需要可靠的指标来评价仿真的可靠性，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d33761dca43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457222b6540a5" /></Relationships>
</file>

<file path=ppt/slideLayouts/slideLayout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524BD1B-2708-4A8A-B10F-78DACEF1527D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55320" y="9040143"/>
            <a:ext cx="3058160" cy="519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B3A8596-3361-4087-97FE-1620740A2A2D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478020" y="9040143"/>
            <a:ext cx="4150360" cy="519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F9053A84-81AB-4436-BCE4-821C31E77161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9392920" y="9040143"/>
            <a:ext cx="3058160" cy="519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5da520822314dbf" /><Relationship Type="http://schemas.openxmlformats.org/officeDocument/2006/relationships/slideLayout" Target="/ppt/slideLayouts/slideLayout2.xml" Id="Rf8c8d254327f4642" /><Relationship Type="http://schemas.openxmlformats.org/officeDocument/2006/relationships/slideLayout" Target="/ppt/slideLayouts/slideLayout3.xml" Id="R4bc2d237e6aa4e5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8d254327f4642"/>
    <p:sldLayoutId xmlns:r="http://schemas.openxmlformats.org/officeDocument/2006/relationships" id="2147483650" r:id="R4bc2d237e6aa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d018b46c64bfd" /><Relationship Type="http://schemas.openxmlformats.org/officeDocument/2006/relationships/notesSlide" Target="/ppt/notesSlides/notesSlide1.xml" Id="R3ae77f4695824b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62fe9e513f4f9e" /><Relationship Type="http://schemas.openxmlformats.org/officeDocument/2006/relationships/image" Target="/ppt/media/image.png" Id="R9b5ebda693224440" /><Relationship Type="http://schemas.openxmlformats.org/officeDocument/2006/relationships/notesSlide" Target="/ppt/notesSlides/notesSlide2.xml" Id="Re01328e6c1c3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7deab0fe264e49" /><Relationship Type="http://schemas.openxmlformats.org/officeDocument/2006/relationships/image" Target="/ppt/media/image2.png" Id="R69d16ce3a9d448dd" /><Relationship Type="http://schemas.openxmlformats.org/officeDocument/2006/relationships/image" Target="/ppt/media/image3.png" Id="Rb04d1e408bdf4be3" /><Relationship Type="http://schemas.openxmlformats.org/officeDocument/2006/relationships/image" Target="/ppt/media/image4.png" Id="R6496d934f0014587" /><Relationship Type="http://schemas.openxmlformats.org/officeDocument/2006/relationships/image" Target="/ppt/media/image5.png" Id="R44914344929d4edc" /><Relationship Type="http://schemas.openxmlformats.org/officeDocument/2006/relationships/image" Target="/ppt/media/image6.png" Id="R3deff706d5aa42a0" /><Relationship Type="http://schemas.openxmlformats.org/officeDocument/2006/relationships/image" Target="/ppt/media/image7.png" Id="R3cab49b815254a82" /><Relationship Type="http://schemas.openxmlformats.org/officeDocument/2006/relationships/image" Target="/ppt/media/image8.png" Id="Rbc1f22742ccd4581" /><Relationship Type="http://schemas.openxmlformats.org/officeDocument/2006/relationships/image" Target="/ppt/media/image9.png" Id="R8229ec547e334c74" /><Relationship Type="http://schemas.openxmlformats.org/officeDocument/2006/relationships/image" Target="/ppt/media/image10.png" Id="R1308d192a9b640b9" /><Relationship Type="http://schemas.openxmlformats.org/officeDocument/2006/relationships/notesSlide" Target="/ppt/notesSlides/notesSlide3.xml" Id="Re6e0deba87374a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bbcdc25670473f" /><Relationship Type="http://schemas.openxmlformats.org/officeDocument/2006/relationships/image" Target="/ppt/media/image11.png" Id="R7442efd861b44ce7" /><Relationship Type="http://schemas.openxmlformats.org/officeDocument/2006/relationships/image" Target="/ppt/media/image12.png" Id="Rfd2f52a5e29c4350" /><Relationship Type="http://schemas.openxmlformats.org/officeDocument/2006/relationships/image" Target="/ppt/media/image13.png" Id="Rbbf43c3151654ca7" /><Relationship Type="http://schemas.openxmlformats.org/officeDocument/2006/relationships/image" Target="/ppt/media/image.jpeg" Id="Re1bd7deebaef415b" /><Relationship Type="http://schemas.openxmlformats.org/officeDocument/2006/relationships/image" Target="/ppt/media/image14.png" Id="R4c9416971a444518" /><Relationship Type="http://schemas.openxmlformats.org/officeDocument/2006/relationships/notesSlide" Target="/ppt/notesSlides/notesSlide4.xml" Id="R7a57c8f0b41a49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2adb249b4147af" /><Relationship Type="http://schemas.openxmlformats.org/officeDocument/2006/relationships/image" Target="/ppt/media/image10.png" Id="R1deb9bc999654d08" /><Relationship Type="http://schemas.openxmlformats.org/officeDocument/2006/relationships/image" Target="/ppt/media/image15.png" Id="R76ef58ccc9814897" /><Relationship Type="http://schemas.openxmlformats.org/officeDocument/2006/relationships/image" Target="/ppt/media/image16.png" Id="Rba7bf4dbf1db47b3" /><Relationship Type="http://schemas.openxmlformats.org/officeDocument/2006/relationships/notesSlide" Target="/ppt/notesSlides/notesSlide5.xml" Id="R78fcdd568c7d4b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885331600742c7" /><Relationship Type="http://schemas.openxmlformats.org/officeDocument/2006/relationships/image" Target="/ppt/media/image17.png" Id="R7ca5ea51b9e14505" /><Relationship Type="http://schemas.openxmlformats.org/officeDocument/2006/relationships/image" Target="/ppt/media/image18.png" Id="R1b7960bb622549f4" /><Relationship Type="http://schemas.openxmlformats.org/officeDocument/2006/relationships/notesSlide" Target="/ppt/notesSlides/notesSlide6.xml" Id="R75f182cd43bf46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d38d9d815a4656" /><Relationship Type="http://schemas.openxmlformats.org/officeDocument/2006/relationships/image" Target="/ppt/media/image19.png" Id="Rf6d4893962cd4a09" /><Relationship Type="http://schemas.openxmlformats.org/officeDocument/2006/relationships/image" Target="/ppt/media/image20.png" Id="R534156724db24646" /><Relationship Type="http://schemas.openxmlformats.org/officeDocument/2006/relationships/image" Target="/ppt/media/image21.png" Id="Rde8175495c4d4a61" /><Relationship Type="http://schemas.openxmlformats.org/officeDocument/2006/relationships/image" Target="/ppt/media/image22.png" Id="R498d1aa337204198" /><Relationship Type="http://schemas.openxmlformats.org/officeDocument/2006/relationships/image" Target="/ppt/media/image23.png" Id="Rfc9ec2c6877846cd" /><Relationship Type="http://schemas.openxmlformats.org/officeDocument/2006/relationships/image" Target="/ppt/media/image5.png" Id="R72bb4b2657d1496f" /><Relationship Type="http://schemas.openxmlformats.org/officeDocument/2006/relationships/image" Target="/ppt/media/image24.png" Id="Rd8ef44cc215c4b73" /><Relationship Type="http://schemas.openxmlformats.org/officeDocument/2006/relationships/notesSlide" Target="/ppt/notesSlides/notesSlide7.xml" Id="R7818fee09c0641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693f466c7a42f4" /><Relationship Type="http://schemas.openxmlformats.org/officeDocument/2006/relationships/image" Target="/ppt/media/image25.png" Id="R9d8d60ea6a454b8a" /><Relationship Type="http://schemas.openxmlformats.org/officeDocument/2006/relationships/image" Target="/ppt/media/image26.png" Id="R358a17f03af348c0" /><Relationship Type="http://schemas.openxmlformats.org/officeDocument/2006/relationships/notesSlide" Target="/ppt/notesSlides/notesSlide8.xml" Id="Raae89fbb32454f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391714b56a4a4b" /><Relationship Type="http://schemas.openxmlformats.org/officeDocument/2006/relationships/image" Target="/ppt/media/image27.png" Id="Rb8fe4a1a667741fe" /><Relationship Type="http://schemas.openxmlformats.org/officeDocument/2006/relationships/image" Target="/ppt/media/image28.png" Id="Re42acbbb0f854103" /><Relationship Type="http://schemas.openxmlformats.org/officeDocument/2006/relationships/image" Target="/ppt/media/image29.png" Id="R3a3e04ab5b0444d5" /><Relationship Type="http://schemas.openxmlformats.org/officeDocument/2006/relationships/image" Target="/ppt/media/image2.jpeg" Id="R13a43afe3a0c4f80" /><Relationship Type="http://schemas.openxmlformats.org/officeDocument/2006/relationships/image" Target="/ppt/media/image3.jpeg" Id="R1438a46d11d4424d" /><Relationship Type="http://schemas.openxmlformats.org/officeDocument/2006/relationships/image" Target="/ppt/media/image4.jpeg" Id="R19dc3519c5b34b9e" /><Relationship Type="http://schemas.openxmlformats.org/officeDocument/2006/relationships/image" Target="/ppt/media/image30.png" Id="Rd29481b83e944776" /><Relationship Type="http://schemas.openxmlformats.org/officeDocument/2006/relationships/image" Target="/ppt/media/image31.png" Id="R31b5fd22563e4692" /><Relationship Type="http://schemas.openxmlformats.org/officeDocument/2006/relationships/image" Target="/ppt/media/image32.png" Id="R0a334bfdab914df9" /><Relationship Type="http://schemas.openxmlformats.org/officeDocument/2006/relationships/image" Target="/ppt/media/image33.png" Id="R13dc46a937d84c79" /><Relationship Type="http://schemas.openxmlformats.org/officeDocument/2006/relationships/image" Target="/ppt/media/image34.png" Id="Rc9fc189983614e1a" /><Relationship Type="http://schemas.openxmlformats.org/officeDocument/2006/relationships/image" Target="/ppt/media/image35.png" Id="R42afa38d3dfb406a" /><Relationship Type="http://schemas.openxmlformats.org/officeDocument/2006/relationships/image" Target="/ppt/media/image36.png" Id="R373ff2b49d084784" /><Relationship Type="http://schemas.openxmlformats.org/officeDocument/2006/relationships/image" Target="/ppt/media/image37.png" Id="R54d335bdbea24cc2" /><Relationship Type="http://schemas.openxmlformats.org/officeDocument/2006/relationships/notesSlide" Target="/ppt/notesSlides/notesSlide9.xml" Id="R0f3238b62794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b9c46fab5b4d7b" /><Relationship Type="http://schemas.openxmlformats.org/officeDocument/2006/relationships/image" Target="/ppt/media/image5.jpeg" Id="R296baec26f8f4b6d" /><Relationship Type="http://schemas.openxmlformats.org/officeDocument/2006/relationships/notesSlide" Target="/ppt/notesSlides/notesSlide10.xml" Id="R854a4fd082ec45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358cd463584f60" /><Relationship Type="http://schemas.openxmlformats.org/officeDocument/2006/relationships/notesSlide" Target="/ppt/notesSlides/notesSlide11.xml" Id="Rc2c580c534944a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C09450A7-29D9-40C4-B3EA-2C2DC090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702859"/>
            <a:ext cx="10013696" cy="2521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9979"/>
              </a:lnSpc>
              <a:buNone/>
            </a:pPr>
            <a:r>
              <a:rPr sz="6827" b="1">
                <a:solidFill>
                  <a:srgbClr val="1E3A8A"/>
                </a:solidFill>
                <a:latin typeface="+mj-ea"/>
                <a:ea typeface="+mj-ea"/>
                <a:cs typeface="+mj-ea"/>
              </a:rPr>
              <a:t>用于超声3D打印的</a:t>
            </a:r>
            <a:br/>
            <a:r>
              <a:rPr sz="6827" b="1">
                <a:solidFill>
                  <a:srgbClr val="1E3A8A"/>
                </a:solidFill>
                <a:latin typeface="+mj-ea"/>
                <a:ea typeface="+mj-ea"/>
                <a:cs typeface="+mj-ea"/>
              </a:rPr>
              <a:t> 全息超声调制相位板仿真</a:t>
            </a:r>
          </a:p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E45D44CB-991E-42DB-B382-AFAF8B5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854" y="5002741"/>
            <a:ext cx="255910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汇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报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人：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赵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鑫煜</a:t>
            </a: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46BF07EF-A13B-4F83-A0F6-A3F1DEF9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88" y="5747807"/>
            <a:ext cx="57664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专业：生物医学工程 </a:t>
            </a: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341553D6-ED81-4BE4-9367-910D8AD9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747" y="6492875"/>
            <a:ext cx="305120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指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导教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师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：荣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强</a:t>
            </a:r>
            <a:r>
              <a:rPr sz="2773">
                <a:solidFill>
                  <a:srgbClr val="475569"/>
                </a:solidFill>
                <a:latin typeface="+mj-ea"/>
                <a:ea typeface="+mj-ea"/>
                <a:cs typeface="+mj-ea"/>
              </a:rPr>
              <a:t>周</a:t>
            </a: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D9FC1ABC-C0FA-475C-9585-D82C155F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150" y="7644338"/>
            <a:ext cx="2121813" cy="36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47">
                <a:latin typeface="+mj-ea"/>
                <a:ea typeface="+mj-ea"/>
                <a:cs typeface="+mj-ea"/>
              </a:rPr>
              <a:t>2026年04月</a:t>
            </a:r>
          </a:p>
        </p:txBody>
      </p:sp>
    </p:spTree>
    <p:extLst>
      <p:ext uri="{BB962C8B-B14F-4D97-AF65-F5344CB8AC3E}">
        <p14:creationId xmlns:p14="http://schemas.microsoft.com/office/powerpoint/2010/main" val="3745799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ebda693224440"/>
          <a:srcRect xmlns:a="http://schemas.openxmlformats.org/drawingml/2006/main" l="79" t="0" r="79" b="0"/>
          <a:stretch xmlns:a="http://schemas.openxmlformats.org/drawingml/2006/main"/>
        </p:blipFill>
        <p:spPr>
          <a:xfrm xmlns:a="http://schemas.openxmlformats.org/drawingml/2006/main">
            <a:off x="298893" y="4236844"/>
            <a:ext cx="6836760" cy="3751239"/>
          </a:xfrm>
          <a:prstGeom xmlns:a="http://schemas.openxmlformats.org/drawingml/2006/main" prst="rect">
            <a:avLst/>
          </a:prstGeom>
        </p:spPr>
      </p:pic>
      <p:sp>
        <p:nvSpPr>
          <p:cNvPr id="1048579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266477-F6D6-0937-C8A7-3F90A8AA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" y="2029674"/>
            <a:ext cx="15237143" cy="6537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B">
              <a:alpha val="100000"/>
            </a:srgbClr>
          </a:solidFill>
          <a:ln xmlns:a="http://schemas.openxmlformats.org/drawingml/2006/main" w="0">
            <a:noFill/>
            <a:prstDash val="dash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336550" algn="ctr">
              <a:lnSpc>
                <a:spcPct val="92000"/>
              </a:lnSpc>
              <a:buNone/>
            </a:pPr>
            <a:r>
              <a:rPr sz="2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本项目期望建立一条可运行</a:t>
            </a:r>
            <a:r>
              <a:rPr sz="2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2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可评估、可迭代优化的仿真链路闭环</a:t>
            </a:r>
            <a:r>
              <a:rPr sz="2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</a:p>
        </p:txBody>
      </p:sp>
      <p:sp>
        <p:nvSpPr>
          <p:cNvPr id="1048580" name="textbox 16">
            <a:extLst xmlns:a="http://schemas.openxmlformats.org/drawingml/2006/main">
              <a:ext uri="{FF2B5EF4-FFF2-40B4-BE49-F238E27FC236}">
                <a16:creationId xmlns:a16="http://schemas.microsoft.com/office/drawing/2014/main" id="{A898681F-78DB-E9B3-BDA8-77876846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55" y="1031531"/>
            <a:ext cx="6652305" cy="653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66194"/>
              </a:lnSpc>
              <a:buNone/>
            </a:pPr>
          </a:p>
          <a:p xmlns:a="http://schemas.openxmlformats.org/drawingml/2006/main">
            <a:pPr algn="l">
              <a:lnSpc>
                <a:spcPct val="109000"/>
              </a:lnSpc>
              <a:buNone/>
            </a:pPr>
          </a:p>
          <a:p xmlns:a="http://schemas.openxmlformats.org/drawingml/2006/main">
            <a:pPr algn="l">
              <a:lnSpc>
                <a:spcPct val="6903"/>
              </a:lnSpc>
              <a:buNone/>
            </a:pPr>
          </a:p>
          <a:p xmlns:a="http://schemas.openxmlformats.org/drawingml/2006/main">
            <a:pPr marL="12700" algn="l">
              <a:lnSpc>
                <a:spcPct val="95000"/>
              </a:lnSpc>
              <a:buNone/>
            </a:pPr>
            <a:r>
              <a:rPr sz="2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从“超声全息调控”到“面打印效果验证”</a:t>
            </a:r>
          </a:p>
        </p:txBody>
      </p:sp>
      <p:sp>
        <p:nvSpPr>
          <p:cNvPr id="1048581" name="textbox 18">
            <a:extLst xmlns:a="http://schemas.openxmlformats.org/drawingml/2006/main">
              <a:ext uri="{FF2B5EF4-FFF2-40B4-BE49-F238E27FC236}">
                <a16:creationId xmlns:a16="http://schemas.microsoft.com/office/drawing/2014/main" id="{96B32C11-1D55-84B9-5BC8-8BCB1EBD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368" y="7517530"/>
            <a:ext cx="3219392" cy="1543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7783"/>
              </a:lnSpc>
              <a:buNone/>
            </a:pPr>
          </a:p>
          <a:p xmlns:a="http://schemas.openxmlformats.org/drawingml/2006/main">
            <a:pPr marL="17779" algn="l">
              <a:lnSpc>
                <a:spcPct val="96000"/>
              </a:lnSpc>
              <a:buNone/>
            </a:pPr>
            <a:r>
              <a:rPr sz="28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固化</a:t>
            </a:r>
            <a:r>
              <a:rPr sz="28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与评价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</a:pPr>
          </a:p>
          <a:p xmlns:a="http://schemas.openxmlformats.org/drawingml/2006/main">
            <a:pPr marL="12700" algn="l">
              <a:lnSpc>
                <a:spcPct val="111000"/>
              </a:lnSpc>
              <a:spcBef>
                <a:spcPts val="7"/>
              </a:spcBef>
              <a:buNone/>
            </a:pP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如何引入固化物理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判据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对打印形貌做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定量评价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</a:p>
        </p:txBody>
      </p:sp>
      <p:sp>
        <p:nvSpPr>
          <p:cNvPr id="1048582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DA4CB3-4614-8178-05A7-BC42F394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277" y="3367538"/>
            <a:ext cx="3003492" cy="1406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6899"/>
              </a:lnSpc>
              <a:buNone/>
            </a:pPr>
          </a:p>
          <a:p xmlns:a="http://schemas.openxmlformats.org/drawingml/2006/main">
            <a:pPr marL="17779" algn="l">
              <a:lnSpc>
                <a:spcPct val="96000"/>
              </a:lnSpc>
              <a:buNone/>
            </a:pPr>
            <a:r>
              <a:rPr sz="28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离散与制造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</a:pPr>
          </a:p>
          <a:p xmlns:a="http://schemas.openxmlformats.org/drawingml/2006/main">
            <a:pPr marL="12700" algn="l">
              <a:lnSpc>
                <a:spcPct val="103000"/>
              </a:lnSpc>
              <a:spcBef>
                <a:spcPts val="1"/>
              </a:spcBef>
              <a:buNone/>
            </a:pP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如何将相位准确映射为可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制造的离散厚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度板?</a:t>
            </a:r>
          </a:p>
        </p:txBody>
      </p:sp>
      <p:sp>
        <p:nvSpPr>
          <p:cNvPr id="104858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79E574C-BF24-0AB6-6046-0AEE5F68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0919"/>
            <a:ext cx="2539956" cy="1489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668"/>
              </a:lnSpc>
              <a:buNone/>
            </a:pPr>
          </a:p>
          <a:p xmlns:a="http://schemas.openxmlformats.org/drawingml/2006/main">
            <a:pPr marL="17779" algn="l">
              <a:lnSpc>
                <a:spcPct val="95000"/>
              </a:lnSpc>
              <a:buNone/>
            </a:pPr>
            <a:r>
              <a:rPr sz="28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定义与反演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</a:pPr>
          </a:p>
          <a:p xmlns:a="http://schemas.openxmlformats.org/drawingml/2006/main">
            <a:pPr algn="l">
              <a:lnSpc>
                <a:spcPct val="9095"/>
              </a:lnSpc>
              <a:buNone/>
            </a:pPr>
          </a:p>
          <a:p xmlns:a="http://schemas.openxmlformats.org/drawingml/2006/main">
            <a:pPr marL="12700" algn="l">
              <a:lnSpc>
                <a:spcPct val="104000"/>
              </a:lnSpc>
              <a:buNone/>
            </a:pP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如何定义目标图案并反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演可实现的相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位分布?</a:t>
            </a:r>
          </a:p>
        </p:txBody>
      </p:sp>
      <p:sp>
        <p:nvSpPr>
          <p:cNvPr id="1048584" name="textbox 24">
            <a:extLst xmlns:a="http://schemas.openxmlformats.org/drawingml/2006/main">
              <a:ext uri="{FF2B5EF4-FFF2-40B4-BE49-F238E27FC236}">
                <a16:creationId xmlns:a16="http://schemas.microsoft.com/office/drawing/2014/main" id="{CB9B7828-876B-6141-F9D1-27E2B290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86" y="7723926"/>
            <a:ext cx="2895590" cy="170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6899"/>
              </a:lnSpc>
              <a:buNone/>
            </a:pPr>
          </a:p>
          <a:p xmlns:a="http://schemas.openxmlformats.org/drawingml/2006/main">
            <a:pPr marL="17779" algn="l">
              <a:lnSpc>
                <a:spcPct val="96000"/>
              </a:lnSpc>
              <a:buNone/>
            </a:pPr>
            <a:r>
              <a:rPr sz="28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物理与声场</a:t>
            </a:r>
          </a:p>
          <a:p xmlns:a="http://schemas.openxmlformats.org/drawingml/2006/main">
            <a:pPr algn="l">
              <a:lnSpc>
                <a:spcPct val="101000"/>
              </a:lnSpc>
              <a:buNone/>
            </a:pPr>
          </a:p>
          <a:p xmlns:a="http://schemas.openxmlformats.org/drawingml/2006/main">
            <a:pPr marL="12700" algn="l">
              <a:lnSpc>
                <a:spcPct val="111000"/>
              </a:lnSpc>
              <a:spcBef>
                <a:spcPts val="3"/>
              </a:spcBef>
              <a:buNone/>
            </a:pP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如何利用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Wave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严谨验证三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维声场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传播</a:t>
            </a:r>
            <a:r>
              <a:rPr sz="23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FCB8BC-96CC-4F28-AA7F-2E53A52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329" y="476250"/>
            <a:ext cx="384265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A175EA2E-5D27-BFFC-E0AB-02E72EE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3970020" cy="738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研究背景与任务目标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EF395892-E2C3-2971-A603-70F4F31E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380" y="2907330"/>
            <a:ext cx="8439620" cy="33406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3B76C31-929F-77E4-0679-B7B0715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47" y="5266747"/>
            <a:ext cx="2397896" cy="580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78378"/>
              </a:lnSpc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离散厚度映射</a:t>
            </a:r>
          </a:p>
          <a:p xmlns:a="http://schemas.openxmlformats.org/drawingml/2006/main">
            <a:pPr algn="l">
              <a:lnSpc>
                <a:spcPct val="78378"/>
              </a:lnSpc>
              <a:buNone/>
            </a:pPr>
          </a:p>
        </p:txBody>
      </p:sp>
      <p:sp>
        <p:nvSpPr>
          <p:cNvPr id="24" name="textbox 36">
            <a:extLst xmlns:a="http://schemas.openxmlformats.org/drawingml/2006/main">
              <a:ext uri="{FF2B5EF4-FFF2-40B4-BE49-F238E27FC236}">
                <a16:creationId xmlns:a16="http://schemas.microsoft.com/office/drawing/2014/main" id="{B335951F-10BA-B6DD-7FB1-E231E2E6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201" y="3586929"/>
            <a:ext cx="2553261" cy="78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36593"/>
              </a:lnSpc>
              <a:buNone/>
            </a:pPr>
          </a:p>
          <a:p xmlns:a="http://schemas.openxmlformats.org/drawingml/2006/main">
            <a:pPr marL="119379" indent="-107314" algn="ctr">
              <a:lnSpc>
                <a:spcPct val="99000"/>
              </a:lnSpc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目标图案、网格 </a:t>
            </a: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物理参数构建</a:t>
            </a:r>
          </a:p>
        </p:txBody>
      </p:sp>
      <p:sp>
        <p:nvSpPr>
          <p:cNvPr id="25" name="textbox 38">
            <a:extLst xmlns:a="http://schemas.openxmlformats.org/drawingml/2006/main">
              <a:ext uri="{FF2B5EF4-FFF2-40B4-BE49-F238E27FC236}">
                <a16:creationId xmlns:a16="http://schemas.microsoft.com/office/drawing/2014/main" id="{92D2ED9C-7E66-3B43-A24A-57D64168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467" y="5360086"/>
            <a:ext cx="1435850" cy="515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78378"/>
              </a:lnSpc>
              <a:buNone/>
            </a:pPr>
          </a:p>
          <a:p xmlns:a="http://schemas.openxmlformats.org/drawingml/2006/main">
            <a:pPr marL="12700" algn="l">
              <a:lnSpc>
                <a:spcPct val="96000"/>
              </a:lnSpc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IASA复算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C34E89B-8A75-9EE5-49DA-87B64542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198" y="2851960"/>
            <a:ext cx="2144382" cy="5155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spcBef>
                <a:spcPts val="5"/>
              </a:spcBef>
              <a:buNone/>
            </a:pPr>
            <a:r>
              <a:rPr sz="2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MATLAB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EEEF231-808C-985F-C662-C61E1121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397" y="4402444"/>
            <a:ext cx="2733055" cy="459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97000"/>
              </a:lnSpc>
              <a:spcBef>
                <a:spcPts val="2"/>
              </a:spcBef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k-Wave</a:t>
            </a: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声场仿真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C17FDB9B-3FA7-DAE6-4A62-83408CF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5766" y="3501141"/>
            <a:ext cx="2192316" cy="450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97000"/>
              </a:lnSpc>
              <a:spcBef>
                <a:spcPts val="2"/>
              </a:spcBef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固化预测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2290BE57-E818-B346-5542-7211A3C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910" y="7014916"/>
            <a:ext cx="8081205" cy="25205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标注: 左箭头 62">
            <a:extLst xmlns:a="http://schemas.openxmlformats.org/drawingml/2006/main">
              <a:ext uri="{FF2B5EF4-FFF2-40B4-BE49-F238E27FC236}">
                <a16:creationId xmlns:a16="http://schemas.microsoft.com/office/drawing/2014/main" id="{D5311497-18E7-D362-A0B6-F503D3E3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167903" y="3628903"/>
            <a:ext cx="3586261" cy="7442806"/>
          </a:xfrm>
          <a:prstGeom xmlns:a="http://schemas.openxmlformats.org/drawingml/2006/main" prst="leftArrowCallout">
            <a:avLst>
              <a:gd name="adj1" fmla="val 7616"/>
              <a:gd name="adj2" fmla="val 7213"/>
              <a:gd name="adj3" fmla="val 18389"/>
              <a:gd name="adj4" fmla="val 42533"/>
            </a:avLst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576" name="textbox 34">
            <a:extLst xmlns:a="http://schemas.openxmlformats.org/drawingml/2006/main">
              <a:ext uri="{FF2B5EF4-FFF2-40B4-BE49-F238E27FC236}">
                <a16:creationId xmlns:a16="http://schemas.microsoft.com/office/drawing/2014/main" id="{3C9C068A-0090-89BA-FFF9-E5E7E56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392" y="9143436"/>
            <a:ext cx="1665995" cy="479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5071"/>
              </a:lnSpc>
              <a:buNone/>
            </a:pPr>
          </a:p>
          <a:p xmlns:a="http://schemas.openxmlformats.org/drawingml/2006/main">
            <a:pPr marL="431165" algn="l">
              <a:lnSpc>
                <a:spcPct val="91000"/>
              </a:lnSpc>
              <a:buNone/>
            </a:pPr>
            <a:r>
              <a:rPr sz="2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Python</a:t>
            </a:r>
          </a:p>
          <a:p xmlns:a="http://schemas.openxmlformats.org/drawingml/2006/main">
            <a:pPr algn="l">
              <a:lnSpc>
                <a:spcPct val="149000"/>
              </a:lnSpc>
              <a:buNone/>
            </a:pPr>
          </a:p>
        </p:txBody>
      </p:sp>
      <p:sp>
        <p:nvSpPr>
          <p:cNvPr id="1048577" name="文本框 1048576">
            <a:extLst xmlns:a="http://schemas.openxmlformats.org/drawingml/2006/main">
              <a:ext uri="{FF2B5EF4-FFF2-40B4-BE49-F238E27FC236}">
                <a16:creationId xmlns:a16="http://schemas.microsoft.com/office/drawing/2014/main" id="{4EAC6EB1-847D-5588-E8E6-EC3362B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V="1">
            <a:off x="12611510" y="8067769"/>
            <a:ext cx="3070927" cy="443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95000"/>
              </a:lnSpc>
              <a:spcBef>
                <a:spcPts val="1"/>
              </a:spcBef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输出初始相位与掩膜</a:t>
            </a:r>
          </a:p>
        </p:txBody>
      </p:sp>
      <p:sp>
        <p:nvSpPr>
          <p:cNvPr id="1048578" name="文本框 1048577">
            <a:extLst xmlns:a="http://schemas.openxmlformats.org/drawingml/2006/main">
              <a:ext uri="{FF2B5EF4-FFF2-40B4-BE49-F238E27FC236}">
                <a16:creationId xmlns:a16="http://schemas.microsoft.com/office/drawing/2014/main" id="{795C2594-50B3-735B-CC5B-D68C103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371" y="8113146"/>
            <a:ext cx="3070927" cy="4431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39700" algn="ctr">
              <a:lnSpc>
                <a:spcPct val="95000"/>
              </a:lnSpc>
              <a:spcBef>
                <a:spcPts val="759"/>
              </a:spcBef>
              <a:buNone/>
            </a:pP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深度学习</a:t>
            </a: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/</a:t>
            </a:r>
            <a:r>
              <a:rPr sz="2400"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梯度优化</a:t>
            </a:r>
          </a:p>
        </p:txBody>
      </p:sp>
      <p:sp>
        <p:nvSpPr>
          <p:cNvPr id="1048585" name="箭头: 左 1048584">
            <a:extLst xmlns:a="http://schemas.openxmlformats.org/drawingml/2006/main">
              <a:ext uri="{FF2B5EF4-FFF2-40B4-BE49-F238E27FC236}">
                <a16:creationId xmlns:a16="http://schemas.microsoft.com/office/drawing/2014/main" id="{C72F35B6-092B-8088-9D05-8F6BE285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73718" y="5936382"/>
            <a:ext cx="3734146" cy="610172"/>
          </a:xfrm>
          <a:prstGeom xmlns:a="http://schemas.openxmlformats.org/drawingml/2006/main" prst="leftArrow">
            <a:avLst>
              <a:gd name="adj1" fmla="val 50000"/>
              <a:gd name="adj2" fmla="val 103661"/>
            </a:avLst>
          </a:prstGeom>
          <a:gradFill xmlns:a="http://schemas.openxmlformats.org/drawingml/2006/main">
            <a:gsLst>
              <a:gs pos="0">
                <a:srgbClr val="8FAADC"/>
              </a:gs>
              <a:gs pos="100000">
                <a:srgbClr val="2F5597"/>
              </a:gs>
            </a:gsLst>
            <a:lin ang="108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048600" name="直接箭头连接符 1048591"/>
          <p:cNvCxnSpPr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1636679" y="5557175"/>
            <a:ext cx="669668" cy="1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01" name="直接箭头连接符 1048595"/>
          <p:cNvCxnSpPr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13581924" y="4861571"/>
            <a:ext cx="1" cy="399361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02" name="直接箭头连接符 1048599"/>
          <p:cNvCxnSpPr>
            <a:stCxn xmlns:a="http://schemas.openxmlformats.org/drawingml/2006/main" id="27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H="1" flipV="1">
            <a:off x="13581924" y="3951714"/>
            <a:ext cx="1" cy="45073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6919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B5C4E7E0-E619-B8B2-0995-A7FA099D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49" y="1557907"/>
            <a:ext cx="16891486" cy="808713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2A60B65-765D-97FD-D665-78A83083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567" y="5867299"/>
            <a:ext cx="2590800" cy="2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F5B83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82557"/>
              </a:lnSpc>
              <a:buNone/>
            </a:pPr>
          </a:p>
          <a:p xmlns:a="http://schemas.openxmlformats.org/drawingml/2006/main">
            <a:pPr marL="330200">
              <a:lnSpc>
                <a:spcPct val="98000"/>
              </a:lnSpc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阶段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2:</a:t>
            </a:r>
          </a:p>
          <a:p xmlns:a="http://schemas.openxmlformats.org/drawingml/2006/main">
            <a:pPr marL="12700">
              <a:lnSpc>
                <a:spcPct val="111000"/>
              </a:lnSpc>
              <a:spcBef>
                <a:spcPts val="21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相位板构建与 厚度映射调试 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(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物理可实现性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)</a:t>
            </a: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CED73A27-9814-A6A6-9C6C-1D6EDBD7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5469" y="3746626"/>
            <a:ext cx="2590800" cy="46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314C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645159">
              <a:lnSpc>
                <a:spcPct val="98000"/>
              </a:lnSpc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阶段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5:</a:t>
            </a:r>
          </a:p>
          <a:p xmlns:a="http://schemas.openxmlformats.org/drawingml/2006/main">
            <a:pPr algn="r">
              <a:lnSpc>
                <a:spcPct val="97000"/>
              </a:lnSpc>
              <a:spcBef>
                <a:spcPts val="504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MATLAB</a:t>
            </a:r>
          </a:p>
          <a:p xmlns:a="http://schemas.openxmlformats.org/drawingml/2006/main">
            <a:pPr algn="r">
              <a:lnSpc>
                <a:spcPct val="97000"/>
              </a:lnSpc>
              <a:spcBef>
                <a:spcPts val="504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+Python</a:t>
            </a:r>
          </a:p>
          <a:p xmlns:a="http://schemas.openxmlformats.org/drawingml/2006/main">
            <a:pPr algn="r">
              <a:lnSpc>
                <a:spcPct val="97000"/>
              </a:lnSpc>
              <a:spcBef>
                <a:spcPts val="504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混合优化主线形成</a:t>
            </a:r>
          </a:p>
          <a:p xmlns:a="http://schemas.openxmlformats.org/drawingml/2006/main">
            <a:pPr marL="556259">
              <a:lnSpc>
                <a:spcPct val="96000"/>
              </a:lnSpc>
              <a:spcBef>
                <a:spcPts val="3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(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架构重构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)</a:t>
            </a: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58C1EAC6-6D20-F5F9-0962-3FBF064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192" y="4466626"/>
            <a:ext cx="259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3D65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349250">
              <a:lnSpc>
                <a:spcPct val="98000"/>
              </a:lnSpc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阶段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4:</a:t>
            </a:r>
          </a:p>
          <a:p xmlns:a="http://schemas.openxmlformats.org/drawingml/2006/main">
            <a:pPr marL="132714">
              <a:lnSpc>
                <a:spcPct val="96000"/>
              </a:lnSpc>
              <a:spcBef>
                <a:spcPts val="679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热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-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固化评价</a:t>
            </a:r>
          </a:p>
          <a:p xmlns:a="http://schemas.openxmlformats.org/drawingml/2006/main">
            <a:pPr marL="330200">
              <a:lnSpc>
                <a:spcPct val="98000"/>
              </a:lnSpc>
              <a:spcBef>
                <a:spcPts val="266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闭环建立</a:t>
            </a:r>
          </a:p>
          <a:p xmlns:a="http://schemas.openxmlformats.org/drawingml/2006/main">
            <a:pPr marL="12700">
              <a:lnSpc>
                <a:spcPct val="95000"/>
              </a:lnSpc>
              <a:spcBef>
                <a:spcPts val="569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(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任务评价升级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)</a:t>
            </a: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75B4EF71-0B3E-A1EC-EDD5-22821390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558" y="5186626"/>
            <a:ext cx="2590800" cy="32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4E7A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463550">
              <a:lnSpc>
                <a:spcPct val="98000"/>
              </a:lnSpc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阶段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3:</a:t>
            </a:r>
          </a:p>
          <a:p xmlns:a="http://schemas.openxmlformats.org/drawingml/2006/main">
            <a:pPr marL="685165">
              <a:lnSpc>
                <a:spcPct val="83000"/>
              </a:lnSpc>
              <a:spcBef>
                <a:spcPts val="284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IASA</a:t>
            </a:r>
          </a:p>
          <a:p xmlns:a="http://schemas.openxmlformats.org/drawingml/2006/main">
            <a:pPr marL="104775">
              <a:lnSpc>
                <a:spcPct val="95000"/>
              </a:lnSpc>
              <a:spcBef>
                <a:spcPts val="489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与聚焦质量提升</a:t>
            </a:r>
          </a:p>
          <a:p xmlns:a="http://schemas.openxmlformats.org/drawingml/2006/main">
            <a:pPr marL="104775">
              <a:lnSpc>
                <a:spcPct val="95000"/>
              </a:lnSpc>
              <a:spcBef>
                <a:spcPts val="489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(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反演质量优化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)</a:t>
            </a: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B65DC2C1-33FD-E532-7690-D4D6C99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466" y="3026626"/>
            <a:ext cx="2590800" cy="5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2139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469900">
              <a:lnSpc>
                <a:spcPct val="98000"/>
              </a:lnSpc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阶段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6:</a:t>
            </a:r>
          </a:p>
          <a:p xmlns:a="http://schemas.openxmlformats.org/drawingml/2006/main">
            <a:pPr marL="170814">
              <a:lnSpc>
                <a:spcPct val="95000"/>
              </a:lnSpc>
              <a:spcBef>
                <a:spcPts val="587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出口平面诊断</a:t>
            </a:r>
          </a:p>
          <a:p xmlns:a="http://schemas.openxmlformats.org/drawingml/2006/main">
            <a:pPr marL="311150">
              <a:lnSpc>
                <a:spcPct val="96000"/>
              </a:lnSpc>
              <a:spcBef>
                <a:spcPts val="613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与代理模型</a:t>
            </a:r>
          </a:p>
          <a:p xmlns:a="http://schemas.openxmlformats.org/drawingml/2006/main">
            <a:pPr marL="12700">
              <a:lnSpc>
                <a:spcPct val="95000"/>
              </a:lnSpc>
              <a:spcBef>
                <a:spcPts val="525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(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诊断与拓展探索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)</a:t>
            </a:r>
          </a:p>
          <a:p xmlns:a="http://schemas.openxmlformats.org/drawingml/2006/main">
            <a:pPr algn="ctr">
              <a:buNone/>
            </a:pP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083C6A42-64D4-B878-C1BA-35484E55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33" y="6537859"/>
            <a:ext cx="25908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8709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488315" algn="ctr">
              <a:lnSpc>
                <a:spcPct val="98000"/>
              </a:lnSpc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阶段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1:</a:t>
            </a:r>
          </a:p>
          <a:p xmlns:a="http://schemas.openxmlformats.org/drawingml/2006/main">
            <a:pPr marL="469265" algn="ctr">
              <a:lnSpc>
                <a:spcPct val="81000"/>
              </a:lnSpc>
              <a:spcBef>
                <a:spcPts val="565"/>
              </a:spcBef>
              <a:buNone/>
            </a:pP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MATLAB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单链路</a:t>
            </a:r>
            <a:r>
              <a:rPr sz="2400" b="1">
                <a:solidFill>
                  <a:schemeClr val="bg1"/>
                </a:solidFill>
                <a:latin typeface="仿宋"/>
                <a:ea typeface="仿宋"/>
                <a:cs typeface="仿宋"/>
              </a:rPr>
              <a:t>原型建立</a:t>
            </a:r>
          </a:p>
        </p:txBody>
      </p:sp>
      <p:sp>
        <p:nvSpPr>
          <p:cNvPr id="1048599" name="textbox 58">
            <a:extLst xmlns:a="http://schemas.openxmlformats.org/drawingml/2006/main">
              <a:ext uri="{FF2B5EF4-FFF2-40B4-BE49-F238E27FC236}">
                <a16:creationId xmlns:a16="http://schemas.microsoft.com/office/drawing/2014/main" id="{BF149E9B-EFBF-EC99-FC75-A970F30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031" y="6825374"/>
            <a:ext cx="2046604" cy="1070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marL="488315" algn="l">
              <a:lnSpc>
                <a:spcPct val="98000"/>
              </a:lnSpc>
              <a:buNone/>
            </a:pP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713C015A-3022-4D63-9BA0-637FE17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329" y="476250"/>
            <a:ext cx="384265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5FBC07BE-1B8C-FA4D-296A-1A7DE2DA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2821940" cy="492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项目演化总览</a:t>
            </a:r>
          </a:p>
        </p:txBody>
      </p:sp>
      <p:pic>
        <p:nvPicPr>
          <p:cNvPr id="1048602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16ce3a9d4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6194" y="5018397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03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d1e408bdf4b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93739" y="4113681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04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6d934f001458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1284" y="3719694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05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14344929d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5592" y="2306626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06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ff706d5aa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04777" y="2272603"/>
            <a:ext cx="1440000" cy="1440000"/>
          </a:xfrm>
          <a:prstGeom xmlns:a="http://schemas.openxmlformats.org/drawingml/2006/main" prst="rect">
            <a:avLst/>
          </a:prstGeom>
        </p:spPr>
      </p:pic>
      <p:cxnSp>
        <p:nvCxnSpPr>
          <p:cNvPr id="1048607" name="连接符: 肘形 21"/>
          <p:cNvCxnSpPr/>
          <p:nvPr/>
        </p:nvCxnSpPr>
        <p:spPr>
          <a:xfrm xmlns:a="http://schemas.openxmlformats.org/drawingml/2006/main" flipV="1">
            <a:off x="2331720" y="6096787"/>
            <a:ext cx="1087847" cy="4681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587096"/>
            </a:solidFill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08" name="连接符: 肘形 29"/>
          <p:cNvCxnSpPr/>
          <p:nvPr/>
        </p:nvCxnSpPr>
        <p:spPr>
          <a:xfrm xmlns:a="http://schemas.openxmlformats.org/drawingml/2006/main" flipV="1">
            <a:off x="5003711" y="5441430"/>
            <a:ext cx="1087847" cy="4681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3F5B83"/>
            </a:solidFill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09" name="连接符: 肘形 31"/>
          <p:cNvCxnSpPr/>
          <p:nvPr/>
        </p:nvCxnSpPr>
        <p:spPr>
          <a:xfrm xmlns:a="http://schemas.openxmlformats.org/drawingml/2006/main" flipV="1">
            <a:off x="7639689" y="4753977"/>
            <a:ext cx="1087847" cy="4681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284E7A"/>
            </a:solidFill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10" name="连接符: 肘形 32"/>
          <p:cNvCxnSpPr/>
          <p:nvPr/>
        </p:nvCxnSpPr>
        <p:spPr>
          <a:xfrm xmlns:a="http://schemas.openxmlformats.org/drawingml/2006/main" flipV="1">
            <a:off x="10337622" y="4021544"/>
            <a:ext cx="1087847" cy="4681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203D65"/>
            </a:solidFill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11" name="连接符: 肘形 33"/>
          <p:cNvCxnSpPr/>
          <p:nvPr/>
        </p:nvCxnSpPr>
        <p:spPr>
          <a:xfrm xmlns:a="http://schemas.openxmlformats.org/drawingml/2006/main" flipV="1">
            <a:off x="13023946" y="3319222"/>
            <a:ext cx="1087847" cy="4681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16314C"/>
            </a:solidFill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1048612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b49b815254a8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26194" y="2306626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1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f22742ccd45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26194" y="3578397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1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9ec547e334c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2961" y="2272603"/>
            <a:ext cx="1440000" cy="1440000"/>
          </a:xfrm>
          <a:prstGeom xmlns:a="http://schemas.openxmlformats.org/drawingml/2006/main" prst="rect">
            <a:avLst/>
          </a:prstGeom>
        </p:spPr>
      </p:pic>
      <p:pic>
        <p:nvPicPr>
          <p:cNvPr id="104861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8d192a9b640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6958" y="2276945"/>
            <a:ext cx="1440000" cy="1440000"/>
          </a:xfrm>
          <a:prstGeom xmlns:a="http://schemas.openxmlformats.org/drawingml/2006/main" prst="rect">
            <a:avLst/>
          </a:prstGeom>
        </p:spPr>
      </p:pic>
      <p:sp>
        <p:nvSpPr>
          <p:cNvPr id="40" name="箭头: 右 39">
            <a:extLst xmlns:a="http://schemas.openxmlformats.org/drawingml/2006/main">
              <a:ext uri="{FF2B5EF4-FFF2-40B4-BE49-F238E27FC236}">
                <a16:creationId xmlns:a16="http://schemas.microsoft.com/office/drawing/2014/main" id="{FA38996A-CA2D-3C5B-6396-994AC9B6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33" y="8639827"/>
            <a:ext cx="15973333" cy="275253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50000">
                <a:srgbClr val="284E7A"/>
              </a:gs>
              <a:gs pos="20000">
                <a:srgbClr val="3F5B83"/>
              </a:gs>
              <a:gs pos="0">
                <a:srgbClr val="587096"/>
              </a:gs>
              <a:gs pos="69000">
                <a:srgbClr val="203D65"/>
              </a:gs>
              <a:gs pos="82000">
                <a:srgbClr val="16314C"/>
              </a:gs>
              <a:gs pos="100000">
                <a:srgbClr val="0F2139"/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标注: 上箭头 46">
            <a:extLst xmlns:a="http://schemas.openxmlformats.org/drawingml/2006/main">
              <a:ext uri="{FF2B5EF4-FFF2-40B4-BE49-F238E27FC236}">
                <a16:creationId xmlns:a16="http://schemas.microsoft.com/office/drawing/2014/main" id="{D43EE411-000B-FFE8-333A-0E21AFF4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681" y="8802742"/>
            <a:ext cx="1215026" cy="492442"/>
          </a:xfrm>
          <a:prstGeom xmlns:a="http://schemas.openxmlformats.org/drawingml/2006/main"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 xmlns:a="http://schemas.openxmlformats.org/drawingml/2006/main">
            <a:srgbClr val="58709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2025.12</a:t>
            </a:r>
          </a:p>
        </p:txBody>
      </p:sp>
      <p:sp>
        <p:nvSpPr>
          <p:cNvPr id="49" name="标注: 上箭头 48">
            <a:extLst xmlns:a="http://schemas.openxmlformats.org/drawingml/2006/main">
              <a:ext uri="{FF2B5EF4-FFF2-40B4-BE49-F238E27FC236}">
                <a16:creationId xmlns:a16="http://schemas.microsoft.com/office/drawing/2014/main" id="{841F4F13-D4E5-3F7E-8BCA-D4F5ACD9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823" y="8795846"/>
            <a:ext cx="1215026" cy="492442"/>
          </a:xfrm>
          <a:prstGeom xmlns:a="http://schemas.openxmlformats.org/drawingml/2006/main"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 xmlns:a="http://schemas.openxmlformats.org/drawingml/2006/main">
            <a:srgbClr val="3F5B8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2026.1</a:t>
            </a:r>
          </a:p>
        </p:txBody>
      </p:sp>
      <p:sp>
        <p:nvSpPr>
          <p:cNvPr id="50" name="标注: 上箭头 49">
            <a:extLst xmlns:a="http://schemas.openxmlformats.org/drawingml/2006/main">
              <a:ext uri="{FF2B5EF4-FFF2-40B4-BE49-F238E27FC236}">
                <a16:creationId xmlns:a16="http://schemas.microsoft.com/office/drawing/2014/main" id="{40CBF64B-4DBD-6155-8D89-C5D9204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176" y="8795846"/>
            <a:ext cx="1215026" cy="492442"/>
          </a:xfrm>
          <a:prstGeom xmlns:a="http://schemas.openxmlformats.org/drawingml/2006/main"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 xmlns:a="http://schemas.openxmlformats.org/drawingml/2006/main">
            <a:srgbClr val="284E7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2026.1</a:t>
            </a:r>
          </a:p>
        </p:txBody>
      </p:sp>
      <p:sp>
        <p:nvSpPr>
          <p:cNvPr id="51" name="标注: 上箭头 50">
            <a:extLst xmlns:a="http://schemas.openxmlformats.org/drawingml/2006/main">
              <a:ext uri="{FF2B5EF4-FFF2-40B4-BE49-F238E27FC236}">
                <a16:creationId xmlns:a16="http://schemas.microsoft.com/office/drawing/2014/main" id="{47BDF48E-3C2A-4444-A420-A7EC2372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079" y="8802742"/>
            <a:ext cx="1215026" cy="492442"/>
          </a:xfrm>
          <a:prstGeom xmlns:a="http://schemas.openxmlformats.org/drawingml/2006/main"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 xmlns:a="http://schemas.openxmlformats.org/drawingml/2006/main">
            <a:srgbClr val="203D6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2026.02</a:t>
            </a:r>
          </a:p>
        </p:txBody>
      </p:sp>
      <p:sp>
        <p:nvSpPr>
          <p:cNvPr id="52" name="标注: 上箭头 51">
            <a:extLst xmlns:a="http://schemas.openxmlformats.org/drawingml/2006/main">
              <a:ext uri="{FF2B5EF4-FFF2-40B4-BE49-F238E27FC236}">
                <a16:creationId xmlns:a16="http://schemas.microsoft.com/office/drawing/2014/main" id="{AAC3D60C-B265-EEEC-CC39-F9C577B1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264" y="8798421"/>
            <a:ext cx="1215026" cy="492442"/>
          </a:xfrm>
          <a:prstGeom xmlns:a="http://schemas.openxmlformats.org/drawingml/2006/main"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 xmlns:a="http://schemas.openxmlformats.org/drawingml/2006/main">
            <a:srgbClr val="16314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2026.03</a:t>
            </a:r>
          </a:p>
        </p:txBody>
      </p:sp>
      <p:sp>
        <p:nvSpPr>
          <p:cNvPr id="53" name="标注: 上箭头 52">
            <a:extLst xmlns:a="http://schemas.openxmlformats.org/drawingml/2006/main">
              <a:ext uri="{FF2B5EF4-FFF2-40B4-BE49-F238E27FC236}">
                <a16:creationId xmlns:a16="http://schemas.microsoft.com/office/drawing/2014/main" id="{7640E816-766C-AC90-6D01-3D253FCF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1353" y="8806668"/>
            <a:ext cx="1215026" cy="492442"/>
          </a:xfrm>
          <a:prstGeom xmlns:a="http://schemas.openxmlformats.org/drawingml/2006/main" prst="upArrowCallout">
            <a:avLst>
              <a:gd name="adj1" fmla="val 22791"/>
              <a:gd name="adj2" fmla="val 81334"/>
              <a:gd name="adj3" fmla="val 37573"/>
              <a:gd name="adj4" fmla="val 52486"/>
            </a:avLst>
          </a:prstGeom>
          <a:solidFill xmlns:a="http://schemas.openxmlformats.org/drawingml/2006/main">
            <a:srgbClr val="0F213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2026.04</a:t>
            </a:r>
          </a:p>
        </p:txBody>
      </p:sp>
    </p:spTree>
    <p:extLst>
      <p:ext uri="{BB962C8B-B14F-4D97-AF65-F5344CB8AC3E}">
        <p14:creationId xmlns:p14="http://schemas.microsoft.com/office/powerpoint/2010/main" val="13932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2efd861b44ce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446244" y="1466691"/>
            <a:ext cx="3126074" cy="2880000"/>
          </a:xfrm>
          <a:prstGeom xmlns:a="http://schemas.openxmlformats.org/drawingml/2006/main" prst="rect">
            <a:avLst/>
          </a:prstGeom>
        </p:spPr>
      </p:pic>
      <p:pic>
        <p:nvPicPr>
          <p:cNvPr id="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f52a5e29c435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51066" y="1429605"/>
            <a:ext cx="3019034" cy="2880000"/>
          </a:xfrm>
          <a:prstGeom xmlns:a="http://schemas.openxmlformats.org/drawingml/2006/main" prst="rect">
            <a:avLst/>
          </a:prstGeom>
        </p:spPr>
      </p:pic>
      <p:pic>
        <p:nvPicPr>
          <p:cNvPr id="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43c3151654ca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32178" y="1429605"/>
            <a:ext cx="2245598" cy="2880000"/>
          </a:xfrm>
          <a:prstGeom xmlns:a="http://schemas.openxmlformats.org/drawingml/2006/main" prst="rect">
            <a:avLst/>
          </a:prstGeom>
        </p:spPr>
      </p:pic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64ACE07B-0D36-1093-AB35-9060ED2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08" y="1103825"/>
            <a:ext cx="16891486" cy="8081563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8602" name="textbox 76">
            <a:extLst xmlns:a="http://schemas.openxmlformats.org/drawingml/2006/main">
              <a:ext uri="{FF2B5EF4-FFF2-40B4-BE49-F238E27FC236}">
                <a16:creationId xmlns:a16="http://schemas.microsoft.com/office/drawing/2014/main" id="{D7FABBF8-962D-4881-7CF2-960BFB4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76" y="2431532"/>
            <a:ext cx="5761354" cy="3145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4484"/>
              </a:lnSpc>
              <a:buNone/>
            </a:pPr>
          </a:p>
          <a:p xmlns:a="http://schemas.openxmlformats.org/drawingml/2006/main">
            <a:pPr marL="61594" algn="l">
              <a:lnSpc>
                <a:spcPct val="97000"/>
              </a:lnSpc>
              <a:buNone/>
            </a:pP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基础链路</a:t>
            </a:r>
          </a:p>
          <a:p xmlns:a="http://schemas.openxmlformats.org/drawingml/2006/main">
            <a:pPr marL="12700" indent="75564" algn="l">
              <a:lnSpc>
                <a:spcPct val="167000"/>
              </a:lnSpc>
              <a:spcBef>
                <a:spcPts val="219"/>
              </a:spcBef>
              <a:buNone/>
            </a:pP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☑</a:t>
            </a:r>
            <a:r>
              <a:rPr sz="2700">
                <a:solidFill>
                  <a:srgbClr val="20C03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建立目标图案生成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逻辑  </a:t>
            </a:r>
          </a:p>
          <a:p xmlns:a="http://schemas.openxmlformats.org/drawingml/2006/main">
            <a:pPr marL="12700" indent="75564">
              <a:lnSpc>
                <a:spcPct val="167000"/>
              </a:lnSpc>
              <a:spcBef>
                <a:spcPts val="219"/>
              </a:spcBef>
              <a:buNone/>
            </a:pP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☑</a:t>
            </a:r>
            <a:r>
              <a:rPr sz="2700">
                <a:solidFill>
                  <a:srgbClr val="30C02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搭建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IASA 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型相位反演初版</a:t>
            </a:r>
          </a:p>
          <a:p xmlns:a="http://schemas.openxmlformats.org/drawingml/2006/main">
            <a:pPr marL="12700" indent="75564" algn="l">
              <a:lnSpc>
                <a:spcPct val="167000"/>
              </a:lnSpc>
              <a:spcBef>
                <a:spcPts val="219"/>
              </a:spcBef>
              <a:buNone/>
            </a:pP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☑</a:t>
            </a:r>
            <a:r>
              <a:rPr sz="2400">
                <a:solidFill>
                  <a:srgbClr val="30C03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实现相位到厚度的初步映射与构建</a:t>
            </a:r>
          </a:p>
          <a:p xmlns:a="http://schemas.openxmlformats.org/drawingml/2006/main">
            <a:pPr marL="12700" indent="75564" algn="l">
              <a:lnSpc>
                <a:spcPct val="167000"/>
              </a:lnSpc>
              <a:spcBef>
                <a:spcPts val="219"/>
              </a:spcBef>
              <a:buNone/>
            </a:pP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☑</a:t>
            </a:r>
            <a:r>
              <a:rPr sz="2400">
                <a:solidFill>
                  <a:srgbClr val="30C02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	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构造三维介质并调用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k-Wave</a:t>
            </a:r>
            <a:r>
              <a:rPr sz="240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仿真</a:t>
            </a:r>
          </a:p>
          <a:p xmlns:a="http://schemas.openxmlformats.org/drawingml/2006/main">
            <a:pPr marL="12700" indent="75564" algn="l">
              <a:lnSpc>
                <a:spcPct val="167000"/>
              </a:lnSpc>
              <a:spcBef>
                <a:spcPts val="219"/>
              </a:spcBef>
              <a:buNone/>
            </a:pPr>
          </a:p>
        </p:txBody>
      </p:sp>
      <p:pic>
        <p:nvPicPr>
          <p:cNvPr id="1048603" name="picture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d7deebaef41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945404" y="6055202"/>
            <a:ext cx="6222918" cy="2000170"/>
          </a:xfrm>
          <a:prstGeom xmlns:a="http://schemas.openxmlformats.org/drawingml/2006/main" prst="rect">
            <a:avLst/>
          </a:prstGeom>
        </p:spPr>
      </p:pic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990D77AE-5282-FFA5-10E1-356374D4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56" y="1256226"/>
            <a:ext cx="9521018" cy="780658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2">
                <a:lumMod val="50000"/>
              </a:schemeClr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graphicFrame>
        <p:nvGraphicFramePr>
          <p:cNvPr id="1048605" name="table 82"/>
          <p:cNvGraphicFramePr/>
          <p:nvPr/>
        </p:nvGraphicFramePr>
        <p:xfrm>
          <a:off xmlns:a="http://schemas.openxmlformats.org/drawingml/2006/main" x="1371449" y="6267570"/>
          <a:ext xmlns:a="http://schemas.openxmlformats.org/drawingml/2006/main" cx="5370828" cy="15754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2564"/>
                <a:gridCol w="2628264"/>
              </a:tblGrid>
              <a:tr h="1575435">
                <a:tc>
                  <a:txBody>
                    <a:bodyPr/>
                    <a:lstStyle/>
                    <a:p>
                      <a:pPr algn="l">
                        <a:lnSpc>
                          <a:spcPct val="18724"/>
                        </a:lnSpc>
                        <a:buNone/>
                      </a:pPr>
                    </a:p>
                    <a:p>
                      <a:pPr algn="l">
                        <a:lnSpc>
                          <a:spcPct val="97000"/>
                        </a:lnSpc>
                        <a:buNone/>
                      </a:pPr>
                      <a:r>
                        <a:rPr sz="27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遗留物理痛点</a:t>
                      </a:r>
                    </a:p>
                    <a:p>
                      <a:pPr marL="191770" algn="l">
                        <a:lnSpc>
                          <a:spcPct val="97000"/>
                        </a:lnSpc>
                        <a:buNone/>
                      </a:pPr>
                      <a:r>
                        <a:rPr sz="2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聚焦质量极其有限</a:t>
                      </a:r>
                    </a:p>
                    <a:p>
                      <a:pPr algn="l">
                        <a:lnSpc>
                          <a:spcPct val="118000"/>
                        </a:lnSpc>
                        <a:buNone/>
                      </a:pPr>
                    </a:p>
                    <a:p>
                      <a:pPr algn="l">
                        <a:lnSpc>
                          <a:spcPct val="101000"/>
                        </a:lnSpc>
                        <a:buNone/>
                      </a:pPr>
                    </a:p>
                    <a:p>
                      <a:pPr marL="160020" algn="l">
                        <a:lnSpc>
                          <a:spcPct val="85000"/>
                        </a:lnSpc>
                        <a:buNone/>
                      </a:pPr>
                      <a:r>
                        <a:rPr sz="2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相位误差评估失真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</a:p>
                    <a:p>
                      <a:pPr marL="205104" algn="l">
                        <a:lnSpc>
                          <a:spcPct val="98000"/>
                        </a:lnSpc>
                        <a:buNone/>
                      </a:pPr>
                      <a:r>
                        <a:rPr sz="2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厚度映射极不稳定</a:t>
                      </a:r>
                    </a:p>
                    <a:p>
                      <a:pPr algn="l">
                        <a:lnSpc>
                          <a:spcPct val="117000"/>
                        </a:lnSpc>
                        <a:buNone/>
                      </a:pP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</a:p>
                    <a:p>
                      <a:pPr algn="r">
                        <a:lnSpc>
                          <a:spcPct val="85000"/>
                        </a:lnSpc>
                        <a:buNone/>
                      </a:pPr>
                      <a:r>
                        <a:rPr sz="240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评价维度过于单一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48604" name="textbox 84">
            <a:extLst xmlns:a="http://schemas.openxmlformats.org/drawingml/2006/main">
              <a:ext uri="{FF2B5EF4-FFF2-40B4-BE49-F238E27FC236}">
                <a16:creationId xmlns:a16="http://schemas.microsoft.com/office/drawing/2014/main" id="{7174D599-F930-7043-2E46-DCC5F030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08" y="9277348"/>
            <a:ext cx="11196319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75113"/>
              </a:lnSpc>
              <a:buNone/>
            </a:pPr>
          </a:p>
          <a:p xmlns:a="http://schemas.openxmlformats.org/drawingml/2006/main">
            <a:pPr marL="12700" algn="l">
              <a:lnSpc>
                <a:spcPct val="94000"/>
              </a:lnSpc>
              <a:buNone/>
            </a:pPr>
            <a:r>
              <a:rPr sz="24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阶段1证明了任务在统一框架下的可串联性，解决“能不能跑通”的问题。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673EA870-1D9B-9E6A-2BC1-9A71A515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4" y="1589380"/>
            <a:ext cx="8740140" cy="360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l">
              <a:lnSpc>
                <a:spcPct val="97000"/>
              </a:lnSpc>
              <a:buNone/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先跑通“目标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-&gt;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相位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-&gt;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厚度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-&gt;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声场”的基本流程</a:t>
            </a:r>
          </a:p>
        </p:txBody>
      </p:sp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5CE62450-54FD-4405-9C01-D699104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329" y="476250"/>
            <a:ext cx="384265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39703FCC-A0FE-703E-B4B2-9A44F6C7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6367780" cy="492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阶段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1: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 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MATLAB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 单链路原型建立</a:t>
            </a:r>
          </a:p>
        </p:txBody>
      </p:sp>
      <p:pic>
        <p:nvPicPr>
          <p:cNvPr id="1048610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416971a444518"/>
          <a:srcRect xmlns:a="http://schemas.openxmlformats.org/drawingml/2006/main" l="0" t="407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7155" y="4783931"/>
            <a:ext cx="5314995" cy="4278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73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630" name="textbox 146">
            <a:extLst xmlns:a="http://schemas.openxmlformats.org/drawingml/2006/main">
              <a:ext uri="{FF2B5EF4-FFF2-40B4-BE49-F238E27FC236}">
                <a16:creationId xmlns:a16="http://schemas.microsoft.com/office/drawing/2014/main" id="{A42C12C8-CC9D-47BB-B799-522016EA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32" y="2560835"/>
            <a:ext cx="4265295" cy="1066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6517"/>
              </a:lnSpc>
              <a:buNone/>
            </a:pPr>
          </a:p>
          <a:p xmlns:a="http://schemas.openxmlformats.org/drawingml/2006/main">
            <a:pPr marL="16509" algn="l">
              <a:lnSpc>
                <a:spcPct val="93000"/>
              </a:lnSpc>
              <a:buNone/>
            </a:pP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加权策略</a:t>
            </a:r>
            <a:r>
              <a:rPr sz="27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(Weighting) </a:t>
            </a:r>
            <a:r>
              <a:rPr sz="27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:</a:t>
            </a:r>
          </a:p>
          <a:p xmlns:a="http://schemas.openxmlformats.org/drawingml/2006/main">
            <a:pPr marL="12700">
              <a:lnSpc>
                <a:spcPct val="105000"/>
              </a:lnSpc>
              <a:spcBef>
                <a:spcPts val="19"/>
              </a:spcBef>
              <a:buNone/>
            </a:pPr>
            <a:r>
              <a:rPr sz="22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拒绝均质处理，自适</a:t>
            </a:r>
            <a:r>
              <a:rPr sz="22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应增强暗</a:t>
            </a:r>
            <a:r>
              <a:rPr sz="22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2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区与细微结构约束</a:t>
            </a:r>
          </a:p>
          <a:p xmlns:a="http://schemas.openxmlformats.org/drawingml/2006/main">
            <a:pPr marL="12700" algn="l">
              <a:lnSpc>
                <a:spcPct val="105000"/>
              </a:lnSpc>
              <a:spcBef>
                <a:spcPts val="19"/>
              </a:spcBef>
              <a:buNone/>
            </a:pPr>
          </a:p>
          <a:p xmlns:a="http://schemas.openxmlformats.org/drawingml/2006/main">
            <a:pPr algn="l">
              <a:lnSpc>
                <a:spcPct val="148000"/>
              </a:lnSpc>
              <a:buNone/>
            </a:pPr>
          </a:p>
          <a:p xmlns:a="http://schemas.openxmlformats.org/drawingml/2006/main">
            <a:pPr marL="12700" algn="l">
              <a:lnSpc>
                <a:spcPct val="101000"/>
              </a:lnSpc>
              <a:spcBef>
                <a:spcPts val="50"/>
              </a:spcBef>
              <a:buNone/>
            </a:pPr>
          </a:p>
          <a:p xmlns:a="http://schemas.openxmlformats.org/drawingml/2006/main">
            <a:pPr marL="12700" algn="l">
              <a:lnSpc>
                <a:spcPct val="101000"/>
              </a:lnSpc>
              <a:spcBef>
                <a:spcPts val="50"/>
              </a:spcBef>
              <a:buNone/>
            </a:pPr>
          </a:p>
          <a:p xmlns:a="http://schemas.openxmlformats.org/drawingml/2006/main">
            <a:pPr algn="l">
              <a:lnSpc>
                <a:spcPct val="104000"/>
              </a:lnSpc>
              <a:buNone/>
            </a:pPr>
          </a:p>
          <a:p xmlns:a="http://schemas.openxmlformats.org/drawingml/2006/main">
            <a:pPr algn="l">
              <a:lnSpc>
                <a:spcPct val="116000"/>
              </a:lnSpc>
              <a:buNone/>
            </a:pPr>
          </a:p>
          <a:p xmlns:a="http://schemas.openxmlformats.org/drawingml/2006/main">
            <a:pPr algn="l">
              <a:lnSpc>
                <a:spcPct val="117000"/>
              </a:lnSpc>
              <a:buNone/>
            </a:pPr>
          </a:p>
          <a:p xmlns:a="http://schemas.openxmlformats.org/drawingml/2006/main">
            <a:pPr algn="l">
              <a:lnSpc>
                <a:spcPct val="117000"/>
              </a:lnSpc>
              <a:buNone/>
            </a:pPr>
          </a:p>
        </p:txBody>
      </p:sp>
      <p:sp>
        <p:nvSpPr>
          <p:cNvPr id="1048632" name="textbox 152">
            <a:extLst xmlns:a="http://schemas.openxmlformats.org/drawingml/2006/main">
              <a:ext uri="{FF2B5EF4-FFF2-40B4-BE49-F238E27FC236}">
                <a16:creationId xmlns:a16="http://schemas.microsoft.com/office/drawing/2014/main" id="{E70F491B-DE51-4B86-A8D0-535E1ED0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25917"/>
            <a:ext cx="14834869" cy="60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5797"/>
              </a:lnSpc>
              <a:buNone/>
            </a:pPr>
          </a:p>
          <a:p xmlns:a="http://schemas.openxmlformats.org/drawingml/2006/main">
            <a:pPr marL="12700" algn="l">
              <a:lnSpc>
                <a:spcPct val="93000"/>
              </a:lnSpc>
              <a:buNone/>
            </a:pPr>
            <a:r>
              <a:rPr sz="27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驱使反演过程严格贴</a:t>
            </a:r>
            <a:r>
              <a:rPr sz="27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合物理传播约束，实现能量分布与目标图案的高度匹配</a:t>
            </a:r>
            <a:r>
              <a:rPr sz="27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</a:p>
        </p:txBody>
      </p:sp>
      <p:sp>
        <p:nvSpPr>
          <p:cNvPr id="1048633" name="textbox 154">
            <a:extLst xmlns:a="http://schemas.openxmlformats.org/drawingml/2006/main">
              <a:ext uri="{FF2B5EF4-FFF2-40B4-BE49-F238E27FC236}">
                <a16:creationId xmlns:a16="http://schemas.microsoft.com/office/drawing/2014/main" id="{6A866175-3542-4E91-AE6C-B0395AD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75" y="1265817"/>
            <a:ext cx="7108825" cy="1188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64672"/>
              </a:lnSpc>
              <a:buNone/>
            </a:pPr>
          </a:p>
          <a:p xmlns:a="http://schemas.openxmlformats.org/drawingml/2006/main">
            <a:pPr algn="l">
              <a:lnSpc>
                <a:spcPct val="104000"/>
              </a:lnSpc>
              <a:buNone/>
            </a:pPr>
          </a:p>
          <a:p xmlns:a="http://schemas.openxmlformats.org/drawingml/2006/main">
            <a:pPr algn="l">
              <a:lnSpc>
                <a:spcPct val="8940"/>
              </a:lnSpc>
              <a:buNone/>
            </a:pPr>
          </a:p>
          <a:p xmlns:a="http://schemas.openxmlformats.org/drawingml/2006/main">
            <a:pPr marL="12700" algn="l">
              <a:lnSpc>
                <a:spcPct val="97000"/>
              </a:lnSpc>
              <a:buNone/>
            </a:pPr>
            <a:r>
              <a:rPr sz="27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从“能反演”走向“更稳定、更接近目标”</a:t>
            </a:r>
          </a:p>
        </p:txBody>
      </p:sp>
      <p:sp>
        <p:nvSpPr>
          <p:cNvPr id="1048634" name="textbox 156">
            <a:extLst xmlns:a="http://schemas.openxmlformats.org/drawingml/2006/main">
              <a:ext uri="{FF2B5EF4-FFF2-40B4-BE49-F238E27FC236}">
                <a16:creationId xmlns:a16="http://schemas.microsoft.com/office/drawing/2014/main" id="{94B322EB-CB0D-4EAE-B365-0D0F9E1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5344" y="2306921"/>
            <a:ext cx="1195092" cy="507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marL="12700" algn="l">
              <a:lnSpc>
                <a:spcPct val="95000"/>
              </a:lnSpc>
              <a:buNone/>
            </a:pP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升级后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DA0BA902-1911-4D0F-9852-03ABFD0A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329" y="476250"/>
            <a:ext cx="384265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BF3F74BE-956B-3F74-0971-20F9055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5300980" cy="492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阶段3: IASA 与聚焦质量优化</a:t>
            </a:r>
          </a:p>
        </p:txBody>
      </p:sp>
      <p:pic>
        <p:nvPicPr>
          <p:cNvPr id="104863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b9bc999654d0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176228" y="2908558"/>
            <a:ext cx="2948525" cy="3308823"/>
          </a:xfrm>
          <a:prstGeom xmlns:a="http://schemas.openxmlformats.org/drawingml/2006/main" prst="rect">
            <a:avLst/>
          </a:prstGeom>
        </p:spPr>
      </p:pic>
      <p:pic>
        <p:nvPicPr>
          <p:cNvPr id="104863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f58ccc98148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229984" y="6311190"/>
            <a:ext cx="3145812" cy="3530162"/>
          </a:xfrm>
          <a:prstGeom xmlns:a="http://schemas.openxmlformats.org/drawingml/2006/main" prst="rect">
            <a:avLst/>
          </a:prstGeom>
        </p:spPr>
      </p:pic>
      <p:pic>
        <p:nvPicPr>
          <p:cNvPr id="1048639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bf4dbf1db47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30185" y="4332002"/>
            <a:ext cx="3183171" cy="3308823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7C86F52-94EF-042D-B217-4256137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802" y="2267801"/>
            <a:ext cx="1606572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升级前 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92FA0C3-55BE-2444-AAD5-7D0AD47E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228" y="4505851"/>
            <a:ext cx="3598742" cy="13447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97000"/>
              </a:lnSpc>
              <a:spcBef>
                <a:spcPts val="817"/>
              </a:spcBef>
              <a:buNone/>
            </a:pP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加权更新</a:t>
            </a: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(Cumulative):</a:t>
            </a:r>
          </a:p>
          <a:p xmlns:a="http://schemas.openxmlformats.org/drawingml/2006/main">
            <a:pPr marL="12700">
              <a:lnSpc>
                <a:spcPct val="101000"/>
              </a:lnSpc>
              <a:spcBef>
                <a:spcPts val="50"/>
              </a:spcBef>
              <a:buNone/>
            </a:pPr>
            <a:r>
              <a:rPr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乘性权重更新替代简单加</a:t>
            </a:r>
            <a:r>
              <a:rPr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法</a:t>
            </a:r>
            <a:br/>
            <a:r>
              <a:rPr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抹平亮度不均</a:t>
            </a:r>
          </a:p>
          <a:p xmlns:a="http://schemas.openxmlformats.org/drawingml/2006/main"/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6C517E0-D73E-420A-FD2B-841C3C8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228" y="6363421"/>
            <a:ext cx="4064953" cy="7268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97000"/>
              </a:lnSpc>
              <a:spcBef>
                <a:spcPts val="817"/>
              </a:spcBef>
              <a:buNone/>
            </a:pP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距离补偿 </a:t>
            </a:r>
            <a:r>
              <a:rPr sz="2700" b="1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(Zero-padding):</a:t>
            </a:r>
          </a:p>
          <a:p xmlns:a="http://schemas.openxmlformats.org/drawingml/2006/main">
            <a:pPr marL="12700" algn="l">
              <a:lnSpc>
                <a:spcPct val="94000"/>
              </a:lnSpc>
              <a:spcBef>
                <a:spcPts val="9"/>
              </a:spcBef>
              <a:buNone/>
            </a:pPr>
            <a:r>
              <a:rPr sz="1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消除频域循环卷积造成的回卷伪影</a:t>
            </a:r>
          </a:p>
        </p:txBody>
      </p:sp>
    </p:spTree>
    <p:extLst>
      <p:ext uri="{BB962C8B-B14F-4D97-AF65-F5344CB8AC3E}">
        <p14:creationId xmlns:p14="http://schemas.microsoft.com/office/powerpoint/2010/main" val="18013268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6D2F5D5-A29D-5B25-DC68-B1F64EF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294" y="4961792"/>
            <a:ext cx="3869210" cy="6453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009650" indent="-996950">
              <a:lnSpc>
                <a:spcPct val="103000"/>
              </a:lnSpc>
              <a:spcBef>
                <a:spcPts val="698"/>
              </a:spcBef>
              <a:buNone/>
            </a:pP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尝试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C: 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直接解卷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unwrap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72650824-D893-37E7-9FE5-AC28A1F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591" y="4122900"/>
            <a:ext cx="3840616" cy="6453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009650" indent="-996950">
              <a:lnSpc>
                <a:spcPct val="103000"/>
              </a:lnSpc>
              <a:buNone/>
            </a:pP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尝试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B: 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引入高斯平滑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DE5A56DA-2892-1A0C-BADD-AA1FFD7E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3997" y="3303368"/>
            <a:ext cx="3869210" cy="6453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2700">
              <a:lnSpc>
                <a:spcPct val="97000"/>
              </a:lnSpc>
              <a:buNone/>
            </a:pP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尝试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A: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直接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0-2π</a:t>
            </a:r>
            <a:r>
              <a:rPr sz="2400" b="1">
                <a:solidFill>
                  <a:schemeClr val="tx1"/>
                </a:solidFill>
                <a:latin typeface="SimHei"/>
                <a:ea typeface="SimHei"/>
                <a:cs typeface="SimHei"/>
              </a:rPr>
              <a:t>映射</a:t>
            </a:r>
          </a:p>
        </p:txBody>
      </p:sp>
      <p:sp>
        <p:nvSpPr>
          <p:cNvPr id="1048608" name="textbox 94">
            <a:extLst xmlns:a="http://schemas.openxmlformats.org/drawingml/2006/main">
              <a:ext uri="{FF2B5EF4-FFF2-40B4-BE49-F238E27FC236}">
                <a16:creationId xmlns:a16="http://schemas.microsoft.com/office/drawing/2014/main" id="{EE9436C2-6F03-4B6E-9CA8-A87A8307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6964" y="4987458"/>
            <a:ext cx="3145405" cy="7874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1429"/>
              </a:lnSpc>
              <a:buNone/>
            </a:pPr>
            <a:r>
              <a:rPr sz="21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为了消除</a:t>
            </a:r>
            <a:r>
              <a:rPr sz="21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2π</a:t>
            </a:r>
            <a:r>
              <a:rPr sz="21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到0的断崖</a:t>
            </a:r>
            <a:r>
              <a:rPr sz="21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，相位板无限堆叠，不符合物理要求</a:t>
            </a:r>
          </a:p>
        </p:txBody>
      </p:sp>
      <p:sp>
        <p:nvSpPr>
          <p:cNvPr id="1048616" name="textbox 110">
            <a:extLst xmlns:a="http://schemas.openxmlformats.org/drawingml/2006/main">
              <a:ext uri="{FF2B5EF4-FFF2-40B4-BE49-F238E27FC236}">
                <a16:creationId xmlns:a16="http://schemas.microsoft.com/office/drawing/2014/main" id="{C6D88E78-EF30-4A86-B7CC-9FB11F8E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880" y="7200118"/>
            <a:ext cx="1514475" cy="367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0582"/>
              </a:lnSpc>
              <a:buNone/>
            </a:pPr>
          </a:p>
          <a:p xmlns:a="http://schemas.openxmlformats.org/drawingml/2006/main">
            <a:pPr marL="12700" algn="l">
              <a:lnSpc>
                <a:spcPct val="97000"/>
              </a:lnSpc>
              <a:buNone/>
            </a:pPr>
            <a:r>
              <a:rPr sz="2300" b="1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离散板投影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F2451EC-A462-5ACE-419C-5FD4297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9" y="1396959"/>
            <a:ext cx="8862060" cy="360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l">
              <a:lnSpc>
                <a:spcPct val="97000"/>
              </a:lnSpc>
              <a:spcBef>
                <a:spcPts val="1185"/>
              </a:spcBef>
              <a:buNone/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从“直接映射”走向“考虑周期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性与离散实现”的板级投影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183E0A5-F0F6-EC86-CEEC-7805EF4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29" y="2171952"/>
            <a:ext cx="6176177" cy="360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l">
              <a:lnSpc>
                <a:spcPct val="97000"/>
              </a:lnSpc>
              <a:spcBef>
                <a:spcPts val="6"/>
              </a:spcBef>
              <a:buNone/>
            </a:pPr>
            <a:r>
              <a:rPr sz="18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核心矛盾：理想连续相位面</a:t>
            </a:r>
            <a:r>
              <a:rPr sz="180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vs</a:t>
            </a:r>
            <a:r>
              <a:rPr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离散网格构建</a:t>
            </a:r>
            <a:r>
              <a:rPr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</a:t>
            </a:r>
            <a:r>
              <a:rPr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打印精度。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67DFF34-D326-46F6-BAF9-D9F39BF5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329" y="476250"/>
            <a:ext cx="384265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424D6CC8-6EDD-7867-463D-3BE7D130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7414260" cy="492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阶段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2: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相位板构建与厚度映射的关键调试</a:t>
            </a:r>
          </a:p>
        </p:txBody>
      </p:sp>
      <p:cxnSp>
        <p:nvCxnSpPr>
          <p:cNvPr id="1048621" name="直接箭头连接符 3"/>
          <p:cNvCxnSpPr>
            <a:stCxn xmlns:a="http://schemas.openxmlformats.org/drawingml/2006/main" id="2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852950" y="3626038"/>
            <a:ext cx="1181047" cy="1715408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bg2">
                <a:lumMod val="50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22" name="直接箭头连接符 6"/>
          <p:cNvCxnSpPr>
            <a:stCxn xmlns:a="http://schemas.openxmlformats.org/drawingml/2006/main" id="28" idx="3"/>
          </p:cNvCxnSpPr>
          <p:nvPr/>
        </p:nvCxnSpPr>
        <p:spPr>
          <a:xfrm xmlns:a="http://schemas.openxmlformats.org/drawingml/2006/main" flipV="1">
            <a:off x="7852950" y="4475541"/>
            <a:ext cx="1209641" cy="865905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bg2">
                <a:lumMod val="50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623" name="直接箭头连接符 12"/>
          <p:cNvCxnSpPr>
            <a:stCxn xmlns:a="http://schemas.openxmlformats.org/drawingml/2006/main" id="28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7852950" y="5284462"/>
            <a:ext cx="1195344" cy="56984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bg2">
                <a:lumMod val="50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8FA0065E-033D-8CDE-96A2-5270F99C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410" y="6189999"/>
            <a:ext cx="3849371" cy="96128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2700" algn="ctr">
              <a:lnSpc>
                <a:spcPct val="77000"/>
              </a:lnSpc>
              <a:buNone/>
            </a:pPr>
            <a:r>
              <a:rPr sz="24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最终解：回归包裹相位</a:t>
            </a:r>
          </a:p>
          <a:p xmlns:a="http://schemas.openxmlformats.org/drawingml/2006/main">
            <a:pPr marL="751205" algn="ctr">
              <a:lnSpc>
                <a:spcPts val="3682"/>
              </a:lnSpc>
              <a:buNone/>
            </a:pPr>
            <a:r>
              <a:rPr sz="2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(wrapped)</a:t>
            </a:r>
          </a:p>
        </p:txBody>
      </p:sp>
      <p:cxnSp>
        <p:nvCxnSpPr>
          <p:cNvPr id="1048625" name="直接箭头连接符 21"/>
          <p:cNvCxnSpPr>
            <a:stCxn xmlns:a="http://schemas.openxmlformats.org/drawingml/2006/main" id="28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852950" y="5341446"/>
            <a:ext cx="1219460" cy="1329194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76DA4749-1067-AC77-20DE-40A528A1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254" y="3273103"/>
            <a:ext cx="3082760" cy="732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99000"/>
              </a:lnSpc>
              <a:spcBef>
                <a:spcPts val="638"/>
              </a:spcBef>
              <a:buNone/>
            </a:pPr>
            <a:r>
              <a:rPr sz="21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量化误差巨大，失真严重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2F49B02D-3FA4-ECDB-F8D6-994811A1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254" y="4075377"/>
            <a:ext cx="2916355" cy="732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l">
              <a:lnSpc>
                <a:spcPct val="99000"/>
              </a:lnSpc>
              <a:spcBef>
                <a:spcPts val="638"/>
              </a:spcBef>
              <a:buNone/>
            </a:pPr>
            <a:r>
              <a:rPr sz="21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菲涅尔跳变边界出现成圈伪影 放弃平滑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9AB2981B-0033-7890-546C-94114A45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13" y="8540418"/>
            <a:ext cx="1947999" cy="96128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2700" algn="ctr">
              <a:lnSpc>
                <a:spcPct val="97000"/>
              </a:lnSpc>
              <a:buNone/>
            </a:pPr>
            <a:r>
              <a:rPr b="1"/>
              <a:t>离散板投影</a:t>
            </a:r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FE83C8A0-252A-317A-57F0-A3CAC19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117" y="6187152"/>
            <a:ext cx="1947999" cy="96128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全局偏移</a:t>
            </a:r>
          </a:p>
        </p:txBody>
      </p:sp>
      <p:sp>
        <p:nvSpPr>
          <p:cNvPr id="2097162" name="矩形: 圆角 2097161">
            <a:extLst xmlns:a="http://schemas.openxmlformats.org/drawingml/2006/main">
              <a:ext uri="{FF2B5EF4-FFF2-40B4-BE49-F238E27FC236}">
                <a16:creationId xmlns:a16="http://schemas.microsoft.com/office/drawing/2014/main" id="{AA46BA38-1852-9418-9537-A8C335CC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117" y="8541267"/>
            <a:ext cx="1947999" cy="96128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误差扩散量化</a:t>
            </a:r>
          </a:p>
        </p:txBody>
      </p:sp>
      <p:cxnSp>
        <p:nvCxnSpPr>
          <p:cNvPr id="2097163" name="直接箭头连接符 2097164"/>
          <p:cNvCxnSpPr>
            <a:stCxn xmlns:a="http://schemas.openxmlformats.org/drawingml/2006/main" id="27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12921781" y="6667793"/>
            <a:ext cx="1301336" cy="2847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97164" name="直接箭头连接符 2097166"/>
          <p:cNvCxnSpPr>
            <a:stCxn xmlns:a="http://schemas.openxmlformats.org/drawingml/2006/main" id="56" idx="2"/>
            <a:endCxn xmlns:a="http://schemas.openxmlformats.org/drawingml/2006/main" id="2097162" idx="0"/>
          </p:cNvCxnSpPr>
          <p:nvPr/>
        </p:nvCxnSpPr>
        <p:spPr>
          <a:xfrm xmlns:a="http://schemas.openxmlformats.org/drawingml/2006/main">
            <a:off x="15197117" y="7148433"/>
            <a:ext cx="0" cy="1392834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97165" name="直接箭头连接符 2097168"/>
          <p:cNvCxnSpPr>
            <a:stCxn xmlns:a="http://schemas.openxmlformats.org/drawingml/2006/main" id="2097162" idx="1"/>
            <a:endCxn xmlns:a="http://schemas.openxmlformats.org/drawingml/2006/main" id="51" idx="3"/>
          </p:cNvCxnSpPr>
          <p:nvPr/>
        </p:nvCxnSpPr>
        <p:spPr>
          <a:xfrm xmlns:a="http://schemas.openxmlformats.org/drawingml/2006/main" flipH="1" flipV="1">
            <a:off x="11686312" y="9021059"/>
            <a:ext cx="2536805" cy="849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chemeClr val="accent1">
                <a:lumMod val="75000"/>
              </a:schemeClr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2097166" name="图片 20971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5ea51b9e1450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11303" y="6856702"/>
            <a:ext cx="2623374" cy="2356138"/>
          </a:xfrm>
          <a:prstGeom xmlns:a="http://schemas.openxmlformats.org/drawingml/2006/main" prst="rect">
            <a:avLst/>
          </a:prstGeom>
        </p:spPr>
      </p:pic>
      <p:pic>
        <p:nvPicPr>
          <p:cNvPr id="2097167" name="图片 20971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960bb622549f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6752644"/>
            <a:ext cx="2807698" cy="2564255"/>
          </a:xfrm>
          <a:prstGeom xmlns:a="http://schemas.openxmlformats.org/drawingml/2006/main" prst="rect">
            <a:avLst/>
          </a:prstGeom>
        </p:spPr>
      </p:pic>
      <p:sp>
        <p:nvSpPr>
          <p:cNvPr id="2097172" name="禁止符 2097171">
            <a:extLst xmlns:a="http://schemas.openxmlformats.org/drawingml/2006/main">
              <a:ext uri="{FF2B5EF4-FFF2-40B4-BE49-F238E27FC236}">
                <a16:creationId xmlns:a16="http://schemas.microsoft.com/office/drawing/2014/main" id="{67C1ACB4-D16F-8ABD-0389-745CD2F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241" y="3365142"/>
            <a:ext cx="476019" cy="527423"/>
          </a:xfrm>
          <a:prstGeom xmlns:a="http://schemas.openxmlformats.org/drawingml/2006/main" prst="noSmoking">
            <a:avLst>
              <a:gd name="adj" fmla="val 13487"/>
            </a:avLst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97173" name="禁止符 2097172">
            <a:extLst xmlns:a="http://schemas.openxmlformats.org/drawingml/2006/main">
              <a:ext uri="{FF2B5EF4-FFF2-40B4-BE49-F238E27FC236}">
                <a16:creationId xmlns:a16="http://schemas.microsoft.com/office/drawing/2014/main" id="{5331562C-35F5-60AB-ED51-A93C6D3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6387" y="4190712"/>
            <a:ext cx="476019" cy="527423"/>
          </a:xfrm>
          <a:prstGeom xmlns:a="http://schemas.openxmlformats.org/drawingml/2006/main" prst="noSmoking">
            <a:avLst>
              <a:gd name="adj" fmla="val 13487"/>
            </a:avLst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97174" name="禁止符 2097173">
            <a:extLst xmlns:a="http://schemas.openxmlformats.org/drawingml/2006/main">
              <a:ext uri="{FF2B5EF4-FFF2-40B4-BE49-F238E27FC236}">
                <a16:creationId xmlns:a16="http://schemas.microsoft.com/office/drawing/2014/main" id="{10359F4B-74FE-6C69-51F3-B2CC5F1D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6388" y="5030343"/>
            <a:ext cx="476019" cy="527423"/>
          </a:xfrm>
          <a:prstGeom xmlns:a="http://schemas.openxmlformats.org/drawingml/2006/main" prst="noSmoking">
            <a:avLst>
              <a:gd name="adj" fmla="val 13487"/>
            </a:avLst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2097175" name="直接箭头连接符 2097175"/>
          <p:cNvCxnSpPr>
            <a:stCxn xmlns:a="http://schemas.openxmlformats.org/drawingml/2006/main" id="24" idx="3"/>
            <a:endCxn xmlns:a="http://schemas.openxmlformats.org/drawingml/2006/main" id="2097172" idx="2"/>
          </p:cNvCxnSpPr>
          <p:nvPr/>
        </p:nvCxnSpPr>
        <p:spPr>
          <a:xfrm xmlns:a="http://schemas.openxmlformats.org/drawingml/2006/main">
            <a:off x="12903207" y="3626038"/>
            <a:ext cx="749034" cy="2816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767171"/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97176" name="直接箭头连接符 2097177"/>
          <p:cNvCxnSpPr>
            <a:stCxn xmlns:a="http://schemas.openxmlformats.org/drawingml/2006/main" id="25" idx="3"/>
            <a:endCxn xmlns:a="http://schemas.openxmlformats.org/drawingml/2006/main" id="2097173" idx="2"/>
          </p:cNvCxnSpPr>
          <p:nvPr/>
        </p:nvCxnSpPr>
        <p:spPr>
          <a:xfrm xmlns:a="http://schemas.openxmlformats.org/drawingml/2006/main">
            <a:off x="12903207" y="4445570"/>
            <a:ext cx="743180" cy="8854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767171"/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97177" name="直接箭头连接符 2097179"/>
          <p:cNvCxnSpPr>
            <a:stCxn xmlns:a="http://schemas.openxmlformats.org/drawingml/2006/main" id="26" idx="3"/>
            <a:endCxn xmlns:a="http://schemas.openxmlformats.org/drawingml/2006/main" id="2097174" idx="2"/>
          </p:cNvCxnSpPr>
          <p:nvPr/>
        </p:nvCxnSpPr>
        <p:spPr>
          <a:xfrm xmlns:a="http://schemas.openxmlformats.org/drawingml/2006/main">
            <a:off x="12917504" y="5284462"/>
            <a:ext cx="728884" cy="9593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767171"/>
            </a:solidFill>
            <a:headEnd type="none"/>
            <a:tailEnd type="triangle" w="med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0D1C0E2-D1D1-D9E8-29C0-B1A02B0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6" y="4807629"/>
            <a:ext cx="1909344" cy="1067633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bg2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2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理想连续相位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D869E42F-8BE5-925E-7C0E-457C414A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32" y="2821112"/>
            <a:ext cx="1636295" cy="59372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相位</a:t>
            </a:r>
          </a:p>
        </p:txBody>
      </p:sp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693EB4DA-B4C1-25CA-28E9-E1549F0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483" y="2821112"/>
            <a:ext cx="1636295" cy="59372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连续厚度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1D3D88E5-97D6-8B59-0ED9-F3A429D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203" y="2818659"/>
            <a:ext cx="1636295" cy="59372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离散厚度</a:t>
            </a:r>
          </a:p>
        </p:txBody>
      </p:sp>
      <p:cxnSp>
        <p:nvCxnSpPr>
          <p:cNvPr id="2097182" name="直接箭头连接符 38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rot="0">
            <a:off x="1836927" y="3117975"/>
            <a:ext cx="782556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97183" name="直接箭头连接符 40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rot="0" flipV="1">
            <a:off x="4255778" y="3115522"/>
            <a:ext cx="734425" cy="245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3735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4893962cd4a09"/>
          <a:srcRect xmlns:a="http://schemas.openxmlformats.org/drawingml/2006/main" l="0" t="0" r="0" b="6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41323" y="4605536"/>
            <a:ext cx="2873716" cy="2577338"/>
          </a:xfrm>
          <a:prstGeom xmlns:a="http://schemas.openxmlformats.org/drawingml/2006/main" prst="rect">
            <a:avLst/>
          </a:prstGeom>
        </p:spPr>
      </p:pic>
      <p:pic>
        <p:nvPicPr>
          <p:cNvPr id="2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156724db24646"/>
          <a:srcRect xmlns:a="http://schemas.openxmlformats.org/drawingml/2006/main" l="0" t="0" r="0" b="7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1241" y="2011170"/>
            <a:ext cx="2873716" cy="2564602"/>
          </a:xfrm>
          <a:prstGeom xmlns:a="http://schemas.openxmlformats.org/drawingml/2006/main" prst="rect">
            <a:avLst/>
          </a:prstGeom>
        </p:spPr>
      </p:pic>
      <p:pic>
        <p:nvPicPr>
          <p:cNvPr id="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175495c4d4a61"/>
          <a:srcRect xmlns:a="http://schemas.openxmlformats.org/drawingml/2006/main" l="0" t="0" r="0" b="6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41323" y="2023008"/>
            <a:ext cx="2873716" cy="2582750"/>
          </a:xfrm>
          <a:prstGeom xmlns:a="http://schemas.openxmlformats.org/drawingml/2006/main" prst="rect">
            <a:avLst/>
          </a:prstGeom>
        </p:spPr>
      </p:pic>
      <p:pic>
        <p:nvPicPr>
          <p:cNvPr id="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d1aa337204198"/>
          <a:srcRect xmlns:a="http://schemas.openxmlformats.org/drawingml/2006/main" l="0" t="0" r="0" b="7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1241" y="4616847"/>
            <a:ext cx="2873716" cy="2547823"/>
          </a:xfrm>
          <a:prstGeom xmlns:a="http://schemas.openxmlformats.org/drawingml/2006/main" prst="rect">
            <a:avLst/>
          </a:prstGeom>
        </p:spPr>
      </p:pic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F3D5E42-3201-45AB-B062-25E325C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329" y="476250"/>
            <a:ext cx="3842657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8C13362A-74ED-E300-E5A8-C7E4407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7170420" cy="492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阶段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4: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 从声场仿真到热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-</a:t>
            </a:r>
            <a:r>
              <a:rPr sz="3200" b="1">
                <a:solidFill>
                  <a:srgbClr val="1E293B"/>
                </a:solidFill>
                <a:latin typeface="+mj-ea"/>
                <a:ea typeface="+mj-ea"/>
                <a:cs typeface="+mj-ea"/>
              </a:rPr>
              <a:t>固化评价闭环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7C6CB99-28EE-7D43-6368-B74390A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360" y="1003096"/>
            <a:ext cx="5658788" cy="101538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71321"/>
              </a:lnSpc>
              <a:buNone/>
            </a:pPr>
          </a:p>
          <a:p xmlns:a="http://schemas.openxmlformats.org/drawingml/2006/main">
            <a:pPr marL="12700" algn="ctr">
              <a:lnSpc>
                <a:spcPct val="98000"/>
              </a:lnSpc>
              <a:buNone/>
            </a:pP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过去</a:t>
            </a:r>
          </a:p>
          <a:p xmlns:a="http://schemas.openxmlformats.org/drawingml/2006/main">
            <a:pPr marL="12700" algn="ctr">
              <a:lnSpc>
                <a:spcPct val="98000"/>
              </a:lnSpc>
              <a:buNone/>
            </a:pP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声压分布“看起来像不像”目标</a:t>
            </a: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1C389F32-8458-1AFD-9C83-9BA440B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664" y="1003096"/>
            <a:ext cx="7721600" cy="101538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prstDash val="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71321"/>
              </a:lnSpc>
              <a:buNone/>
            </a:pPr>
          </a:p>
          <a:p xmlns:a="http://schemas.openxmlformats.org/drawingml/2006/main">
            <a:pPr>
              <a:lnSpc>
                <a:spcPct val="86007"/>
              </a:lnSpc>
              <a:buNone/>
            </a:pPr>
          </a:p>
          <a:p xmlns:a="http://schemas.openxmlformats.org/drawingml/2006/main">
            <a:pPr marL="12700" algn="ctr">
              <a:lnSpc>
                <a:spcPct val="97000"/>
              </a:lnSpc>
              <a:buNone/>
            </a:pP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现在</a:t>
            </a:r>
          </a:p>
          <a:p xmlns:a="http://schemas.openxmlformats.org/drawingml/2006/main">
            <a:pPr marL="18415" algn="r">
              <a:lnSpc>
                <a:spcPct val="94000"/>
              </a:lnSpc>
              <a:spcBef>
                <a:spcPts val="242"/>
              </a:spcBef>
              <a:buNone/>
            </a:pP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基于热学，最终“固化出来</a:t>
            </a: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的实体对不对”</a:t>
            </a:r>
            <a:r>
              <a:rPr sz="260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</a:p>
        </p:txBody>
      </p:sp>
      <p:sp>
        <p:nvSpPr>
          <p:cNvPr id="10" name="箭头: 右 9">
            <a:extLst xmlns:a="http://schemas.openxmlformats.org/drawingml/2006/main">
              <a:ext uri="{FF2B5EF4-FFF2-40B4-BE49-F238E27FC236}">
                <a16:creationId xmlns:a16="http://schemas.microsoft.com/office/drawing/2014/main" id="{C774DD16-7512-098C-6C42-72165915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698" y="1235879"/>
            <a:ext cx="2586446" cy="493997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31000">
                <a:srgbClr val="B4C7E7"/>
              </a:gs>
              <a:gs pos="1000">
                <a:srgbClr val="B4C7E7">
                  <a:alpha val="20000"/>
                </a:srgbClr>
              </a:gs>
              <a:gs pos="71000">
                <a:srgbClr val="C5E0B4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六边形 10">
            <a:extLst xmlns:a="http://schemas.openxmlformats.org/drawingml/2006/main">
              <a:ext uri="{FF2B5EF4-FFF2-40B4-BE49-F238E27FC236}">
                <a16:creationId xmlns:a16="http://schemas.microsoft.com/office/drawing/2014/main" id="{D3FA8D62-3C86-5750-6A7F-86B0A072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635" y="2157415"/>
            <a:ext cx="3213463" cy="1015385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12700" algn="ctr">
              <a:lnSpc>
                <a:spcPct val="98000"/>
              </a:lnSpc>
              <a:buNone/>
            </a:pP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3D</a:t>
            </a: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 声场仿真</a:t>
            </a:r>
          </a:p>
          <a:p xmlns:a="http://schemas.openxmlformats.org/drawingml/2006/main">
            <a:pPr marL="209550" algn="ctr">
              <a:lnSpc>
                <a:spcPct val="98000"/>
              </a:lnSpc>
              <a:spcBef>
                <a:spcPts val="408"/>
              </a:spcBef>
              <a:buNone/>
            </a:pP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(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物理传播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)</a:t>
            </a:r>
          </a:p>
        </p:txBody>
      </p:sp>
      <p:sp>
        <p:nvSpPr>
          <p:cNvPr id="12" name="六边形 11">
            <a:extLst xmlns:a="http://schemas.openxmlformats.org/drawingml/2006/main">
              <a:ext uri="{FF2B5EF4-FFF2-40B4-BE49-F238E27FC236}">
                <a16:creationId xmlns:a16="http://schemas.microsoft.com/office/drawing/2014/main" id="{161F7C31-124B-0905-5A7B-7E4D583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27" y="5711565"/>
            <a:ext cx="3313477" cy="894868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81439"/>
              </a:lnSpc>
              <a:buNone/>
            </a:pPr>
          </a:p>
          <a:p xmlns:a="http://schemas.openxmlformats.org/drawingml/2006/main">
            <a:pPr marL="12700">
              <a:lnSpc>
                <a:spcPct val="97000"/>
              </a:lnSpc>
              <a:buNone/>
            </a:pP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Arrhenius</a:t>
            </a: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动力学</a:t>
            </a:r>
          </a:p>
          <a:p xmlns:a="http://schemas.openxmlformats.org/drawingml/2006/main">
            <a:pPr marL="337820">
              <a:lnSpc>
                <a:spcPct val="98000"/>
              </a:lnSpc>
              <a:spcBef>
                <a:spcPts val="631"/>
              </a:spcBef>
              <a:buNone/>
            </a:pP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(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固化阈值判定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)</a:t>
            </a:r>
          </a:p>
        </p:txBody>
      </p:sp>
      <p:sp>
        <p:nvSpPr>
          <p:cNvPr id="13" name="六边形 12">
            <a:extLst xmlns:a="http://schemas.openxmlformats.org/drawingml/2006/main">
              <a:ext uri="{FF2B5EF4-FFF2-40B4-BE49-F238E27FC236}">
                <a16:creationId xmlns:a16="http://schemas.microsoft.com/office/drawing/2014/main" id="{45B2BFB4-6B5C-9B96-5E38-A7EE591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3" y="4035412"/>
            <a:ext cx="4431727" cy="894868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4474"/>
              </a:lnSpc>
              <a:buNone/>
            </a:pPr>
          </a:p>
          <a:p xmlns:a="http://schemas.openxmlformats.org/drawingml/2006/main">
            <a:pPr marL="728344">
              <a:lnSpc>
                <a:spcPct val="97000"/>
              </a:lnSpc>
              <a:buNone/>
            </a:pP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图案形貌评估</a:t>
            </a:r>
          </a:p>
          <a:p xmlns:a="http://schemas.openxmlformats.org/drawingml/2006/main">
            <a:pPr marL="12700" algn="ctr">
              <a:lnSpc>
                <a:spcPct val="94000"/>
              </a:lnSpc>
              <a:spcBef>
                <a:spcPts val="504"/>
              </a:spcBef>
              <a:buNone/>
            </a:pP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(IoU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、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DICE,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过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/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欠固化分析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)</a:t>
            </a:r>
          </a:p>
        </p:txBody>
      </p:sp>
      <p:sp>
        <p:nvSpPr>
          <p:cNvPr id="14" name="六边形 13">
            <a:extLst xmlns:a="http://schemas.openxmlformats.org/drawingml/2006/main">
              <a:ext uri="{FF2B5EF4-FFF2-40B4-BE49-F238E27FC236}">
                <a16:creationId xmlns:a16="http://schemas.microsoft.com/office/drawing/2014/main" id="{B6FC8617-2242-BB87-5FFF-E5A782D3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147" y="4035412"/>
            <a:ext cx="4212281" cy="894868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4474"/>
              </a:lnSpc>
              <a:buNone/>
            </a:pPr>
          </a:p>
          <a:p xmlns:a="http://schemas.openxmlformats.org/drawingml/2006/main">
            <a:pPr marL="75564" algn="ctr">
              <a:lnSpc>
                <a:spcPct val="97000"/>
              </a:lnSpc>
              <a:buNone/>
            </a:pP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3D</a:t>
            </a:r>
            <a:r>
              <a:rPr sz="2600" b="1">
                <a:solidFill>
                  <a:schemeClr val="bg1"/>
                </a:solidFill>
                <a:latin typeface="SimHei"/>
                <a:ea typeface="SimHei"/>
                <a:cs typeface="SimHei"/>
              </a:rPr>
              <a:t> 热扩散计算</a:t>
            </a:r>
          </a:p>
          <a:p xmlns:a="http://schemas.openxmlformats.org/drawingml/2006/main">
            <a:pPr marL="12700" algn="ctr">
              <a:lnSpc>
                <a:spcPct val="97000"/>
              </a:lnSpc>
              <a:spcBef>
                <a:spcPts val="635"/>
              </a:spcBef>
              <a:buNone/>
            </a:pP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(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温度场时空演化</a:t>
            </a:r>
            <a:r>
              <a:rPr sz="2000">
                <a:solidFill>
                  <a:schemeClr val="bg1"/>
                </a:solidFill>
                <a:latin typeface="SimHei"/>
                <a:ea typeface="SimHei"/>
                <a:cs typeface="SimHei"/>
              </a:rPr>
              <a:t>)</a:t>
            </a:r>
          </a:p>
        </p:txBody>
      </p:sp>
      <p:cxnSp>
        <p:nvCxnSpPr>
          <p:cNvPr id="15" name="连接符: 曲线 21"/>
          <p:cNvCxnSpPr>
            <a:stCxn xmlns:a="http://schemas.openxmlformats.org/drawingml/2006/main" id="11" idx="0"/>
          </p:cNvCxnSpPr>
          <p:nvPr/>
        </p:nvCxnSpPr>
        <p:spPr>
          <a:xfrm xmlns:a="http://schemas.openxmlformats.org/drawingml/2006/main">
            <a:off x="6287098" y="2665108"/>
            <a:ext cx="838597" cy="1368000"/>
          </a:xfrm>
          <a:prstGeom xmlns:a="http://schemas.openxmlformats.org/drawingml/2006/main" prst="curvedConnector2">
            <a:avLst/>
          </a:prstGeom>
          <a:ln xmlns:a="http://schemas.openxmlformats.org/drawingml/2006/main" w="2286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" name="连接符: 曲线 23"/>
          <p:cNvCxnSpPr>
            <a:endCxn xmlns:a="http://schemas.openxmlformats.org/drawingml/2006/main" id="12" idx="0"/>
          </p:cNvCxnSpPr>
          <p:nvPr/>
        </p:nvCxnSpPr>
        <p:spPr>
          <a:xfrm xmlns:a="http://schemas.openxmlformats.org/drawingml/2006/main" rot="5400000">
            <a:off x="6117041" y="5150344"/>
            <a:ext cx="1228719" cy="788591"/>
          </a:xfrm>
          <a:prstGeom xmlns:a="http://schemas.openxmlformats.org/drawingml/2006/main" prst="curvedConnector2">
            <a:avLst/>
          </a:prstGeom>
          <a:ln xmlns:a="http://schemas.openxmlformats.org/drawingml/2006/main" w="2286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" name="连接符: 曲线 25"/>
          <p:cNvCxnSpPr>
            <a:stCxn xmlns:a="http://schemas.openxmlformats.org/drawingml/2006/main" id="12" idx="3"/>
          </p:cNvCxnSpPr>
          <p:nvPr/>
        </p:nvCxnSpPr>
        <p:spPr>
          <a:xfrm xmlns:a="http://schemas.openxmlformats.org/drawingml/2006/main" rot="10800000">
            <a:off x="2235037" y="4930281"/>
            <a:ext cx="788591" cy="1228719"/>
          </a:xfrm>
          <a:prstGeom xmlns:a="http://schemas.openxmlformats.org/drawingml/2006/main" prst="curvedConnector2">
            <a:avLst/>
          </a:prstGeom>
          <a:ln xmlns:a="http://schemas.openxmlformats.org/drawingml/2006/main" w="2286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8" name="连接符: 曲线 27"/>
          <p:cNvCxnSpPr>
            <a:endCxn xmlns:a="http://schemas.openxmlformats.org/drawingml/2006/main" id="11" idx="3"/>
          </p:cNvCxnSpPr>
          <p:nvPr/>
        </p:nvCxnSpPr>
        <p:spPr>
          <a:xfrm xmlns:a="http://schemas.openxmlformats.org/drawingml/2006/main" rot="5400000" flipH="1" flipV="1">
            <a:off x="1949009" y="2908482"/>
            <a:ext cx="1368000" cy="881252"/>
          </a:xfrm>
          <a:prstGeom xmlns:a="http://schemas.openxmlformats.org/drawingml/2006/main" prst="curvedConnector2">
            <a:avLst/>
          </a:prstGeom>
          <a:ln xmlns:a="http://schemas.openxmlformats.org/drawingml/2006/main" w="203200">
            <a:solidFill>
              <a:schemeClr val="tx2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ec2c6877846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1942" y="7875121"/>
            <a:ext cx="1800000" cy="1800000"/>
          </a:xfrm>
          <a:prstGeom xmlns:a="http://schemas.openxmlformats.org/drawingml/2006/main" prst="rect">
            <a:avLst/>
          </a:prstGeom>
        </p:spPr>
      </p:pic>
      <p:pic>
        <p:nvPicPr>
          <p:cNvPr id="20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b4b2657d149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1206" y="7882137"/>
            <a:ext cx="1800000" cy="1800000"/>
          </a:xfrm>
          <a:prstGeom xmlns:a="http://schemas.openxmlformats.org/drawingml/2006/main" prst="rect">
            <a:avLst/>
          </a:prstGeom>
        </p:spPr>
      </p:pic>
      <p:pic>
        <p:nvPicPr>
          <p:cNvPr id="2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4893962cd4a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3753" y="7882137"/>
            <a:ext cx="1800000" cy="18000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DE989C55-B16C-F205-A1DE-067CB585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60" y="8754987"/>
            <a:ext cx="1808615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best_img_norm</a:t>
            </a:r>
            <a:r>
              <a:rPr sz="1600"/>
              <a:t>&gt;</a:t>
            </a:r>
            <a:r>
              <a:rPr sz="1600"/>
              <a:t>Print_Threshold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2923C0BF-1078-B051-0174-36FDBAAD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06" y="8754988"/>
            <a:ext cx="1800000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AADC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T_focal_2d &gt;</a:t>
            </a:r>
            <a:r>
              <a:rPr sz="1600"/>
              <a:t>Thermal_Curing_Threshold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ED1745D8-CB64-8A0A-0CE7-B56A11E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753" y="8754987"/>
            <a:ext cx="1800000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AADC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Omega_final_2d &gt;</a:t>
            </a:r>
            <a:r>
              <a:rPr sz="1600"/>
              <a:t>Thermal_Dose_Threshold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5CE5DA7-EF1F-421B-88C5-75C54A4A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60" y="7667826"/>
            <a:ext cx="1808615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声压阈值截断</a:t>
            </a:r>
          </a:p>
        </p:txBody>
      </p:sp>
      <p:sp>
        <p:nvSpPr>
          <p:cNvPr id="30" name="矩形: 圆角 29">
            <a:extLst xmlns:a="http://schemas.openxmlformats.org/drawingml/2006/main">
              <a:ext uri="{FF2B5EF4-FFF2-40B4-BE49-F238E27FC236}">
                <a16:creationId xmlns:a16="http://schemas.microsoft.com/office/drawing/2014/main" id="{FABFC0C4-6FD8-6B16-DB67-941DEEC1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206" y="7667826"/>
            <a:ext cx="1800000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温度阈值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3C8B4509-71D3-A75C-5D0C-BFEECC0E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753" y="7667826"/>
            <a:ext cx="1800000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热剂量累积</a:t>
            </a:r>
          </a:p>
        </p:txBody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AA8114CF-C80A-69FE-7153-1C012771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5040" y="7667826"/>
            <a:ext cx="1800000" cy="9375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声空化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8484FC2-3001-6D2C-1FA8-E714D166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6243" y="8750505"/>
            <a:ext cx="6236743" cy="9420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AADC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f44cc215c4b73"/>
          <a:srcRect xmlns:a="http://schemas.openxmlformats.org/drawingml/2006/main" l="21128" t="0" r="212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1226243" y="8802138"/>
            <a:ext cx="6236743" cy="842354"/>
          </a:xfrm>
          <a:prstGeom xmlns:a="http://schemas.openxmlformats.org/drawingml/2006/main" prst="rect">
            <a:avLst/>
          </a:prstGeom>
        </p:spPr>
      </p:pic>
      <p:cxnSp>
        <p:nvCxnSpPr>
          <p:cNvPr id="41" name="连接符: 曲线 41"/>
          <p:cNvCxnSpPr>
            <a:stCxn xmlns:a="http://schemas.openxmlformats.org/drawingml/2006/main" id="29" idx="0"/>
            <a:endCxn xmlns:a="http://schemas.openxmlformats.org/drawingml/2006/main" id="30" idx="0"/>
          </p:cNvCxnSpPr>
          <p:nvPr/>
        </p:nvCxnSpPr>
        <p:spPr>
          <a:xfrm xmlns:a="http://schemas.openxmlformats.org/drawingml/2006/main" rot="5400000" flipH="1" flipV="1">
            <a:off x="4827837" y="5864457"/>
            <a:ext cx="12700" cy="3606738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571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2" name="连接符: 曲线 43"/>
          <p:cNvCxnSpPr>
            <a:stCxn xmlns:a="http://schemas.openxmlformats.org/drawingml/2006/main" id="30" idx="0"/>
            <a:endCxn xmlns:a="http://schemas.openxmlformats.org/drawingml/2006/main" id="31" idx="0"/>
          </p:cNvCxnSpPr>
          <p:nvPr/>
        </p:nvCxnSpPr>
        <p:spPr>
          <a:xfrm xmlns:a="http://schemas.openxmlformats.org/drawingml/2006/main" rot="5400000" flipH="1" flipV="1">
            <a:off x="8447479" y="5851553"/>
            <a:ext cx="12700" cy="3632547"/>
          </a:xfrm>
          <a:prstGeom xmlns:a="http://schemas.openxmlformats.org/drawingml/2006/main" prst="curvedConnector3">
            <a:avLst>
              <a:gd name="adj1" fmla="val 1800000"/>
            </a:avLst>
          </a:prstGeom>
          <a:ln xmlns:a="http://schemas.openxmlformats.org/drawingml/2006/main"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3" name="连接符: 曲线 45"/>
          <p:cNvCxnSpPr>
            <a:stCxn xmlns:a="http://schemas.openxmlformats.org/drawingml/2006/main" id="3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1163753" y="8136601"/>
            <a:ext cx="2391287" cy="12700"/>
          </a:xfrm>
          <a:prstGeom xmlns:a="http://schemas.openxmlformats.org/drawingml/2006/main" prst="curvedConnector3">
            <a:avLst/>
          </a:prstGeom>
          <a:ln xmlns:a="http://schemas.openxmlformats.org/drawingml/2006/main" w="57150">
            <a:solidFill>
              <a:schemeClr val="accent1">
                <a:lumMod val="75000"/>
              </a:schemeClr>
            </a:solidFill>
            <a:prstDash val="dash"/>
            <a:tailEnd type="stealt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8" name="直接连接符 47">
            <a:extLst xmlns:a="http://schemas.openxmlformats.org/drawingml/2006/main">
              <a:ext uri="{FF2B5EF4-FFF2-40B4-BE49-F238E27FC236}">
                <a16:creationId xmlns:a16="http://schemas.microsoft.com/office/drawing/2014/main" id="{6ECB66BD-0BC5-4777-8A51-E236561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82874"/>
            <a:ext cx="17475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7508392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0487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d60ea6a454b8a"/>
          <a:srcRect xmlns:a="http://schemas.openxmlformats.org/drawingml/2006/main" l="0" t="13637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242" y="4828257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3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69CDCD9F-A229-CA37-BBAF-9BF02C5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8536226" cy="496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84E79"/>
                </a:solidFill>
                <a:latin typeface="+mj-ea"/>
                <a:ea typeface="+mj-ea"/>
                <a:cs typeface="+mj-ea"/>
              </a:rPr>
              <a:t>阶段5：MATLAB + Python 混合优化主线形成</a:t>
            </a:r>
          </a:p>
        </p:txBody>
      </p:sp>
      <p:sp>
        <p:nvSpPr>
          <p:cNvPr id="1048735" name="">
            <a:extLst xmlns:a="http://schemas.openxmlformats.org/drawingml/2006/main">
              <a:ext uri="{FF2B5EF4-FFF2-40B4-BE49-F238E27FC236}">
                <a16:creationId xmlns:a16="http://schemas.microsoft.com/office/drawing/2014/main" id="{5AB279A9-3990-4741-8F60-9443F849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1653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A"/>
                </a:solidFill>
              </a:defRPr>
            </a:pPr>
            <a:r>
              <a:rPr sz="1500" b="0">
                <a:solidFill>
                  <a:srgbClr val="5D718A"/>
                </a:solidFill>
              </a:rPr>
              <a:t>Python 负责量化感知初相优化，MATLAB 负责 IASA 细化、离散板投影与 k-Wave / 热固化主线验证。</a:t>
            </a:r>
          </a:p>
        </p:txBody>
      </p:sp>
      <p:sp>
        <p:nvSpPr>
          <p:cNvPr id="1048736" name="">
            <a:extLst xmlns:a="http://schemas.openxmlformats.org/drawingml/2006/main">
              <a:ext uri="{FF2B5EF4-FFF2-40B4-BE49-F238E27FC236}">
                <a16:creationId xmlns:a16="http://schemas.microsoft.com/office/drawing/2014/main" id="{D600E3C9-93BB-4ECF-A754-DDCFC34C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6535400" cy="7715250"/>
          </a:xfrm>
          <a:prstGeom xmlns:a="http://schemas.openxmlformats.org/drawingml/2006/main" prst="roundRect">
            <a:avLst>
              <a:gd name="adj" fmla="val 988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1048737" name="">
            <a:extLst xmlns:a="http://schemas.openxmlformats.org/drawingml/2006/main">
              <a:ext uri="{FF2B5EF4-FFF2-40B4-BE49-F238E27FC236}">
                <a16:creationId xmlns:a16="http://schemas.microsoft.com/office/drawing/2014/main" id="{8D4887AE-A45B-4CB6-9E18-0C80ED73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1626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4E79"/>
          </a:solidFill>
          <a:ln xmlns:a="http://schemas.openxmlformats.org/drawingml/2006/main" w="0">
            <a:solidFill>
              <a:srgbClr val="284E7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PANN_Holography.py 在混合优化主线中的职责</a:t>
            </a:r>
          </a:p>
        </p:txBody>
      </p:sp>
      <p:pic>
        <p:nvPicPr>
          <p:cNvPr id="10487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a17f03af348c0"/>
          <a:stretch xmlns:a="http://schemas.openxmlformats.org/drawingml/2006/main"/>
        </p:blipFill>
        <p:spPr>
          <a:xfrm xmlns:a="http://schemas.openxmlformats.org/drawingml/2006/main">
            <a:off x="4857750" y="2571750"/>
            <a:ext cx="8572500" cy="5715000"/>
          </a:xfrm>
          <a:prstGeom xmlns:a="http://schemas.openxmlformats.org/drawingml/2006/main" prst="rect">
            <a:avLst/>
          </a:prstGeom>
        </p:spPr>
      </p:pic>
      <p:sp>
        <p:nvSpPr>
          <p:cNvPr id="1048739" name="">
            <a:extLst xmlns:a="http://schemas.openxmlformats.org/drawingml/2006/main">
              <a:ext uri="{FF2B5EF4-FFF2-40B4-BE49-F238E27FC236}">
                <a16:creationId xmlns:a16="http://schemas.microsoft.com/office/drawing/2014/main" id="{2D7FE87D-34BB-403F-B6DC-0537043C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34375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F43"/>
                </a:solidFill>
              </a:defRPr>
            </a:pPr>
            <a:r>
              <a:rPr sz="1275" b="0">
                <a:solidFill>
                  <a:srgbClr val="1F2F43"/>
                </a:solidFill>
              </a:rPr>
              <a:t>输入：目标图案、提前腐蚀目标图案与物理参数</a:t>
            </a:r>
          </a:p>
          <a:p xmlns:a="http://schemas.openxmlformats.org/drawingml/2006/main">
            <a:pPr algn="l">
              <a:defRPr sz="1275" b="0">
                <a:solidFill>
                  <a:srgbClr val="1F2F43"/>
                </a:solidFill>
              </a:defRPr>
            </a:pPr>
            <a:r>
              <a:rPr sz="1275" b="0">
                <a:solidFill>
                  <a:srgbClr val="1F2F43"/>
                </a:solidFill>
              </a:rPr>
              <a:t>输出：optimal_initial_phase、optimal_layer_map、phase_step</a:t>
            </a:r>
          </a:p>
        </p:txBody>
      </p:sp>
      <p:sp>
        <p:nvSpPr>
          <p:cNvPr id="1048740" name="">
            <a:extLst xmlns:a="http://schemas.openxmlformats.org/drawingml/2006/main">
              <a:ext uri="{FF2B5EF4-FFF2-40B4-BE49-F238E27FC236}">
                <a16:creationId xmlns:a16="http://schemas.microsoft.com/office/drawing/2014/main" id="{073EF033-6D60-4D17-AFF9-2840663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334375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F43"/>
                </a:solidFill>
              </a:defRPr>
            </a:pPr>
            <a:r>
              <a:rPr sz="1275" b="0">
                <a:solidFill>
                  <a:srgbClr val="1F2F43"/>
                </a:solidFill>
              </a:rPr>
              <a:t>核心机制：热剂量感知目标整形 + ASM传播 + STE量化 + 多项损失联合优化</a:t>
            </a:r>
          </a:p>
        </p:txBody>
      </p:sp>
      <p:sp>
        <p:nvSpPr>
          <p:cNvPr id="1048741" name="">
            <a:extLst xmlns:a="http://schemas.openxmlformats.org/drawingml/2006/main">
              <a:ext uri="{FF2B5EF4-FFF2-40B4-BE49-F238E27FC236}">
                <a16:creationId xmlns:a16="http://schemas.microsoft.com/office/drawing/2014/main" id="{97A5BD19-0B6E-4C1D-9701-A5FDB0E8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34375"/>
            <a:ext cx="552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F43"/>
                </a:solidFill>
              </a:defRPr>
            </a:pPr>
            <a:r>
              <a:rPr sz="1275" b="0">
                <a:solidFill>
                  <a:srgbClr val="1F2F43"/>
                </a:solidFill>
              </a:rPr>
              <a:t>与 MATLAB 的接口：target_for_python.mat -&gt; dl_phase_init.mat</a:t>
            </a:r>
          </a:p>
          <a:p xmlns:a="http://schemas.openxmlformats.org/drawingml/2006/main">
            <a:pPr algn="l">
              <a:defRPr sz="1275" b="0">
                <a:solidFill>
                  <a:srgbClr val="1F2F43"/>
                </a:solidFill>
              </a:defRPr>
            </a:pPr>
            <a:r>
              <a:rPr sz="1275" b="0">
                <a:solidFill>
                  <a:srgbClr val="1F2F43"/>
                </a:solidFill>
              </a:rPr>
              <a:t>为后续 IASA 细化提供可制造的初始相位与离散层信息</a:t>
            </a:r>
          </a:p>
        </p:txBody>
      </p:sp>
    </p:spTree>
    <p:extLst>
      <p:ext uri="{BB962C8B-B14F-4D97-AF65-F5344CB8AC3E}">
        <p14:creationId xmlns:p14="http://schemas.microsoft.com/office/powerpoint/2010/main" val="6051532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10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e4a1a6677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9579" y="6117084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acbbb0f854103"/>
          <a:srcRect xmlns:a="http://schemas.openxmlformats.org/drawingml/2006/main" l="79" t="0" r="79" b="0"/>
          <a:stretch xmlns:a="http://schemas.openxmlformats.org/drawingml/2006/main"/>
        </p:blipFill>
        <p:spPr>
          <a:xfrm xmlns:a="http://schemas.openxmlformats.org/drawingml/2006/main">
            <a:off x="2277733" y="3017202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e04ab5b0444d5"/>
          <a:srcRect xmlns:a="http://schemas.openxmlformats.org/drawingml/2006/main" l="16057" t="13573" r="9058" b="7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518" y="8336804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43afe3a0c4f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3609" y="8328057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8a46d11d4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29659" y="8328781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6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c3519c5b34b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41276" y="8328781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7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481b83e944776"/>
          <a:srcRect xmlns:a="http://schemas.openxmlformats.org/drawingml/2006/main" l="31476" t="27343" r="23932" b="29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98764" y="8328057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8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5fd22563e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6131" y="8333584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34bfdab91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65764" y="8328781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10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c46a937d8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84351" y="8328057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11" name="图片 10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c189983614e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2633" y="2104149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12" name="图片 10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fa38d3dfb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8319" y="4113652"/>
            <a:ext cx="0" cy="0"/>
          </a:xfrm>
          <a:prstGeom xmlns:a="http://schemas.openxmlformats.org/drawingml/2006/main" prst="rect">
            <a:avLst/>
          </a:prstGeom>
        </p:spPr>
      </p:pic>
      <p:pic>
        <p:nvPicPr>
          <p:cNvPr id="13" name="图片 10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ff2b49d084784"/>
          <a:srcRect xmlns:a="http://schemas.openxmlformats.org/drawingml/2006/main" l="32631" t="26630" r="22471" b="2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39426" y="8336804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1077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92B3E7ED-4FE2-42A0-FF85-BD19493B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8536226" cy="496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84E79"/>
                </a:solidFill>
                <a:latin typeface="+mj-ea"/>
                <a:ea typeface="+mj-ea"/>
                <a:cs typeface="+mj-ea"/>
              </a:rPr>
              <a:t>当前总览</a:t>
            </a:r>
          </a:p>
        </p:txBody>
      </p: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BD6E2AC2-9C8D-4953-BDF6-D5CB2433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1653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A"/>
                </a:solidFill>
              </a:defRPr>
            </a:pPr>
            <a:r>
              <a:rPr sz="1500" b="0">
                <a:solidFill>
                  <a:srgbClr val="5D718A"/>
                </a:solidFill>
              </a:rPr>
              <a:t>主线已经形成从设计输入、相位优化、离散板构建、三维传播、出口诊断到热固化评估的闭环流程。</a:t>
            </a:r>
          </a:p>
        </p:txBody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8510897B-64DB-45D8-8E07-F47F9EE2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6954500" cy="7334250"/>
          </a:xfrm>
          <a:prstGeom xmlns:a="http://schemas.openxmlformats.org/drawingml/2006/main" prst="roundRect">
            <a:avLst>
              <a:gd name="adj" fmla="val 103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FE7E405A-0CC9-48FD-B386-B9F857DA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6687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4E79"/>
          </a:solidFill>
          <a:ln xmlns:a="http://schemas.openxmlformats.org/drawingml/2006/main" w="0">
            <a:solidFill>
              <a:srgbClr val="284E7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HDSP 当前版本完整逻辑示意图</a:t>
            </a:r>
          </a:p>
        </p:txBody>
      </p:sp>
      <p:pic>
        <p:nvPicPr>
          <p:cNvPr id="10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335bdbea24cc2"/>
          <a:stretch xmlns:a="http://schemas.openxmlformats.org/drawingml/2006/main"/>
        </p:blipFill>
        <p:spPr>
          <a:xfrm xmlns:a="http://schemas.openxmlformats.org/drawingml/2006/main">
            <a:off x="4500563" y="2286000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7CE9564D-B709-4E90-AFB7-56BDF1B1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1828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098" name="">
            <a:extLst xmlns:a="http://schemas.openxmlformats.org/drawingml/2006/main">
              <a:ext uri="{FF2B5EF4-FFF2-40B4-BE49-F238E27FC236}">
                <a16:creationId xmlns:a16="http://schemas.microsoft.com/office/drawing/2014/main" id="{43C28362-A1FC-484C-ABF3-5052F4F8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77250"/>
            <a:ext cx="1390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主链路：目标图案与热预补偿 -&gt; Python 初相 -&gt; MATLAB IASA + 离散板投影 -&gt; k-Wave 声场 -&gt; 出口分析 -&gt; 热场/固化预测 -&gt; 指标输出</a:t>
            </a:r>
          </a:p>
        </p:txBody>
      </p:sp>
    </p:spTree>
    <p:extLst>
      <p:ext uri="{BB962C8B-B14F-4D97-AF65-F5344CB8AC3E}">
        <p14:creationId xmlns:p14="http://schemas.microsoft.com/office/powerpoint/2010/main" val="16383702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2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baec26f8f4b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1600000">
            <a:off x="12210970" y="6603967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2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624B175C-2EC9-182F-8495-44159700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4904740" cy="992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84E79"/>
                </a:solidFill>
                <a:latin typeface="+mj-ea"/>
                <a:ea typeface="+mj-ea"/>
                <a:cs typeface="+mj-ea"/>
              </a:rPr>
              <a:t>阶段6：后续增强与支线探索</a:t>
            </a:r>
          </a:p>
        </p:txBody>
      </p:sp>
      <p:sp>
        <p:nvSpPr>
          <p:cNvPr id="1048671" name="">
            <a:extLst xmlns:a="http://schemas.openxmlformats.org/drawingml/2006/main">
              <a:ext uri="{FF2B5EF4-FFF2-40B4-BE49-F238E27FC236}">
                <a16:creationId xmlns:a16="http://schemas.microsoft.com/office/drawing/2014/main" id="{F881674F-6C5E-4DC4-BFD0-634AA55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16535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A"/>
                </a:solidFill>
              </a:defRPr>
            </a:pPr>
            <a:r>
              <a:rPr sz="1500" b="0">
                <a:solidFill>
                  <a:srgbClr val="5D718A"/>
                </a:solidFill>
              </a:rPr>
              <a:t>演进主旨：从“只看焦平面像不像”转向“直接分析厚板出口复场”，并探索数据驱动代理模型以降低诊断成本。</a:t>
            </a:r>
          </a:p>
        </p:txBody>
      </p:sp>
      <p:sp>
        <p:nvSpPr>
          <p:cNvPr id="1048672" name="">
            <a:extLst xmlns:a="http://schemas.openxmlformats.org/drawingml/2006/main">
              <a:ext uri="{FF2B5EF4-FFF2-40B4-BE49-F238E27FC236}">
                <a16:creationId xmlns:a16="http://schemas.microsoft.com/office/drawing/2014/main" id="{EA1179F5-6430-43F6-83E0-0B9580F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771525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1048673" name="">
            <a:extLst xmlns:a="http://schemas.openxmlformats.org/drawingml/2006/main">
              <a:ext uri="{FF2B5EF4-FFF2-40B4-BE49-F238E27FC236}">
                <a16:creationId xmlns:a16="http://schemas.microsoft.com/office/drawing/2014/main" id="{6375AD27-3C63-46AA-A3EE-86D9E23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7448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4E79"/>
          </a:solidFill>
          <a:ln xmlns:a="http://schemas.openxmlformats.org/drawingml/2006/main" w="0">
            <a:solidFill>
              <a:srgbClr val="284E7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探索1：出口平面复场诊断（物理层）</a:t>
            </a:r>
          </a:p>
        </p:txBody>
      </p:sp>
      <p:sp>
        <p:nvSpPr>
          <p:cNvPr id="1048674" name="">
            <a:extLst xmlns:a="http://schemas.openxmlformats.org/drawingml/2006/main">
              <a:ext uri="{FF2B5EF4-FFF2-40B4-BE49-F238E27FC236}">
                <a16:creationId xmlns:a16="http://schemas.microsoft.com/office/drawing/2014/main" id="{F438DA38-A795-4C7F-8A46-CB426108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991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F43"/>
                </a:solidFill>
              </a:defRPr>
            </a:pPr>
            <a:r>
              <a:rPr sz="1425" b="0">
                <a:solidFill>
                  <a:srgbClr val="1F2F43"/>
                </a:solidFill>
              </a:rPr>
              <a:t>不再仅观测焦平面，而是在厚板出口处直接截取复场，恢复出口幅值与相位，并与理论相位板进行对齐比较。</a:t>
            </a:r>
          </a:p>
        </p:txBody>
      </p:sp>
      <p:sp>
        <p:nvSpPr>
          <p:cNvPr id="1048675" name="">
            <a:extLst xmlns:a="http://schemas.openxmlformats.org/drawingml/2006/main">
              <a:ext uri="{FF2B5EF4-FFF2-40B4-BE49-F238E27FC236}">
                <a16:creationId xmlns:a16="http://schemas.microsoft.com/office/drawing/2014/main" id="{FA2B876F-ED42-4D4A-BE7A-2491DEC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43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8676" name="">
            <a:extLst xmlns:a="http://schemas.openxmlformats.org/drawingml/2006/main">
              <a:ext uri="{FF2B5EF4-FFF2-40B4-BE49-F238E27FC236}">
                <a16:creationId xmlns:a16="http://schemas.microsoft.com/office/drawing/2014/main" id="{875E62D3-1CAF-4A67-9183-029D9682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48125"/>
            <a:ext cx="609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记录出口平面时序信号 p(t)</a:t>
            </a:r>
          </a:p>
        </p:txBody>
      </p:sp>
      <p:sp>
        <p:nvSpPr>
          <p:cNvPr id="1048677" name="">
            <a:extLst xmlns:a="http://schemas.openxmlformats.org/drawingml/2006/main">
              <a:ext uri="{FF2B5EF4-FFF2-40B4-BE49-F238E27FC236}">
                <a16:creationId xmlns:a16="http://schemas.microsoft.com/office/drawing/2014/main" id="{5D24D4FF-E258-4EC5-8D6D-65A36A1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81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8678" name="">
            <a:extLst xmlns:a="http://schemas.openxmlformats.org/drawingml/2006/main">
              <a:ext uri="{FF2B5EF4-FFF2-40B4-BE49-F238E27FC236}">
                <a16:creationId xmlns:a16="http://schemas.microsoft.com/office/drawing/2014/main" id="{10D0FDF3-03E3-4E77-8971-D0B29B9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86325"/>
            <a:ext cx="609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复数解调恢复 p_exit_complex</a:t>
            </a:r>
          </a:p>
        </p:txBody>
      </p:sp>
      <p:sp>
        <p:nvSpPr>
          <p:cNvPr id="1048679" name="">
            <a:extLst xmlns:a="http://schemas.openxmlformats.org/drawingml/2006/main">
              <a:ext uri="{FF2B5EF4-FFF2-40B4-BE49-F238E27FC236}">
                <a16:creationId xmlns:a16="http://schemas.microsoft.com/office/drawing/2014/main" id="{AFFDEC33-D1A8-464C-BB09-B62543BB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9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48680" name="">
            <a:extLst xmlns:a="http://schemas.openxmlformats.org/drawingml/2006/main">
              <a:ext uri="{FF2B5EF4-FFF2-40B4-BE49-F238E27FC236}">
                <a16:creationId xmlns:a16="http://schemas.microsoft.com/office/drawing/2014/main" id="{E0DCCA03-4EEF-4628-9530-72B568B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24525"/>
            <a:ext cx="609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得到出口幅值、出口相位</a:t>
            </a:r>
          </a:p>
        </p:txBody>
      </p:sp>
      <p:sp>
        <p:nvSpPr>
          <p:cNvPr id="1048681" name="">
            <a:extLst xmlns:a="http://schemas.openxmlformats.org/drawingml/2006/main">
              <a:ext uri="{FF2B5EF4-FFF2-40B4-BE49-F238E27FC236}">
                <a16:creationId xmlns:a16="http://schemas.microsoft.com/office/drawing/2014/main" id="{A04A4C90-539D-481D-A2A3-016F15D1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57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48682" name="">
            <a:extLst xmlns:a="http://schemas.openxmlformats.org/drawingml/2006/main">
              <a:ext uri="{FF2B5EF4-FFF2-40B4-BE49-F238E27FC236}">
                <a16:creationId xmlns:a16="http://schemas.microsoft.com/office/drawing/2014/main" id="{8334EA83-6A70-49F8-B453-D3F4766B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562725"/>
            <a:ext cx="609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计算相位残差与 mean / RMS / max 误差</a:t>
            </a:r>
          </a:p>
        </p:txBody>
      </p:sp>
      <p:sp>
        <p:nvSpPr>
          <p:cNvPr id="1048683" name="">
            <a:extLst xmlns:a="http://schemas.openxmlformats.org/drawingml/2006/main">
              <a:ext uri="{FF2B5EF4-FFF2-40B4-BE49-F238E27FC236}">
                <a16:creationId xmlns:a16="http://schemas.microsoft.com/office/drawing/2014/main" id="{90926A69-A95D-46BF-8C83-78128367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96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48684" name="">
            <a:extLst xmlns:a="http://schemas.openxmlformats.org/drawingml/2006/main">
              <a:ext uri="{FF2B5EF4-FFF2-40B4-BE49-F238E27FC236}">
                <a16:creationId xmlns:a16="http://schemas.microsoft.com/office/drawing/2014/main" id="{B3E80807-7200-45C6-A48B-AADD99B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400925"/>
            <a:ext cx="609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分析厚度、梯度、边缘距离与出口幅值的相关性</a:t>
            </a:r>
          </a:p>
        </p:txBody>
      </p:sp>
      <p:sp>
        <p:nvSpPr>
          <p:cNvPr id="1048685" name="">
            <a:extLst xmlns:a="http://schemas.openxmlformats.org/drawingml/2006/main">
              <a:ext uri="{FF2B5EF4-FFF2-40B4-BE49-F238E27FC236}">
                <a16:creationId xmlns:a16="http://schemas.microsoft.com/office/drawing/2014/main" id="{ECEAB84B-6011-4805-83A5-7EC7E57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47875"/>
            <a:ext cx="832485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1048686" name="">
            <a:extLst xmlns:a="http://schemas.openxmlformats.org/drawingml/2006/main">
              <a:ext uri="{FF2B5EF4-FFF2-40B4-BE49-F238E27FC236}">
                <a16:creationId xmlns:a16="http://schemas.microsoft.com/office/drawing/2014/main" id="{AE75103A-B6EE-4B8C-A7AD-0501FB30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62175"/>
            <a:ext cx="8058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4E79"/>
          </a:solidFill>
          <a:ln xmlns:a="http://schemas.openxmlformats.org/drawingml/2006/main" w="0">
            <a:solidFill>
              <a:srgbClr val="284E7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探索2：出口幅值代理模型（数据层）</a:t>
            </a:r>
          </a:p>
        </p:txBody>
      </p:sp>
      <p:sp>
        <p:nvSpPr>
          <p:cNvPr id="1048687" name="">
            <a:extLst xmlns:a="http://schemas.openxmlformats.org/drawingml/2006/main">
              <a:ext uri="{FF2B5EF4-FFF2-40B4-BE49-F238E27FC236}">
                <a16:creationId xmlns:a16="http://schemas.microsoft.com/office/drawing/2014/main" id="{3DD34A1E-8BD6-43B0-8891-07DBF65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76390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F43"/>
                </a:solidFill>
              </a:defRPr>
            </a:pPr>
            <a:r>
              <a:rPr sz="1425" b="0">
                <a:solidFill>
                  <a:srgbClr val="1F2F43"/>
                </a:solidFill>
              </a:rPr>
              <a:t>尝试 Data-driven 范式，从局部厚度及统计特征学习真实出口幅值响应，目标是在保持诊断趋势的同时替代部分耗时的全波仿真。</a:t>
            </a:r>
          </a:p>
        </p:txBody>
      </p:sp>
      <p:sp>
        <p:nvSpPr>
          <p:cNvPr id="1048688" name="">
            <a:extLst xmlns:a="http://schemas.openxmlformats.org/drawingml/2006/main">
              <a:ext uri="{FF2B5EF4-FFF2-40B4-BE49-F238E27FC236}">
                <a16:creationId xmlns:a16="http://schemas.microsoft.com/office/drawing/2014/main" id="{EFDF018F-E566-47DB-BD1F-BBF7C00B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62500"/>
            <a:ext cx="1123950" cy="13525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5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F43"/>
                </a:solidFill>
              </a:defRPr>
            </a:pPr>
            <a:r>
              <a:rPr sz="1350" b="1">
                <a:solidFill>
                  <a:srgbClr val="1F2F43"/>
                </a:solidFill>
              </a:rPr>
              <a:t>厚度与局部特征</a:t>
            </a:r>
          </a:p>
        </p:txBody>
      </p:sp>
      <p:sp>
        <p:nvSpPr>
          <p:cNvPr id="1048689" name="">
            <a:extLst xmlns:a="http://schemas.openxmlformats.org/drawingml/2006/main">
              <a:ext uri="{FF2B5EF4-FFF2-40B4-BE49-F238E27FC236}">
                <a16:creationId xmlns:a16="http://schemas.microsoft.com/office/drawing/2014/main" id="{5103DC24-89D4-4B7E-B0F7-B28CF73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5210175"/>
            <a:ext cx="323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</p:sp>
      <p:sp>
        <p:nvSpPr>
          <p:cNvPr id="1048690" name="">
            <a:extLst xmlns:a="http://schemas.openxmlformats.org/drawingml/2006/main">
              <a:ext uri="{FF2B5EF4-FFF2-40B4-BE49-F238E27FC236}">
                <a16:creationId xmlns:a16="http://schemas.microsoft.com/office/drawing/2014/main" id="{D9A88677-9540-406F-BF8F-E17E6573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762500"/>
            <a:ext cx="1123950" cy="13525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5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F43"/>
                </a:solidFill>
              </a:defRPr>
            </a:pPr>
            <a:r>
              <a:rPr sz="1350" b="1">
                <a:solidFill>
                  <a:srgbClr val="1F2F43"/>
                </a:solidFill>
              </a:rPr>
              <a:t>样本抽取</a:t>
            </a:r>
          </a:p>
        </p:txBody>
      </p:sp>
      <p:sp>
        <p:nvSpPr>
          <p:cNvPr id="1048691" name="">
            <a:extLst xmlns:a="http://schemas.openxmlformats.org/drawingml/2006/main">
              <a:ext uri="{FF2B5EF4-FFF2-40B4-BE49-F238E27FC236}">
                <a16:creationId xmlns:a16="http://schemas.microsoft.com/office/drawing/2014/main" id="{794E6875-3D09-464C-AB96-8488D29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5210175"/>
            <a:ext cx="323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</p:sp>
      <p:sp>
        <p:nvSpPr>
          <p:cNvPr id="1048692" name="">
            <a:extLst xmlns:a="http://schemas.openxmlformats.org/drawingml/2006/main">
              <a:ext uri="{FF2B5EF4-FFF2-40B4-BE49-F238E27FC236}">
                <a16:creationId xmlns:a16="http://schemas.microsoft.com/office/drawing/2014/main" id="{1EA0ED66-F0DB-496E-BD79-9499A9D9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4762500"/>
            <a:ext cx="1123950" cy="13525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5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F43"/>
                </a:solidFill>
              </a:defRPr>
            </a:pPr>
            <a:r>
              <a:rPr sz="1350" b="1">
                <a:solidFill>
                  <a:srgbClr val="1F2F43"/>
                </a:solidFill>
              </a:rPr>
              <a:t>代理模型训练</a:t>
            </a:r>
          </a:p>
        </p:txBody>
      </p:sp>
      <p:sp>
        <p:nvSpPr>
          <p:cNvPr id="1048693" name="">
            <a:extLst xmlns:a="http://schemas.openxmlformats.org/drawingml/2006/main">
              <a:ext uri="{FF2B5EF4-FFF2-40B4-BE49-F238E27FC236}">
                <a16:creationId xmlns:a16="http://schemas.microsoft.com/office/drawing/2014/main" id="{DF0534E5-9089-4127-B879-CC2A3443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5210175"/>
            <a:ext cx="323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</p:sp>
      <p:sp>
        <p:nvSpPr>
          <p:cNvPr id="1048694" name="">
            <a:extLst xmlns:a="http://schemas.openxmlformats.org/drawingml/2006/main">
              <a:ext uri="{FF2B5EF4-FFF2-40B4-BE49-F238E27FC236}">
                <a16:creationId xmlns:a16="http://schemas.microsoft.com/office/drawing/2014/main" id="{26C5F093-5AE9-4CD8-9E24-A55E9D3A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4762500"/>
            <a:ext cx="1123950" cy="13525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5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F43"/>
                </a:solidFill>
              </a:defRPr>
            </a:pPr>
            <a:r>
              <a:rPr sz="1350" b="1">
                <a:solidFill>
                  <a:srgbClr val="1F2F43"/>
                </a:solidFill>
              </a:rPr>
              <a:t>出口幅值预测</a:t>
            </a:r>
          </a:p>
        </p:txBody>
      </p:sp>
      <p:sp>
        <p:nvSpPr>
          <p:cNvPr id="1048695" name="">
            <a:extLst xmlns:a="http://schemas.openxmlformats.org/drawingml/2006/main">
              <a:ext uri="{FF2B5EF4-FFF2-40B4-BE49-F238E27FC236}">
                <a16:creationId xmlns:a16="http://schemas.microsoft.com/office/drawing/2014/main" id="{0E03EA3C-F5D8-4C97-8A19-532891B9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5210175"/>
            <a:ext cx="323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6F9C"/>
          </a:solidFill>
          <a:ln xmlns:a="http://schemas.openxmlformats.org/drawingml/2006/main" w="0">
            <a:solidFill>
              <a:srgbClr val="4B6F9C"/>
            </a:solidFill>
          </a:ln>
        </p:spPr>
      </p:sp>
      <p:sp>
        <p:nvSpPr>
          <p:cNvPr id="1048696" name="">
            <a:extLst xmlns:a="http://schemas.openxmlformats.org/drawingml/2006/main">
              <a:ext uri="{FF2B5EF4-FFF2-40B4-BE49-F238E27FC236}">
                <a16:creationId xmlns:a16="http://schemas.microsoft.com/office/drawing/2014/main" id="{0903055A-B2A4-40D9-AE0B-62645B51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4762500"/>
            <a:ext cx="1123950" cy="13525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1430">
            <a:solidFill>
              <a:srgbClr val="C8D5E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F43"/>
                </a:solidFill>
              </a:defRPr>
            </a:pPr>
            <a:r>
              <a:rPr sz="1350" b="1">
                <a:solidFill>
                  <a:srgbClr val="1F2F43"/>
                </a:solidFill>
              </a:rPr>
              <a:t>与全波结果对照</a:t>
            </a:r>
          </a:p>
        </p:txBody>
      </p:sp>
      <p:sp>
        <p:nvSpPr>
          <p:cNvPr id="1048697" name="">
            <a:extLst xmlns:a="http://schemas.openxmlformats.org/drawingml/2006/main">
              <a:ext uri="{FF2B5EF4-FFF2-40B4-BE49-F238E27FC236}">
                <a16:creationId xmlns:a16="http://schemas.microsoft.com/office/drawing/2014/main" id="{363577C7-7820-40EE-86E6-5A592298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15125"/>
            <a:ext cx="7277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这一支线的定位不是替代主线，而是为出口诊断提供更快的近似工具：</a:t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1）帮助识别厚板与理想相位屏之间的系统失配；</a:t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2）为后续参数扫描与代理建模打基础。</a:t>
            </a:r>
          </a:p>
        </p:txBody>
      </p:sp>
    </p:spTree>
    <p:extLst>
      <p:ext uri="{BB962C8B-B14F-4D97-AF65-F5344CB8AC3E}">
        <p14:creationId xmlns:p14="http://schemas.microsoft.com/office/powerpoint/2010/main" val="15680539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393611D3-93C4-B5A4-9D9C-1A5F394E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2"/>
            <a:ext cx="7028180" cy="496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84E79"/>
                </a:solidFill>
                <a:latin typeface="+mj-ea"/>
                <a:ea typeface="+mj-ea"/>
                <a:cs typeface="+mj-ea"/>
              </a:rPr>
              <a:t>当前成果、存在问题与下一步计划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A8AD0-0AC0-4B0C-8D84-30AA0481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23950"/>
            <a:ext cx="16535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A"/>
                </a:solidFill>
              </a:defRPr>
            </a:pPr>
            <a:r>
              <a:rPr sz="1500" b="0">
                <a:solidFill>
                  <a:srgbClr val="5D718A"/>
                </a:solidFill>
              </a:rPr>
              <a:t>中期目标已按计划完成，当前主线已经形成可运行、可评估、可诊断的全流程闭环；下阶段重心转向参数收敛、对比实验与论文表达。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33F4A-164F-44EA-B4B1-DD2D9FC8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953000" cy="5905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9F6EF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726C6-7065-4670-80BD-A7818EBE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52675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7D57"/>
          </a:solidFill>
          <a:ln xmlns:a="http://schemas.openxmlformats.org/drawingml/2006/main" w="0">
            <a:solidFill>
              <a:srgbClr val="2F7D5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已完成核心里程碑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C83DE-9E1E-459F-8323-FB69A6D9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05125"/>
            <a:ext cx="4610100" cy="50673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打通从目标图案到热固化评价的全物理闭环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确立 MATLAB + Python 跨平台协同架构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累积多轮迭代、具备完整证据链的量化对比结果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形成可汇报的主线流程、图示与指标体系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2FA83-2A7C-45FE-8CE5-E0AE904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953000" cy="5905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774B6-7C50-49DD-9F8D-A68E472E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34747"/>
          </a:solidFill>
          <a:ln xmlns:a="http://schemas.openxmlformats.org/drawingml/2006/main" w="0">
            <a:solidFill>
              <a:srgbClr val="B3474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当前存在问题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76607-97D8-46B1-8BB7-3845370B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4610100" cy="50673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离散厚度板与最终热固化结果之间仍存在耦合误差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多目标指标之间存在拉扯，尚未确定统一全局最优判据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ASM 到 k-Wave 之间仍有显著性能退化，需要更强物理诊断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53B77-FCB5-4B88-8808-F045D881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238375"/>
            <a:ext cx="4953000" cy="5905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C8D5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F271D-AE86-4A53-BEC5-53CB1D3D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352675"/>
            <a:ext cx="468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58522"/>
          </a:solidFill>
          <a:ln xmlns:a="http://schemas.openxmlformats.org/drawingml/2006/main" w="0">
            <a:solidFill>
              <a:srgbClr val="C5852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下一步行动计划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4209E-FF7A-4BCC-89F8-A730AC76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905125"/>
            <a:ext cx="4610100" cy="50673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冻结并稳固当前主线，统一全部对比实验口径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补全关键消融数据与定量对比（Ablation Study）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将系统演化成果沉淀为论文的方法与实验章节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F2F43"/>
                </a:solidFill>
              </a:defRPr>
            </a:pPr>
            <a:r>
              <a:rPr sz="1350" b="0">
                <a:solidFill>
                  <a:srgbClr val="1F2F43"/>
                </a:solidFill>
              </a:rPr>
              <a:t>• 继续完善出口诊断与代理模型支线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1B5C9-C6AB-4614-9CF4-4DD3F8DC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24875"/>
            <a:ext cx="1504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5E6"/>
            </a:solidFill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F43"/>
                </a:solidFill>
              </a:defRPr>
            </a:pPr>
            <a:r>
              <a:rPr sz="1575" b="1">
                <a:solidFill>
                  <a:srgbClr val="1F2F43"/>
                </a:solidFill>
              </a:rPr>
              <a:t>中期阶段的核心结论是：主线框架已经封顶，后续工作的重点不再是“能不能跑通”，而是“如何做得更稳、更准、更可解释”。</a:t>
            </a:r>
          </a:p>
        </p:txBody>
      </p:sp>
    </p:spTree>
    <p:extLst>
      <p:ext uri="{BB962C8B-B14F-4D97-AF65-F5344CB8AC3E}">
        <p14:creationId xmlns:p14="http://schemas.microsoft.com/office/powerpoint/2010/main" val="656264228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2026-04-20T12:36:09.3430000Z</dcterms:created>
  <dcterms:modified xsi:type="dcterms:W3CDTF">2026-04-20T12:36:09.3430000Z</dcterms:modified>
</coreProperties>
</file>