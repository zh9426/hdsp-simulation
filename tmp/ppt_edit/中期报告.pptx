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1" r:id="rId2"/>
    <p:sldId id="274" r:id="rId3"/>
    <p:sldId id="273" r:id="rId4"/>
    <p:sldId id="275" r:id="rId5"/>
    <p:sldId id="263" r:id="rId6"/>
    <p:sldId id="261" r:id="rId7"/>
    <p:sldId id="265" r:id="rId8"/>
    <p:sldId id="278" r:id="rId9"/>
    <p:sldId id="279" r:id="rId10"/>
    <p:sldId id="268" r:id="rId11"/>
    <p:sldId id="269" r:id="rId12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2F5597"/>
    <a:srgbClr val="003991"/>
    <a:srgbClr val="0F2139"/>
    <a:srgbClr val="DAE3F3"/>
    <a:srgbClr val="767171"/>
    <a:srgbClr val="B4C7E7"/>
    <a:srgbClr val="FFFFFF"/>
    <a:srgbClr val="C5E0B4"/>
    <a:srgbClr val="163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47" autoAdjust="0"/>
    <p:restoredTop sz="94652" autoAdjust="0"/>
  </p:normalViewPr>
  <p:slideViewPr>
    <p:cSldViewPr snapToGrid="0">
      <p:cViewPr>
        <p:scale>
          <a:sx n="66" d="100"/>
          <a:sy n="66" d="100"/>
        </p:scale>
        <p:origin x="1478" y="53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4D0D2C-1668-4497-ABAE-375412E72E3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15F35D1-0718-48F2-AAD2-AC4CB494DAAF}">
      <dgm:prSet phldrT="[文本]" phldr="0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B4F23744-2535-4DA9-91C1-9544FE0C8AD6}" type="sibTrans" cxnId="{A9305EA6-FDC4-49C5-8F31-FE28060FDBEC}">
      <dgm:prSet/>
      <dgm:spPr/>
      <dgm:t>
        <a:bodyPr/>
        <a:lstStyle/>
        <a:p>
          <a:endParaRPr lang="zh-CN" altLang="en-US"/>
        </a:p>
      </dgm:t>
    </dgm:pt>
    <dgm:pt modelId="{BC4F7945-23A4-41E1-84EA-37FE74229738}" type="parTrans" cxnId="{A9305EA6-FDC4-49C5-8F31-FE28060FDBEC}">
      <dgm:prSet/>
      <dgm:spPr/>
      <dgm:t>
        <a:bodyPr/>
        <a:lstStyle/>
        <a:p>
          <a:endParaRPr lang="zh-CN" altLang="en-US"/>
        </a:p>
      </dgm:t>
    </dgm:pt>
    <dgm:pt modelId="{2DD51543-DCFA-471E-8F22-ECFBA5551155}">
      <dgm:prSet phldrT="[文本]" phldr="0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593CA862-FB13-477A-9649-294CB0DFCBE3}" type="parTrans" cxnId="{4D42C0F0-D15E-4FBE-B7C5-0D6C2A1268E0}">
      <dgm:prSet/>
      <dgm:spPr/>
      <dgm:t>
        <a:bodyPr/>
        <a:lstStyle/>
        <a:p>
          <a:endParaRPr lang="zh-CN" altLang="en-US"/>
        </a:p>
      </dgm:t>
    </dgm:pt>
    <dgm:pt modelId="{1FD618A0-A2FD-492F-936E-E09036CFC0AB}" type="sibTrans" cxnId="{4D42C0F0-D15E-4FBE-B7C5-0D6C2A1268E0}">
      <dgm:prSet/>
      <dgm:spPr/>
      <dgm:t>
        <a:bodyPr/>
        <a:lstStyle/>
        <a:p>
          <a:endParaRPr lang="zh-CN" altLang="en-US"/>
        </a:p>
      </dgm:t>
    </dgm:pt>
    <dgm:pt modelId="{AEFF6135-37E4-4013-8DB1-044C79C22C93}">
      <dgm:prSet phldrT="[文本]" phldr="0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9D8FC231-9AA1-4D52-92AE-84BDFE0AE98C}" type="parTrans" cxnId="{2EFBBFEC-9B8D-4B10-B41A-2B815E22A852}">
      <dgm:prSet/>
      <dgm:spPr/>
      <dgm:t>
        <a:bodyPr/>
        <a:lstStyle/>
        <a:p>
          <a:endParaRPr lang="zh-CN" altLang="en-US"/>
        </a:p>
      </dgm:t>
    </dgm:pt>
    <dgm:pt modelId="{C71AB846-E490-40F3-8F35-E34EFE8F24F9}" type="sibTrans" cxnId="{2EFBBFEC-9B8D-4B10-B41A-2B815E22A852}">
      <dgm:prSet/>
      <dgm:spPr/>
      <dgm:t>
        <a:bodyPr/>
        <a:lstStyle/>
        <a:p>
          <a:endParaRPr lang="zh-CN" altLang="en-US"/>
        </a:p>
      </dgm:t>
    </dgm:pt>
    <dgm:pt modelId="{1A589E1C-F3AC-4EE2-8285-0E8621F358AE}" type="pres">
      <dgm:prSet presAssocID="{784D0D2C-1668-4497-ABAE-375412E72E32}" presName="linearFlow" presStyleCnt="0">
        <dgm:presLayoutVars>
          <dgm:dir/>
          <dgm:animLvl val="lvl"/>
          <dgm:resizeHandles val="exact"/>
        </dgm:presLayoutVars>
      </dgm:prSet>
      <dgm:spPr/>
    </dgm:pt>
    <dgm:pt modelId="{C64A5B47-19D3-46AC-86A3-57E2309AEFF2}" type="pres">
      <dgm:prSet presAssocID="{315F35D1-0718-48F2-AAD2-AC4CB494DAAF}" presName="composite" presStyleCnt="0"/>
      <dgm:spPr/>
    </dgm:pt>
    <dgm:pt modelId="{0F1AFEC5-E5DF-46F7-9845-3553F4D1454F}" type="pres">
      <dgm:prSet presAssocID="{315F35D1-0718-48F2-AAD2-AC4CB494DAA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F54E1A4-422E-45AA-AEDD-EC8976C985E5}" type="pres">
      <dgm:prSet presAssocID="{315F35D1-0718-48F2-AAD2-AC4CB494DAAF}" presName="descendantText" presStyleLbl="alignAcc1" presStyleIdx="0" presStyleCnt="3">
        <dgm:presLayoutVars>
          <dgm:bulletEnabled val="1"/>
        </dgm:presLayoutVars>
      </dgm:prSet>
      <dgm:spPr/>
    </dgm:pt>
    <dgm:pt modelId="{F19DABC8-8B03-4E1C-A41E-F9B805B5A49B}" type="pres">
      <dgm:prSet presAssocID="{B4F23744-2535-4DA9-91C1-9544FE0C8AD6}" presName="sp" presStyleCnt="0"/>
      <dgm:spPr/>
    </dgm:pt>
    <dgm:pt modelId="{A295E61B-7FA1-4001-B68A-D24CB5B75F2A}" type="pres">
      <dgm:prSet presAssocID="{AEFF6135-37E4-4013-8DB1-044C79C22C93}" presName="composite" presStyleCnt="0"/>
      <dgm:spPr/>
    </dgm:pt>
    <dgm:pt modelId="{54728635-6B3E-465E-BB4D-AAC24D1D9950}" type="pres">
      <dgm:prSet presAssocID="{AEFF6135-37E4-4013-8DB1-044C79C22C9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91A5D7F-6BAE-450F-8B60-8A4B9173DEAE}" type="pres">
      <dgm:prSet presAssocID="{AEFF6135-37E4-4013-8DB1-044C79C22C93}" presName="descendantText" presStyleLbl="alignAcc1" presStyleIdx="1" presStyleCnt="3">
        <dgm:presLayoutVars>
          <dgm:bulletEnabled val="1"/>
        </dgm:presLayoutVars>
      </dgm:prSet>
      <dgm:spPr/>
    </dgm:pt>
    <dgm:pt modelId="{A0A63186-72A9-4856-87EE-50B5C01268E3}" type="pres">
      <dgm:prSet presAssocID="{C71AB846-E490-40F3-8F35-E34EFE8F24F9}" presName="sp" presStyleCnt="0"/>
      <dgm:spPr/>
    </dgm:pt>
    <dgm:pt modelId="{7EDEE9BD-8434-44F8-9B62-80A7F50AAD35}" type="pres">
      <dgm:prSet presAssocID="{2DD51543-DCFA-471E-8F22-ECFBA5551155}" presName="composite" presStyleCnt="0"/>
      <dgm:spPr/>
    </dgm:pt>
    <dgm:pt modelId="{EDC51ADD-280F-410D-9D32-56C26FA293BE}" type="pres">
      <dgm:prSet presAssocID="{2DD51543-DCFA-471E-8F22-ECFBA555115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A18F9F4F-A8E2-414B-8DCA-E339B04E8CA0}" type="pres">
      <dgm:prSet presAssocID="{2DD51543-DCFA-471E-8F22-ECFBA555115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71BA318-0D1F-403F-9D98-9765B8ABB68F}" type="presOf" srcId="{AEFF6135-37E4-4013-8DB1-044C79C22C93}" destId="{54728635-6B3E-465E-BB4D-AAC24D1D9950}" srcOrd="0" destOrd="0" presId="urn:microsoft.com/office/officeart/2005/8/layout/chevron2"/>
    <dgm:cxn modelId="{1D73C32F-ED28-4EDC-967B-5BDEC0A97CD2}" type="presOf" srcId="{315F35D1-0718-48F2-AAD2-AC4CB494DAAF}" destId="{0F1AFEC5-E5DF-46F7-9845-3553F4D1454F}" srcOrd="0" destOrd="0" presId="urn:microsoft.com/office/officeart/2005/8/layout/chevron2"/>
    <dgm:cxn modelId="{A9305EA6-FDC4-49C5-8F31-FE28060FDBEC}" srcId="{784D0D2C-1668-4497-ABAE-375412E72E32}" destId="{315F35D1-0718-48F2-AAD2-AC4CB494DAAF}" srcOrd="0" destOrd="0" parTransId="{BC4F7945-23A4-41E1-84EA-37FE74229738}" sibTransId="{B4F23744-2535-4DA9-91C1-9544FE0C8AD6}"/>
    <dgm:cxn modelId="{C857F4DC-EFD0-4A29-8DF3-344AEAFC11C1}" type="presOf" srcId="{784D0D2C-1668-4497-ABAE-375412E72E32}" destId="{1A589E1C-F3AC-4EE2-8285-0E8621F358AE}" srcOrd="0" destOrd="0" presId="urn:microsoft.com/office/officeart/2005/8/layout/chevron2"/>
    <dgm:cxn modelId="{B24211E6-E7DE-4B67-A81C-455059B57182}" type="presOf" srcId="{2DD51543-DCFA-471E-8F22-ECFBA5551155}" destId="{EDC51ADD-280F-410D-9D32-56C26FA293BE}" srcOrd="0" destOrd="0" presId="urn:microsoft.com/office/officeart/2005/8/layout/chevron2"/>
    <dgm:cxn modelId="{2EFBBFEC-9B8D-4B10-B41A-2B815E22A852}" srcId="{784D0D2C-1668-4497-ABAE-375412E72E32}" destId="{AEFF6135-37E4-4013-8DB1-044C79C22C93}" srcOrd="1" destOrd="0" parTransId="{9D8FC231-9AA1-4D52-92AE-84BDFE0AE98C}" sibTransId="{C71AB846-E490-40F3-8F35-E34EFE8F24F9}"/>
    <dgm:cxn modelId="{4D42C0F0-D15E-4FBE-B7C5-0D6C2A1268E0}" srcId="{784D0D2C-1668-4497-ABAE-375412E72E32}" destId="{2DD51543-DCFA-471E-8F22-ECFBA5551155}" srcOrd="2" destOrd="0" parTransId="{593CA862-FB13-477A-9649-294CB0DFCBE3}" sibTransId="{1FD618A0-A2FD-492F-936E-E09036CFC0AB}"/>
    <dgm:cxn modelId="{01EAAB7F-529C-400B-9ED5-868A084BC012}" type="presParOf" srcId="{1A589E1C-F3AC-4EE2-8285-0E8621F358AE}" destId="{C64A5B47-19D3-46AC-86A3-57E2309AEFF2}" srcOrd="0" destOrd="0" presId="urn:microsoft.com/office/officeart/2005/8/layout/chevron2"/>
    <dgm:cxn modelId="{A2178D78-916D-44CC-B668-C25F4F93616F}" type="presParOf" srcId="{C64A5B47-19D3-46AC-86A3-57E2309AEFF2}" destId="{0F1AFEC5-E5DF-46F7-9845-3553F4D1454F}" srcOrd="0" destOrd="0" presId="urn:microsoft.com/office/officeart/2005/8/layout/chevron2"/>
    <dgm:cxn modelId="{3DE10898-6740-4115-83AB-8F17EDD96BBE}" type="presParOf" srcId="{C64A5B47-19D3-46AC-86A3-57E2309AEFF2}" destId="{2F54E1A4-422E-45AA-AEDD-EC8976C985E5}" srcOrd="1" destOrd="0" presId="urn:microsoft.com/office/officeart/2005/8/layout/chevron2"/>
    <dgm:cxn modelId="{44848206-70DA-4A86-BA81-5A62209660EE}" type="presParOf" srcId="{1A589E1C-F3AC-4EE2-8285-0E8621F358AE}" destId="{F19DABC8-8B03-4E1C-A41E-F9B805B5A49B}" srcOrd="1" destOrd="0" presId="urn:microsoft.com/office/officeart/2005/8/layout/chevron2"/>
    <dgm:cxn modelId="{BE96A5E9-8BF1-44B5-9CC3-DDB4F11F4556}" type="presParOf" srcId="{1A589E1C-F3AC-4EE2-8285-0E8621F358AE}" destId="{A295E61B-7FA1-4001-B68A-D24CB5B75F2A}" srcOrd="2" destOrd="0" presId="urn:microsoft.com/office/officeart/2005/8/layout/chevron2"/>
    <dgm:cxn modelId="{BB71649D-EB94-4AAB-A3A7-89D30FD68377}" type="presParOf" srcId="{A295E61B-7FA1-4001-B68A-D24CB5B75F2A}" destId="{54728635-6B3E-465E-BB4D-AAC24D1D9950}" srcOrd="0" destOrd="0" presId="urn:microsoft.com/office/officeart/2005/8/layout/chevron2"/>
    <dgm:cxn modelId="{12519CEF-8844-43ED-B2C2-ABEC51930F3C}" type="presParOf" srcId="{A295E61B-7FA1-4001-B68A-D24CB5B75F2A}" destId="{791A5D7F-6BAE-450F-8B60-8A4B9173DEAE}" srcOrd="1" destOrd="0" presId="urn:microsoft.com/office/officeart/2005/8/layout/chevron2"/>
    <dgm:cxn modelId="{D6589BFC-C55D-4C28-83B9-4CCEA924D772}" type="presParOf" srcId="{1A589E1C-F3AC-4EE2-8285-0E8621F358AE}" destId="{A0A63186-72A9-4856-87EE-50B5C01268E3}" srcOrd="3" destOrd="0" presId="urn:microsoft.com/office/officeart/2005/8/layout/chevron2"/>
    <dgm:cxn modelId="{2D5C5E31-590A-4921-B767-1879A30837A6}" type="presParOf" srcId="{1A589E1C-F3AC-4EE2-8285-0E8621F358AE}" destId="{7EDEE9BD-8434-44F8-9B62-80A7F50AAD35}" srcOrd="4" destOrd="0" presId="urn:microsoft.com/office/officeart/2005/8/layout/chevron2"/>
    <dgm:cxn modelId="{181495D8-7A40-4C64-9711-867882394A6A}" type="presParOf" srcId="{7EDEE9BD-8434-44F8-9B62-80A7F50AAD35}" destId="{EDC51ADD-280F-410D-9D32-56C26FA293BE}" srcOrd="0" destOrd="0" presId="urn:microsoft.com/office/officeart/2005/8/layout/chevron2"/>
    <dgm:cxn modelId="{A970FFF6-A1A9-4466-BEA5-F8CACDB5ACC2}" type="presParOf" srcId="{7EDEE9BD-8434-44F8-9B62-80A7F50AAD35}" destId="{A18F9F4F-A8E2-414B-8DCA-E339B04E8C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61D1A1-694A-406C-B1A2-035B8ABF814D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2773D41-1618-4870-950D-BC8478E773BB}">
      <dgm:prSet phldrT="[文本]" phldr="0"/>
      <dgm:spPr/>
      <dgm:t>
        <a:bodyPr/>
        <a:lstStyle/>
        <a:p>
          <a:r>
            <a:rPr lang="en-US" altLang="zh-CN" dirty="0"/>
            <a:t>118.8°</a:t>
          </a:r>
          <a:endParaRPr lang="zh-CN" altLang="en-US" dirty="0"/>
        </a:p>
      </dgm:t>
    </dgm:pt>
    <dgm:pt modelId="{A6D199D7-614A-4F9C-8D33-BBDFF58C3694}" type="parTrans" cxnId="{4A521337-1771-41D8-AFD7-0F430EBBF97C}">
      <dgm:prSet/>
      <dgm:spPr/>
      <dgm:t>
        <a:bodyPr/>
        <a:lstStyle/>
        <a:p>
          <a:endParaRPr lang="zh-CN" altLang="en-US"/>
        </a:p>
      </dgm:t>
    </dgm:pt>
    <dgm:pt modelId="{14EB3324-27AC-432B-9A2F-BDCF23A0255A}" type="sibTrans" cxnId="{4A521337-1771-41D8-AFD7-0F430EBBF97C}">
      <dgm:prSet/>
      <dgm:spPr/>
      <dgm:t>
        <a:bodyPr/>
        <a:lstStyle/>
        <a:p>
          <a:endParaRPr lang="zh-CN" altLang="en-US"/>
        </a:p>
      </dgm:t>
    </dgm:pt>
    <dgm:pt modelId="{A1AA1EFD-C467-4698-93C8-79DDE696B011}">
      <dgm:prSet phldrT="[文本]" custT="1"/>
      <dgm:spPr/>
      <dgm:t>
        <a:bodyPr/>
        <a:lstStyle/>
        <a:p>
          <a:r>
            <a:rPr lang="zh-CN" altLang="en-US" sz="2400" dirty="0"/>
            <a:t>直接映射</a:t>
          </a:r>
        </a:p>
      </dgm:t>
    </dgm:pt>
    <dgm:pt modelId="{7406830A-8CA3-4069-875B-EC9B328C6F75}" type="parTrans" cxnId="{693729AC-4347-42F7-8B65-2E316CB8F4CD}">
      <dgm:prSet/>
      <dgm:spPr/>
      <dgm:t>
        <a:bodyPr/>
        <a:lstStyle/>
        <a:p>
          <a:endParaRPr lang="zh-CN" altLang="en-US"/>
        </a:p>
      </dgm:t>
    </dgm:pt>
    <dgm:pt modelId="{D65D64CC-6EFE-417C-9C92-401E884180BD}" type="sibTrans" cxnId="{693729AC-4347-42F7-8B65-2E316CB8F4CD}">
      <dgm:prSet/>
      <dgm:spPr/>
      <dgm:t>
        <a:bodyPr/>
        <a:lstStyle/>
        <a:p>
          <a:endParaRPr lang="zh-CN" altLang="en-US"/>
        </a:p>
      </dgm:t>
    </dgm:pt>
    <dgm:pt modelId="{2F12389D-2424-4B82-A83D-B5ECBBC9CE42}">
      <dgm:prSet phldrT="[文本]" phldr="0"/>
      <dgm:spPr/>
      <dgm:t>
        <a:bodyPr/>
        <a:lstStyle/>
        <a:p>
          <a:r>
            <a:rPr lang="en-US" altLang="zh-CN" dirty="0"/>
            <a:t>25.7°</a:t>
          </a:r>
          <a:endParaRPr lang="zh-CN" altLang="en-US" dirty="0"/>
        </a:p>
      </dgm:t>
    </dgm:pt>
    <dgm:pt modelId="{FF01E033-4C08-4B97-A769-439170760DF7}" type="parTrans" cxnId="{41587F22-7B47-4F1D-8B1D-ADBF65F5F68F}">
      <dgm:prSet/>
      <dgm:spPr/>
      <dgm:t>
        <a:bodyPr/>
        <a:lstStyle/>
        <a:p>
          <a:endParaRPr lang="zh-CN" altLang="en-US"/>
        </a:p>
      </dgm:t>
    </dgm:pt>
    <dgm:pt modelId="{9FA6EA36-A656-4AEA-B105-4EB9E67E19DD}" type="sibTrans" cxnId="{41587F22-7B47-4F1D-8B1D-ADBF65F5F68F}">
      <dgm:prSet/>
      <dgm:spPr/>
      <dgm:t>
        <a:bodyPr/>
        <a:lstStyle/>
        <a:p>
          <a:endParaRPr lang="zh-CN" altLang="en-US"/>
        </a:p>
      </dgm:t>
    </dgm:pt>
    <dgm:pt modelId="{903C3AA1-371A-490C-989C-24722BDFE880}">
      <dgm:prSet phldrT="[文本]" custT="1"/>
      <dgm:spPr/>
      <dgm:t>
        <a:bodyPr/>
        <a:lstStyle/>
        <a:p>
          <a:r>
            <a:rPr lang="zh-CN" altLang="en-US" sz="2400" dirty="0"/>
            <a:t>平滑优化</a:t>
          </a:r>
        </a:p>
      </dgm:t>
    </dgm:pt>
    <dgm:pt modelId="{381663A1-7C01-4D13-84F9-B9CE97A2D662}" type="parTrans" cxnId="{39C2B3B3-37CE-4FF9-AB03-6B4E7235B3F8}">
      <dgm:prSet/>
      <dgm:spPr/>
      <dgm:t>
        <a:bodyPr/>
        <a:lstStyle/>
        <a:p>
          <a:endParaRPr lang="zh-CN" altLang="en-US"/>
        </a:p>
      </dgm:t>
    </dgm:pt>
    <dgm:pt modelId="{8C437FC6-18BE-46B4-B804-F7B5CBF4898B}" type="sibTrans" cxnId="{39C2B3B3-37CE-4FF9-AB03-6B4E7235B3F8}">
      <dgm:prSet/>
      <dgm:spPr/>
      <dgm:t>
        <a:bodyPr/>
        <a:lstStyle/>
        <a:p>
          <a:endParaRPr lang="zh-CN" altLang="en-US"/>
        </a:p>
      </dgm:t>
    </dgm:pt>
    <dgm:pt modelId="{5CEB177E-2D2E-4499-816D-4124C117B27F}">
      <dgm:prSet phldrT="[文本]" phldr="0"/>
      <dgm:spPr/>
      <dgm:t>
        <a:bodyPr/>
        <a:lstStyle/>
        <a:p>
          <a:r>
            <a:rPr lang="en-US" altLang="zh-CN" dirty="0"/>
            <a:t>7.3°</a:t>
          </a:r>
          <a:endParaRPr lang="zh-CN" altLang="en-US" dirty="0"/>
        </a:p>
      </dgm:t>
    </dgm:pt>
    <dgm:pt modelId="{F40DB196-2ABD-4473-A6C1-26D59D5AC88F}" type="parTrans" cxnId="{6680C7D7-1168-40E6-B0EE-3A543D7D68E4}">
      <dgm:prSet/>
      <dgm:spPr/>
      <dgm:t>
        <a:bodyPr/>
        <a:lstStyle/>
        <a:p>
          <a:endParaRPr lang="zh-CN" altLang="en-US"/>
        </a:p>
      </dgm:t>
    </dgm:pt>
    <dgm:pt modelId="{FA74263C-6D22-471C-A50E-D72111D2098F}" type="sibTrans" cxnId="{6680C7D7-1168-40E6-B0EE-3A543D7D68E4}">
      <dgm:prSet/>
      <dgm:spPr/>
      <dgm:t>
        <a:bodyPr/>
        <a:lstStyle/>
        <a:p>
          <a:endParaRPr lang="zh-CN" altLang="en-US"/>
        </a:p>
      </dgm:t>
    </dgm:pt>
    <dgm:pt modelId="{C27E426D-E145-4F95-B857-E22E27FC59E7}">
      <dgm:prSet phldrT="[文本]" custT="1"/>
      <dgm:spPr/>
      <dgm:t>
        <a:bodyPr/>
        <a:lstStyle/>
        <a:p>
          <a:r>
            <a:rPr lang="zh-CN" altLang="en-US" sz="2400" dirty="0"/>
            <a:t>离散约束</a:t>
          </a:r>
        </a:p>
      </dgm:t>
    </dgm:pt>
    <dgm:pt modelId="{89E9FEC7-0465-4344-A586-48026FF55F89}" type="parTrans" cxnId="{BD481BA7-6479-4583-A1E4-83A8E8CBDC3C}">
      <dgm:prSet/>
      <dgm:spPr/>
      <dgm:t>
        <a:bodyPr/>
        <a:lstStyle/>
        <a:p>
          <a:endParaRPr lang="zh-CN" altLang="en-US"/>
        </a:p>
      </dgm:t>
    </dgm:pt>
    <dgm:pt modelId="{B796A1C8-4912-454F-AFEF-8AD66B01FD12}" type="sibTrans" cxnId="{BD481BA7-6479-4583-A1E4-83A8E8CBDC3C}">
      <dgm:prSet/>
      <dgm:spPr/>
      <dgm:t>
        <a:bodyPr/>
        <a:lstStyle/>
        <a:p>
          <a:endParaRPr lang="zh-CN" altLang="en-US"/>
        </a:p>
      </dgm:t>
    </dgm:pt>
    <dgm:pt modelId="{B82E8890-1BBE-4EAD-AB79-EACA8EAA7689}" type="pres">
      <dgm:prSet presAssocID="{E661D1A1-694A-406C-B1A2-035B8ABF814D}" presName="rootnode" presStyleCnt="0">
        <dgm:presLayoutVars>
          <dgm:chMax/>
          <dgm:chPref/>
          <dgm:dir/>
          <dgm:animLvl val="lvl"/>
        </dgm:presLayoutVars>
      </dgm:prSet>
      <dgm:spPr/>
    </dgm:pt>
    <dgm:pt modelId="{411E9D8A-7995-427C-BB13-3FBA0F3BFBF7}" type="pres">
      <dgm:prSet presAssocID="{12773D41-1618-4870-950D-BC8478E773BB}" presName="composite" presStyleCnt="0"/>
      <dgm:spPr/>
    </dgm:pt>
    <dgm:pt modelId="{4D066458-7BFA-443E-9C89-BD40F58AD37F}" type="pres">
      <dgm:prSet presAssocID="{12773D41-1618-4870-950D-BC8478E773BB}" presName="bentUpArrow1" presStyleLbl="alignImgPlace1" presStyleIdx="0" presStyleCnt="2"/>
      <dgm:spPr/>
    </dgm:pt>
    <dgm:pt modelId="{DC366C3A-A3BA-43D1-9D31-76DE60B4A85E}" type="pres">
      <dgm:prSet presAssocID="{12773D41-1618-4870-950D-BC8478E773BB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8BE592E1-5615-49E8-931E-8B2D8977127D}" type="pres">
      <dgm:prSet presAssocID="{12773D41-1618-4870-950D-BC8478E773BB}" presName="ChildText" presStyleLbl="revTx" presStyleIdx="0" presStyleCnt="3" custScaleX="303182" custLinFactX="893" custLinFactNeighborX="100000" custLinFactNeighborY="-1833">
        <dgm:presLayoutVars>
          <dgm:chMax val="0"/>
          <dgm:chPref val="0"/>
          <dgm:bulletEnabled val="1"/>
        </dgm:presLayoutVars>
      </dgm:prSet>
      <dgm:spPr/>
    </dgm:pt>
    <dgm:pt modelId="{FC5BF461-3B92-4011-A607-ADAA6036F606}" type="pres">
      <dgm:prSet presAssocID="{14EB3324-27AC-432B-9A2F-BDCF23A0255A}" presName="sibTrans" presStyleCnt="0"/>
      <dgm:spPr/>
    </dgm:pt>
    <dgm:pt modelId="{BCDBC9C6-EF51-4DBC-8265-5DC90A29F3D2}" type="pres">
      <dgm:prSet presAssocID="{2F12389D-2424-4B82-A83D-B5ECBBC9CE42}" presName="composite" presStyleCnt="0"/>
      <dgm:spPr/>
    </dgm:pt>
    <dgm:pt modelId="{E4293708-10E6-418C-83E4-FA01A10176EC}" type="pres">
      <dgm:prSet presAssocID="{2F12389D-2424-4B82-A83D-B5ECBBC9CE42}" presName="bentUpArrow1" presStyleLbl="alignImgPlace1" presStyleIdx="1" presStyleCnt="2"/>
      <dgm:spPr/>
    </dgm:pt>
    <dgm:pt modelId="{A2D64E90-A7A8-43FC-91E8-3FD7BA2E5D4E}" type="pres">
      <dgm:prSet presAssocID="{2F12389D-2424-4B82-A83D-B5ECBBC9CE42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4EB18303-3C5A-49FF-A3A8-AB04A3514FE7}" type="pres">
      <dgm:prSet presAssocID="{2F12389D-2424-4B82-A83D-B5ECBBC9CE42}" presName="ChildText" presStyleLbl="revTx" presStyleIdx="1" presStyleCnt="3" custScaleX="225679" custLinFactNeighborX="68386" custLinFactNeighborY="-3367">
        <dgm:presLayoutVars>
          <dgm:chMax val="0"/>
          <dgm:chPref val="0"/>
          <dgm:bulletEnabled val="1"/>
        </dgm:presLayoutVars>
      </dgm:prSet>
      <dgm:spPr/>
    </dgm:pt>
    <dgm:pt modelId="{9C499962-3DE2-4717-A1B1-320C430BC0FD}" type="pres">
      <dgm:prSet presAssocID="{9FA6EA36-A656-4AEA-B105-4EB9E67E19DD}" presName="sibTrans" presStyleCnt="0"/>
      <dgm:spPr/>
    </dgm:pt>
    <dgm:pt modelId="{BE1A377A-77C7-4A8C-8C13-5E97093D8A6C}" type="pres">
      <dgm:prSet presAssocID="{5CEB177E-2D2E-4499-816D-4124C117B27F}" presName="composite" presStyleCnt="0"/>
      <dgm:spPr/>
    </dgm:pt>
    <dgm:pt modelId="{E72071D2-9726-486A-866C-867E2D607D07}" type="pres">
      <dgm:prSet presAssocID="{5CEB177E-2D2E-4499-816D-4124C117B27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D35FAE45-64A8-481A-8666-7C7F61BBDC03}" type="pres">
      <dgm:prSet presAssocID="{5CEB177E-2D2E-4499-816D-4124C117B27F}" presName="FinalChildText" presStyleLbl="revTx" presStyleIdx="2" presStyleCnt="3" custScaleX="258126" custLinFactNeighborX="78244" custLinFactNeighborY="1107">
        <dgm:presLayoutVars>
          <dgm:chMax val="0"/>
          <dgm:chPref val="0"/>
          <dgm:bulletEnabled val="1"/>
        </dgm:presLayoutVars>
      </dgm:prSet>
      <dgm:spPr/>
    </dgm:pt>
  </dgm:ptLst>
  <dgm:cxnLst>
    <dgm:cxn modelId="{44D2E00C-513C-4F72-903D-9F961DCE3291}" type="presOf" srcId="{12773D41-1618-4870-950D-BC8478E773BB}" destId="{DC366C3A-A3BA-43D1-9D31-76DE60B4A85E}" srcOrd="0" destOrd="0" presId="urn:microsoft.com/office/officeart/2005/8/layout/StepDownProcess"/>
    <dgm:cxn modelId="{41587F22-7B47-4F1D-8B1D-ADBF65F5F68F}" srcId="{E661D1A1-694A-406C-B1A2-035B8ABF814D}" destId="{2F12389D-2424-4B82-A83D-B5ECBBC9CE42}" srcOrd="1" destOrd="0" parTransId="{FF01E033-4C08-4B97-A769-439170760DF7}" sibTransId="{9FA6EA36-A656-4AEA-B105-4EB9E67E19DD}"/>
    <dgm:cxn modelId="{4A521337-1771-41D8-AFD7-0F430EBBF97C}" srcId="{E661D1A1-694A-406C-B1A2-035B8ABF814D}" destId="{12773D41-1618-4870-950D-BC8478E773BB}" srcOrd="0" destOrd="0" parTransId="{A6D199D7-614A-4F9C-8D33-BBDFF58C3694}" sibTransId="{14EB3324-27AC-432B-9A2F-BDCF23A0255A}"/>
    <dgm:cxn modelId="{C672C93D-58D0-4E3E-AB6B-453C45881B0C}" type="presOf" srcId="{903C3AA1-371A-490C-989C-24722BDFE880}" destId="{4EB18303-3C5A-49FF-A3A8-AB04A3514FE7}" srcOrd="0" destOrd="0" presId="urn:microsoft.com/office/officeart/2005/8/layout/StepDownProcess"/>
    <dgm:cxn modelId="{66FD8E47-E75A-492A-B56A-31EE78370F40}" type="presOf" srcId="{5CEB177E-2D2E-4499-816D-4124C117B27F}" destId="{E72071D2-9726-486A-866C-867E2D607D07}" srcOrd="0" destOrd="0" presId="urn:microsoft.com/office/officeart/2005/8/layout/StepDownProcess"/>
    <dgm:cxn modelId="{610F7778-894E-4657-88CB-F7B23850DA66}" type="presOf" srcId="{C27E426D-E145-4F95-B857-E22E27FC59E7}" destId="{D35FAE45-64A8-481A-8666-7C7F61BBDC03}" srcOrd="0" destOrd="0" presId="urn:microsoft.com/office/officeart/2005/8/layout/StepDownProcess"/>
    <dgm:cxn modelId="{BD481BA7-6479-4583-A1E4-83A8E8CBDC3C}" srcId="{5CEB177E-2D2E-4499-816D-4124C117B27F}" destId="{C27E426D-E145-4F95-B857-E22E27FC59E7}" srcOrd="0" destOrd="0" parTransId="{89E9FEC7-0465-4344-A586-48026FF55F89}" sibTransId="{B796A1C8-4912-454F-AFEF-8AD66B01FD12}"/>
    <dgm:cxn modelId="{AE5B1FAB-2E35-4507-BCB8-6E4EFB29A888}" type="presOf" srcId="{A1AA1EFD-C467-4698-93C8-79DDE696B011}" destId="{8BE592E1-5615-49E8-931E-8B2D8977127D}" srcOrd="0" destOrd="0" presId="urn:microsoft.com/office/officeart/2005/8/layout/StepDownProcess"/>
    <dgm:cxn modelId="{693729AC-4347-42F7-8B65-2E316CB8F4CD}" srcId="{12773D41-1618-4870-950D-BC8478E773BB}" destId="{A1AA1EFD-C467-4698-93C8-79DDE696B011}" srcOrd="0" destOrd="0" parTransId="{7406830A-8CA3-4069-875B-EC9B328C6F75}" sibTransId="{D65D64CC-6EFE-417C-9C92-401E884180BD}"/>
    <dgm:cxn modelId="{39C2B3B3-37CE-4FF9-AB03-6B4E7235B3F8}" srcId="{2F12389D-2424-4B82-A83D-B5ECBBC9CE42}" destId="{903C3AA1-371A-490C-989C-24722BDFE880}" srcOrd="0" destOrd="0" parTransId="{381663A1-7C01-4D13-84F9-B9CE97A2D662}" sibTransId="{8C437FC6-18BE-46B4-B804-F7B5CBF4898B}"/>
    <dgm:cxn modelId="{B91B46C0-BFB6-4E7C-910F-91C6C11E4D2B}" type="presOf" srcId="{E661D1A1-694A-406C-B1A2-035B8ABF814D}" destId="{B82E8890-1BBE-4EAD-AB79-EACA8EAA7689}" srcOrd="0" destOrd="0" presId="urn:microsoft.com/office/officeart/2005/8/layout/StepDownProcess"/>
    <dgm:cxn modelId="{6680C7D7-1168-40E6-B0EE-3A543D7D68E4}" srcId="{E661D1A1-694A-406C-B1A2-035B8ABF814D}" destId="{5CEB177E-2D2E-4499-816D-4124C117B27F}" srcOrd="2" destOrd="0" parTransId="{F40DB196-2ABD-4473-A6C1-26D59D5AC88F}" sibTransId="{FA74263C-6D22-471C-A50E-D72111D2098F}"/>
    <dgm:cxn modelId="{E25F03EF-97FD-441A-81FE-077F39F11C04}" type="presOf" srcId="{2F12389D-2424-4B82-A83D-B5ECBBC9CE42}" destId="{A2D64E90-A7A8-43FC-91E8-3FD7BA2E5D4E}" srcOrd="0" destOrd="0" presId="urn:microsoft.com/office/officeart/2005/8/layout/StepDownProcess"/>
    <dgm:cxn modelId="{14356349-9D00-4BDB-93F6-5D5376DDAB88}" type="presParOf" srcId="{B82E8890-1BBE-4EAD-AB79-EACA8EAA7689}" destId="{411E9D8A-7995-427C-BB13-3FBA0F3BFBF7}" srcOrd="0" destOrd="0" presId="urn:microsoft.com/office/officeart/2005/8/layout/StepDownProcess"/>
    <dgm:cxn modelId="{5C558288-38DF-4CAD-BFFA-23794D6A836A}" type="presParOf" srcId="{411E9D8A-7995-427C-BB13-3FBA0F3BFBF7}" destId="{4D066458-7BFA-443E-9C89-BD40F58AD37F}" srcOrd="0" destOrd="0" presId="urn:microsoft.com/office/officeart/2005/8/layout/StepDownProcess"/>
    <dgm:cxn modelId="{D322887E-BF1F-4541-B91C-0C013F0F053E}" type="presParOf" srcId="{411E9D8A-7995-427C-BB13-3FBA0F3BFBF7}" destId="{DC366C3A-A3BA-43D1-9D31-76DE60B4A85E}" srcOrd="1" destOrd="0" presId="urn:microsoft.com/office/officeart/2005/8/layout/StepDownProcess"/>
    <dgm:cxn modelId="{4C054128-613A-44EF-9E16-8BA93D804233}" type="presParOf" srcId="{411E9D8A-7995-427C-BB13-3FBA0F3BFBF7}" destId="{8BE592E1-5615-49E8-931E-8B2D8977127D}" srcOrd="2" destOrd="0" presId="urn:microsoft.com/office/officeart/2005/8/layout/StepDownProcess"/>
    <dgm:cxn modelId="{11380626-4849-4924-B38E-55B3E4D2998E}" type="presParOf" srcId="{B82E8890-1BBE-4EAD-AB79-EACA8EAA7689}" destId="{FC5BF461-3B92-4011-A607-ADAA6036F606}" srcOrd="1" destOrd="0" presId="urn:microsoft.com/office/officeart/2005/8/layout/StepDownProcess"/>
    <dgm:cxn modelId="{B25D64E0-203F-45B4-8CAA-4D493C69CB6F}" type="presParOf" srcId="{B82E8890-1BBE-4EAD-AB79-EACA8EAA7689}" destId="{BCDBC9C6-EF51-4DBC-8265-5DC90A29F3D2}" srcOrd="2" destOrd="0" presId="urn:microsoft.com/office/officeart/2005/8/layout/StepDownProcess"/>
    <dgm:cxn modelId="{20145536-A22A-47ED-A341-186E3F5EE54F}" type="presParOf" srcId="{BCDBC9C6-EF51-4DBC-8265-5DC90A29F3D2}" destId="{E4293708-10E6-418C-83E4-FA01A10176EC}" srcOrd="0" destOrd="0" presId="urn:microsoft.com/office/officeart/2005/8/layout/StepDownProcess"/>
    <dgm:cxn modelId="{9461EF64-BC22-4118-A6AC-BE0D2696C2CA}" type="presParOf" srcId="{BCDBC9C6-EF51-4DBC-8265-5DC90A29F3D2}" destId="{A2D64E90-A7A8-43FC-91E8-3FD7BA2E5D4E}" srcOrd="1" destOrd="0" presId="urn:microsoft.com/office/officeart/2005/8/layout/StepDownProcess"/>
    <dgm:cxn modelId="{4DB20E65-A377-49A4-9B13-DA030AE56F12}" type="presParOf" srcId="{BCDBC9C6-EF51-4DBC-8265-5DC90A29F3D2}" destId="{4EB18303-3C5A-49FF-A3A8-AB04A3514FE7}" srcOrd="2" destOrd="0" presId="urn:microsoft.com/office/officeart/2005/8/layout/StepDownProcess"/>
    <dgm:cxn modelId="{9EBE154F-FA51-4560-9B54-D17201E7084B}" type="presParOf" srcId="{B82E8890-1BBE-4EAD-AB79-EACA8EAA7689}" destId="{9C499962-3DE2-4717-A1B1-320C430BC0FD}" srcOrd="3" destOrd="0" presId="urn:microsoft.com/office/officeart/2005/8/layout/StepDownProcess"/>
    <dgm:cxn modelId="{AA843B6B-1E85-4F5C-BF9F-276336A6E9F7}" type="presParOf" srcId="{B82E8890-1BBE-4EAD-AB79-EACA8EAA7689}" destId="{BE1A377A-77C7-4A8C-8C13-5E97093D8A6C}" srcOrd="4" destOrd="0" presId="urn:microsoft.com/office/officeart/2005/8/layout/StepDownProcess"/>
    <dgm:cxn modelId="{41A8DB0B-56F6-4633-A447-01E7B61371A2}" type="presParOf" srcId="{BE1A377A-77C7-4A8C-8C13-5E97093D8A6C}" destId="{E72071D2-9726-486A-866C-867E2D607D07}" srcOrd="0" destOrd="0" presId="urn:microsoft.com/office/officeart/2005/8/layout/StepDownProcess"/>
    <dgm:cxn modelId="{277DA431-4F16-4C6E-B104-4B7FDF4F7A2D}" type="presParOf" srcId="{BE1A377A-77C7-4A8C-8C13-5E97093D8A6C}" destId="{D35FAE45-64A8-481A-8666-7C7F61BBDC03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AFEC5-E5DF-46F7-9845-3553F4D1454F}">
      <dsp:nvSpPr>
        <dsp:cNvPr id="0" name=""/>
        <dsp:cNvSpPr/>
      </dsp:nvSpPr>
      <dsp:spPr>
        <a:xfrm rot="5400000">
          <a:off x="-307402" y="310100"/>
          <a:ext cx="2049351" cy="14345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200" kern="1200" dirty="0"/>
            <a:t> </a:t>
          </a:r>
          <a:endParaRPr lang="zh-CN" altLang="en-US" sz="4200" kern="1200" dirty="0"/>
        </a:p>
      </dsp:txBody>
      <dsp:txXfrm rot="-5400000">
        <a:off x="2" y="719970"/>
        <a:ext cx="1434545" cy="614806"/>
      </dsp:txXfrm>
    </dsp:sp>
    <dsp:sp modelId="{2F54E1A4-422E-45AA-AEDD-EC8976C985E5}">
      <dsp:nvSpPr>
        <dsp:cNvPr id="0" name=""/>
        <dsp:cNvSpPr/>
      </dsp:nvSpPr>
      <dsp:spPr>
        <a:xfrm rot="5400000">
          <a:off x="4159154" y="-2721910"/>
          <a:ext cx="1332078" cy="678129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28635-6B3E-465E-BB4D-AAC24D1D9950}">
      <dsp:nvSpPr>
        <dsp:cNvPr id="0" name=""/>
        <dsp:cNvSpPr/>
      </dsp:nvSpPr>
      <dsp:spPr>
        <a:xfrm rot="5400000">
          <a:off x="-307402" y="2169296"/>
          <a:ext cx="2049351" cy="14345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200" kern="1200" dirty="0"/>
            <a:t> </a:t>
          </a:r>
          <a:endParaRPr lang="zh-CN" altLang="en-US" sz="4200" kern="1200" dirty="0"/>
        </a:p>
      </dsp:txBody>
      <dsp:txXfrm rot="-5400000">
        <a:off x="2" y="2579166"/>
        <a:ext cx="1434545" cy="614806"/>
      </dsp:txXfrm>
    </dsp:sp>
    <dsp:sp modelId="{791A5D7F-6BAE-450F-8B60-8A4B9173DEAE}">
      <dsp:nvSpPr>
        <dsp:cNvPr id="0" name=""/>
        <dsp:cNvSpPr/>
      </dsp:nvSpPr>
      <dsp:spPr>
        <a:xfrm rot="5400000">
          <a:off x="4159154" y="-862715"/>
          <a:ext cx="1332078" cy="678129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51ADD-280F-410D-9D32-56C26FA293BE}">
      <dsp:nvSpPr>
        <dsp:cNvPr id="0" name=""/>
        <dsp:cNvSpPr/>
      </dsp:nvSpPr>
      <dsp:spPr>
        <a:xfrm rot="5400000">
          <a:off x="-307402" y="4028491"/>
          <a:ext cx="2049351" cy="14345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200" kern="1200" dirty="0"/>
            <a:t> </a:t>
          </a:r>
          <a:endParaRPr lang="zh-CN" altLang="en-US" sz="4200" kern="1200" dirty="0"/>
        </a:p>
      </dsp:txBody>
      <dsp:txXfrm rot="-5400000">
        <a:off x="2" y="4438361"/>
        <a:ext cx="1434545" cy="614806"/>
      </dsp:txXfrm>
    </dsp:sp>
    <dsp:sp modelId="{A18F9F4F-A8E2-414B-8DCA-E339B04E8CA0}">
      <dsp:nvSpPr>
        <dsp:cNvPr id="0" name=""/>
        <dsp:cNvSpPr/>
      </dsp:nvSpPr>
      <dsp:spPr>
        <a:xfrm rot="5400000">
          <a:off x="4159154" y="996480"/>
          <a:ext cx="1332078" cy="678129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66458-7BFA-443E-9C89-BD40F58AD37F}">
      <dsp:nvSpPr>
        <dsp:cNvPr id="0" name=""/>
        <dsp:cNvSpPr/>
      </dsp:nvSpPr>
      <dsp:spPr>
        <a:xfrm rot="5400000">
          <a:off x="537974" y="747806"/>
          <a:ext cx="661370" cy="75294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66C3A-A3BA-43D1-9D31-76DE60B4A85E}">
      <dsp:nvSpPr>
        <dsp:cNvPr id="0" name=""/>
        <dsp:cNvSpPr/>
      </dsp:nvSpPr>
      <dsp:spPr>
        <a:xfrm>
          <a:off x="362751" y="14664"/>
          <a:ext cx="1113358" cy="77931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 dirty="0"/>
            <a:t>118.8°</a:t>
          </a:r>
          <a:endParaRPr lang="zh-CN" altLang="en-US" sz="2300" kern="1200" dirty="0"/>
        </a:p>
      </dsp:txBody>
      <dsp:txXfrm>
        <a:off x="400801" y="52714"/>
        <a:ext cx="1037258" cy="703214"/>
      </dsp:txXfrm>
    </dsp:sp>
    <dsp:sp modelId="{8BE592E1-5615-49E8-931E-8B2D8977127D}">
      <dsp:nvSpPr>
        <dsp:cNvPr id="0" name=""/>
        <dsp:cNvSpPr/>
      </dsp:nvSpPr>
      <dsp:spPr>
        <a:xfrm>
          <a:off x="1470458" y="77443"/>
          <a:ext cx="2455018" cy="629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/>
            <a:t>直接映射</a:t>
          </a:r>
        </a:p>
      </dsp:txBody>
      <dsp:txXfrm>
        <a:off x="1470458" y="77443"/>
        <a:ext cx="2455018" cy="629876"/>
      </dsp:txXfrm>
    </dsp:sp>
    <dsp:sp modelId="{E4293708-10E6-418C-83E4-FA01A10176EC}">
      <dsp:nvSpPr>
        <dsp:cNvPr id="0" name=""/>
        <dsp:cNvSpPr/>
      </dsp:nvSpPr>
      <dsp:spPr>
        <a:xfrm rot="5400000">
          <a:off x="1855931" y="1623233"/>
          <a:ext cx="661370" cy="75294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64E90-A7A8-43FC-91E8-3FD7BA2E5D4E}">
      <dsp:nvSpPr>
        <dsp:cNvPr id="0" name=""/>
        <dsp:cNvSpPr/>
      </dsp:nvSpPr>
      <dsp:spPr>
        <a:xfrm>
          <a:off x="1680708" y="890091"/>
          <a:ext cx="1113358" cy="77931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 dirty="0"/>
            <a:t>25.7°</a:t>
          </a:r>
          <a:endParaRPr lang="zh-CN" altLang="en-US" sz="2300" kern="1200" dirty="0"/>
        </a:p>
      </dsp:txBody>
      <dsp:txXfrm>
        <a:off x="1718758" y="928141"/>
        <a:ext cx="1037258" cy="703214"/>
      </dsp:txXfrm>
    </dsp:sp>
    <dsp:sp modelId="{4EB18303-3C5A-49FF-A3A8-AB04A3514FE7}">
      <dsp:nvSpPr>
        <dsp:cNvPr id="0" name=""/>
        <dsp:cNvSpPr/>
      </dsp:nvSpPr>
      <dsp:spPr>
        <a:xfrm>
          <a:off x="2838979" y="943209"/>
          <a:ext cx="1827437" cy="629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/>
            <a:t>平滑优化</a:t>
          </a:r>
        </a:p>
      </dsp:txBody>
      <dsp:txXfrm>
        <a:off x="2838979" y="943209"/>
        <a:ext cx="1827437" cy="629876"/>
      </dsp:txXfrm>
    </dsp:sp>
    <dsp:sp modelId="{E72071D2-9726-486A-866C-867E2D607D07}">
      <dsp:nvSpPr>
        <dsp:cNvPr id="0" name=""/>
        <dsp:cNvSpPr/>
      </dsp:nvSpPr>
      <dsp:spPr>
        <a:xfrm>
          <a:off x="2998664" y="1765519"/>
          <a:ext cx="1113358" cy="77931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 dirty="0"/>
            <a:t>7.3°</a:t>
          </a:r>
          <a:endParaRPr lang="zh-CN" altLang="en-US" sz="2300" kern="1200" dirty="0"/>
        </a:p>
      </dsp:txBody>
      <dsp:txXfrm>
        <a:off x="3036714" y="1803569"/>
        <a:ext cx="1037258" cy="703214"/>
      </dsp:txXfrm>
    </dsp:sp>
    <dsp:sp modelId="{D35FAE45-64A8-481A-8666-7C7F61BBDC03}">
      <dsp:nvSpPr>
        <dsp:cNvPr id="0" name=""/>
        <dsp:cNvSpPr/>
      </dsp:nvSpPr>
      <dsp:spPr>
        <a:xfrm>
          <a:off x="3834561" y="1846817"/>
          <a:ext cx="2090177" cy="629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 dirty="0"/>
            <a:t>离散约束</a:t>
          </a:r>
        </a:p>
      </dsp:txBody>
      <dsp:txXfrm>
        <a:off x="3834561" y="1846817"/>
        <a:ext cx="2090177" cy="629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4867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685800"/>
            <a:ext cx="61436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1125" y="766763"/>
            <a:ext cx="6877050" cy="3838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需要可靠的指标来评价仿真的可靠性，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75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1125" y="766763"/>
            <a:ext cx="687705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51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655320" y="9040143"/>
            <a:ext cx="305816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478020" y="9040143"/>
            <a:ext cx="415036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9392920" y="9040143"/>
            <a:ext cx="305816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1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11" Type="http://schemas.openxmlformats.org/officeDocument/2006/relationships/image" Target="../media/image36.png"/><Relationship Id="rId5" Type="http://schemas.openxmlformats.org/officeDocument/2006/relationships/image" Target="../media/image30.jpe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3730752" y="1702859"/>
            <a:ext cx="10013696" cy="252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979"/>
              </a:lnSpc>
            </a:pPr>
            <a:r>
              <a:rPr lang="en-US" sz="6827" b="1" dirty="0">
                <a:solidFill>
                  <a:srgbClr val="1E3A8A"/>
                </a:solidFill>
                <a:latin typeface="+mj-ea"/>
                <a:ea typeface="+mj-ea"/>
                <a:cs typeface="Roboto"/>
                <a:sym typeface="Roboto"/>
              </a:rPr>
              <a:t>用于超声3D打印的</a:t>
            </a:r>
            <a:br>
              <a:rPr lang="en-US" sz="2560" dirty="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6827" b="1" dirty="0">
                <a:solidFill>
                  <a:srgbClr val="1E3A8A"/>
                </a:solidFill>
                <a:latin typeface="+mj-ea"/>
                <a:ea typeface="+mj-ea"/>
                <a:cs typeface="Roboto"/>
                <a:sym typeface="Roboto"/>
              </a:rPr>
              <a:t> 全息超声调制相位板仿真</a:t>
            </a:r>
            <a:endParaRPr sz="2560" dirty="0">
              <a:latin typeface="+mj-ea"/>
              <a:ea typeface="+mj-ea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504854" y="5002741"/>
            <a:ext cx="2559109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汇</a:t>
            </a:r>
            <a:r>
              <a:rPr lang="zh-CN" alt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报</a:t>
            </a:r>
            <a:r>
              <a:rPr 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人：</a:t>
            </a:r>
            <a:r>
              <a:rPr lang="zh-CN" alt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赵</a:t>
            </a:r>
            <a:r>
              <a:rPr 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鑫煜</a:t>
            </a:r>
            <a:endParaRPr sz="2560" dirty="0">
              <a:latin typeface="+mj-ea"/>
              <a:ea typeface="+mj-ea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54488" y="5747807"/>
            <a:ext cx="57664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773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专业：生物医学工程 </a:t>
            </a:r>
            <a:endParaRPr sz="2560">
              <a:latin typeface="+mj-ea"/>
              <a:ea typeface="+mj-ea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328747" y="6492875"/>
            <a:ext cx="30512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指</a:t>
            </a:r>
            <a:r>
              <a:rPr lang="zh-CN" alt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导教</a:t>
            </a:r>
            <a:r>
              <a:rPr 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师</a:t>
            </a:r>
            <a:r>
              <a:rPr lang="zh-CN" alt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：荣</a:t>
            </a:r>
            <a:r>
              <a:rPr 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强</a:t>
            </a:r>
            <a:r>
              <a:rPr lang="zh-CN" altLang="en-US" sz="2773" dirty="0">
                <a:solidFill>
                  <a:srgbClr val="475569"/>
                </a:solidFill>
                <a:latin typeface="+mj-ea"/>
                <a:ea typeface="+mj-ea"/>
                <a:cs typeface="Roboto Medium"/>
                <a:sym typeface="Roboto Medium"/>
              </a:rPr>
              <a:t>周</a:t>
            </a:r>
            <a:endParaRPr sz="2560" dirty="0">
              <a:latin typeface="+mj-ea"/>
              <a:ea typeface="+mj-ea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942150" y="7644338"/>
            <a:ext cx="2121813" cy="361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347" dirty="0">
                <a:latin typeface="+mj-ea"/>
                <a:ea typeface="+mj-ea"/>
                <a:cs typeface="Roboto"/>
                <a:sym typeface="Roboto"/>
              </a:rPr>
              <a:t>2026年04月</a:t>
            </a:r>
            <a:endParaRPr sz="256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048E-C0B2-153B-7CED-0C9B8C7F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2EABC78-FC05-C6A8-860A-36F3AE6E0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" r="79"/>
          <a:stretch/>
        </p:blipFill>
        <p:spPr>
          <a:xfrm>
            <a:off x="298893" y="4236844"/>
            <a:ext cx="6836760" cy="3751239"/>
          </a:xfrm>
          <a:prstGeom prst="rect">
            <a:avLst/>
          </a:prstGeom>
        </p:spPr>
      </p:pic>
      <p:sp>
        <p:nvSpPr>
          <p:cNvPr id="1048579" name="textbox 14">
            <a:extLst>
              <a:ext uri="{FF2B5EF4-FFF2-40B4-BE49-F238E27FC236}">
                <a16:creationId xmlns:a16="http://schemas.microsoft.com/office/drawing/2014/main" id="{DF266477-F6D6-0937-C8A7-3F90A8AA1892}"/>
              </a:ext>
            </a:extLst>
          </p:cNvPr>
          <p:cNvSpPr/>
          <p:nvPr/>
        </p:nvSpPr>
        <p:spPr>
          <a:xfrm>
            <a:off x="1018857" y="2029674"/>
            <a:ext cx="15237143" cy="653747"/>
          </a:xfrm>
          <a:prstGeom prst="rect">
            <a:avLst/>
          </a:prstGeom>
          <a:solidFill>
            <a:srgbClr val="E3E7EB">
              <a:alpha val="100000"/>
            </a:srgbClr>
          </a:solidFill>
          <a:ln w="0" cap="flat">
            <a:noFill/>
            <a:prstDash val="dash"/>
            <a:miter lim="0"/>
          </a:ln>
        </p:spPr>
        <p:txBody>
          <a:bodyPr vert="horz" wrap="square" lIns="0" tIns="0" rIns="0" bIns="0" anchor="ctr"/>
          <a:lstStyle/>
          <a:p>
            <a:pPr marL="336550" algn="ctr" eaLnBrk="0">
              <a:lnSpc>
                <a:spcPct val="92000"/>
              </a:lnSpc>
            </a:pPr>
            <a:r>
              <a:rPr lang="zh-CN" altLang="en-US" sz="2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本项目期望建立一条可运行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lang="zh-CN" altLang="en-US" sz="2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可评估、可迭代优化的仿真链路闭环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sp>
        <p:nvSpPr>
          <p:cNvPr id="1048580" name="textbox 16">
            <a:extLst>
              <a:ext uri="{FF2B5EF4-FFF2-40B4-BE49-F238E27FC236}">
                <a16:creationId xmlns:a16="http://schemas.microsoft.com/office/drawing/2014/main" id="{A898681F-78DB-E9B3-BDA8-778768463324}"/>
              </a:ext>
            </a:extLst>
          </p:cNvPr>
          <p:cNvSpPr/>
          <p:nvPr/>
        </p:nvSpPr>
        <p:spPr>
          <a:xfrm>
            <a:off x="952455" y="1031531"/>
            <a:ext cx="6652305" cy="65374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194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03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</a:pP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从“超声全息调控”到“面打印效果验证”</a:t>
            </a:r>
            <a:endParaRPr lang="zh-CN" altLang="en-US" sz="2800" dirty="0">
              <a:latin typeface="SimHei"/>
              <a:ea typeface="SimHei"/>
              <a:cs typeface="SimHei"/>
            </a:endParaRPr>
          </a:p>
        </p:txBody>
      </p:sp>
      <p:sp>
        <p:nvSpPr>
          <p:cNvPr id="1048581" name="textbox 18">
            <a:extLst>
              <a:ext uri="{FF2B5EF4-FFF2-40B4-BE49-F238E27FC236}">
                <a16:creationId xmlns:a16="http://schemas.microsoft.com/office/drawing/2014/main" id="{96B32C11-1D55-84B9-5BC8-8BCB1EBDA4E2}"/>
              </a:ext>
            </a:extLst>
          </p:cNvPr>
          <p:cNvSpPr/>
          <p:nvPr/>
        </p:nvSpPr>
        <p:spPr>
          <a:xfrm>
            <a:off x="4385368" y="7517530"/>
            <a:ext cx="3219392" cy="154367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83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</a:pPr>
            <a:r>
              <a:rPr lang="zh-CN" altLang="en-US" sz="28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固化</a:t>
            </a:r>
            <a:r>
              <a:rPr sz="2800" b="1" kern="0" spc="4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与评价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spcBef>
                <a:spcPts val="7"/>
              </a:spcBef>
            </a:pPr>
            <a:r>
              <a:rPr sz="2300" kern="0" spc="1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如何引入固化物理</a:t>
            </a:r>
            <a:r>
              <a:rPr sz="2300" kern="0" spc="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判据</a:t>
            </a:r>
            <a:r>
              <a:rPr lang="zh-CN" altLang="en-US" sz="2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</a:t>
            </a:r>
            <a:r>
              <a:rPr sz="2300" kern="0" spc="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对打印形貌做</a:t>
            </a:r>
            <a:r>
              <a:rPr sz="2300" kern="0" spc="6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定量评价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048582" name="textbox 20">
            <a:extLst>
              <a:ext uri="{FF2B5EF4-FFF2-40B4-BE49-F238E27FC236}">
                <a16:creationId xmlns:a16="http://schemas.microsoft.com/office/drawing/2014/main" id="{A2DA4CB3-4614-8178-05A7-BC42F394D58F}"/>
              </a:ext>
            </a:extLst>
          </p:cNvPr>
          <p:cNvSpPr/>
          <p:nvPr/>
        </p:nvSpPr>
        <p:spPr>
          <a:xfrm>
            <a:off x="3773277" y="3367538"/>
            <a:ext cx="3003492" cy="1406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9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</a:pPr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离散与制造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3000"/>
              </a:lnSpc>
              <a:spcBef>
                <a:spcPts val="1"/>
              </a:spcBef>
            </a:pP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如何将相位准确映射为可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制造的离散厚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度板?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048583" name="textbox 22">
            <a:extLst>
              <a:ext uri="{FF2B5EF4-FFF2-40B4-BE49-F238E27FC236}">
                <a16:creationId xmlns:a16="http://schemas.microsoft.com/office/drawing/2014/main" id="{A79E574C-BF24-0AB6-6046-0AEE5F688F90}"/>
              </a:ext>
            </a:extLst>
          </p:cNvPr>
          <p:cNvSpPr/>
          <p:nvPr/>
        </p:nvSpPr>
        <p:spPr>
          <a:xfrm>
            <a:off x="571500" y="3020919"/>
            <a:ext cx="2539956" cy="148942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668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5000"/>
              </a:lnSpc>
            </a:pPr>
            <a:r>
              <a:rPr sz="28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定义与反演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095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4000"/>
              </a:lnSpc>
            </a:pP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如何定义目标图案并反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演可实现的相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位分布?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048584" name="textbox 24">
            <a:extLst>
              <a:ext uri="{FF2B5EF4-FFF2-40B4-BE49-F238E27FC236}">
                <a16:creationId xmlns:a16="http://schemas.microsoft.com/office/drawing/2014/main" id="{CB9B7828-876B-6141-F9D1-27E2B29011C7}"/>
              </a:ext>
            </a:extLst>
          </p:cNvPr>
          <p:cNvSpPr/>
          <p:nvPr/>
        </p:nvSpPr>
        <p:spPr>
          <a:xfrm>
            <a:off x="726986" y="7723926"/>
            <a:ext cx="2895590" cy="170234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9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</a:pPr>
            <a:r>
              <a:rPr sz="28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物理与声场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spcBef>
                <a:spcPts val="3"/>
              </a:spcBef>
            </a:pPr>
            <a:r>
              <a:rPr sz="2300" kern="0" spc="5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如何利用</a:t>
            </a:r>
            <a:r>
              <a:rPr sz="2300" kern="0" spc="50" dirty="0" err="1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Wave</a:t>
            </a:r>
            <a:r>
              <a:rPr sz="23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5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严谨验证三</a:t>
            </a:r>
            <a:r>
              <a:rPr sz="2300" kern="0" spc="4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维声场</a:t>
            </a:r>
            <a:r>
              <a:rPr sz="2300" kern="0" spc="12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传播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747355-7F05-D449-D76E-CEF45922F185}"/>
              </a:ext>
            </a:extLst>
          </p:cNvPr>
          <p:cNvCxnSpPr>
            <a:cxnSpLocks/>
          </p:cNvCxnSpPr>
          <p:nvPr/>
        </p:nvCxnSpPr>
        <p:spPr>
          <a:xfrm>
            <a:off x="13620329" y="476250"/>
            <a:ext cx="3842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Google Shape;96;p14">
            <a:extLst>
              <a:ext uri="{FF2B5EF4-FFF2-40B4-BE49-F238E27FC236}">
                <a16:creationId xmlns:a16="http://schemas.microsoft.com/office/drawing/2014/main" id="{A175EA2E-5D27-BFFC-E0AB-02E72EE9E6CA}"/>
              </a:ext>
            </a:extLst>
          </p:cNvPr>
          <p:cNvSpPr txBox="1"/>
          <p:nvPr/>
        </p:nvSpPr>
        <p:spPr>
          <a:xfrm>
            <a:off x="571500" y="476250"/>
            <a:ext cx="39700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  <a:sym typeface="Arial"/>
              </a:rPr>
              <a:t>研究背景与任务目标</a:t>
            </a:r>
          </a:p>
          <a:p>
            <a:pPr lvl="0"/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F395892-E2C3-2971-A603-70F4F31E6CFE}"/>
              </a:ext>
            </a:extLst>
          </p:cNvPr>
          <p:cNvSpPr/>
          <p:nvPr/>
        </p:nvSpPr>
        <p:spPr>
          <a:xfrm>
            <a:off x="7816380" y="2907330"/>
            <a:ext cx="8439620" cy="33406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textbox 32">
            <a:extLst>
              <a:ext uri="{FF2B5EF4-FFF2-40B4-BE49-F238E27FC236}">
                <a16:creationId xmlns:a16="http://schemas.microsoft.com/office/drawing/2014/main" id="{93B76C31-929F-77E4-0679-B7B0715BDB75}"/>
              </a:ext>
            </a:extLst>
          </p:cNvPr>
          <p:cNvSpPr/>
          <p:nvPr/>
        </p:nvSpPr>
        <p:spPr>
          <a:xfrm>
            <a:off x="12306347" y="5266747"/>
            <a:ext cx="2397896" cy="58085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eaLnBrk="0">
              <a:lnSpc>
                <a:spcPct val="78378"/>
              </a:lnSpc>
            </a:pPr>
            <a:r>
              <a:rPr lang="zh-CN" altLang="en-US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离散厚度映射</a:t>
            </a:r>
          </a:p>
          <a:p>
            <a:pPr algn="l" rtl="0" eaLnBrk="0">
              <a:lnSpc>
                <a:spcPct val="78378"/>
              </a:lnSpc>
            </a:pPr>
            <a:endParaRPr sz="1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36">
            <a:extLst>
              <a:ext uri="{FF2B5EF4-FFF2-40B4-BE49-F238E27FC236}">
                <a16:creationId xmlns:a16="http://schemas.microsoft.com/office/drawing/2014/main" id="{B335951F-10BA-B6DD-7FB1-E231E2E67271}"/>
              </a:ext>
            </a:extLst>
          </p:cNvPr>
          <p:cNvSpPr/>
          <p:nvPr/>
        </p:nvSpPr>
        <p:spPr>
          <a:xfrm>
            <a:off x="8443201" y="3586929"/>
            <a:ext cx="2553261" cy="78746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593"/>
              </a:lnSpc>
            </a:pPr>
            <a:endParaRPr sz="1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119379" indent="-107314" algn="ctr" rtl="0" eaLnBrk="0">
              <a:lnSpc>
                <a:spcPct val="99000"/>
              </a:lnSpc>
            </a:pPr>
            <a:r>
              <a:rPr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imHei"/>
              </a:rPr>
              <a:t>目标图案、网格 </a:t>
            </a:r>
            <a:r>
              <a:rPr sz="2400" b="1" kern="0" spc="5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imHei"/>
              </a:rPr>
              <a:t>物理参数构建</a:t>
            </a:r>
            <a:endParaRPr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SimHei"/>
            </a:endParaRPr>
          </a:p>
        </p:txBody>
      </p:sp>
      <p:sp>
        <p:nvSpPr>
          <p:cNvPr id="25" name="textbox 38">
            <a:extLst>
              <a:ext uri="{FF2B5EF4-FFF2-40B4-BE49-F238E27FC236}">
                <a16:creationId xmlns:a16="http://schemas.microsoft.com/office/drawing/2014/main" id="{92D2ED9C-7E66-3B43-A24A-57D641680D6D}"/>
              </a:ext>
            </a:extLst>
          </p:cNvPr>
          <p:cNvSpPr/>
          <p:nvPr/>
        </p:nvSpPr>
        <p:spPr>
          <a:xfrm>
            <a:off x="10210467" y="5360086"/>
            <a:ext cx="1435850" cy="5155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8378"/>
              </a:lnSpc>
            </a:pPr>
            <a:endParaRPr sz="1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IASA复算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34E89B-8A75-9EE5-49DA-87B645427C2D}"/>
              </a:ext>
            </a:extLst>
          </p:cNvPr>
          <p:cNvSpPr txBox="1"/>
          <p:nvPr/>
        </p:nvSpPr>
        <p:spPr>
          <a:xfrm>
            <a:off x="10689198" y="2851960"/>
            <a:ext cx="2144382" cy="515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lang="en-US" altLang="zh-CN" sz="2800" b="1" kern="0" spc="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MATLAB</a:t>
            </a:r>
            <a:endParaRPr lang="zh-CN" altLang="en-US" sz="2800" dirty="0">
              <a:solidFill>
                <a:schemeClr val="bg1"/>
              </a:solidFill>
              <a:latin typeface="SimHei"/>
              <a:ea typeface="SimHei"/>
              <a:cs typeface="SimHe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EEF231-808C-985F-C662-C61E11215994}"/>
              </a:ext>
            </a:extLst>
          </p:cNvPr>
          <p:cNvSpPr txBox="1"/>
          <p:nvPr/>
        </p:nvSpPr>
        <p:spPr>
          <a:xfrm>
            <a:off x="12215397" y="4402444"/>
            <a:ext cx="2733055" cy="4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 rtl="0" eaLnBrk="0">
              <a:lnSpc>
                <a:spcPct val="97000"/>
              </a:lnSpc>
              <a:spcBef>
                <a:spcPts val="2"/>
              </a:spcBef>
            </a:pPr>
            <a:r>
              <a:rPr lang="en-US" altLang="zh-CN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k-Wave</a:t>
            </a:r>
            <a:r>
              <a:rPr lang="zh-CN" altLang="en-US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声场仿真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17FDB9B-3FA7-DAE6-4A62-83408CF38F3B}"/>
              </a:ext>
            </a:extLst>
          </p:cNvPr>
          <p:cNvSpPr txBox="1"/>
          <p:nvPr/>
        </p:nvSpPr>
        <p:spPr>
          <a:xfrm>
            <a:off x="12485766" y="3501141"/>
            <a:ext cx="2192316" cy="45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 eaLnBrk="0">
              <a:lnSpc>
                <a:spcPct val="97000"/>
              </a:lnSpc>
              <a:spcBef>
                <a:spcPts val="2"/>
              </a:spcBef>
            </a:pPr>
            <a:r>
              <a:rPr lang="zh-CN" altLang="en-US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固化预测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290BE57-E818-B346-5542-7211A3CFD41F}"/>
              </a:ext>
            </a:extLst>
          </p:cNvPr>
          <p:cNvSpPr/>
          <p:nvPr/>
        </p:nvSpPr>
        <p:spPr>
          <a:xfrm>
            <a:off x="7930910" y="7014916"/>
            <a:ext cx="8081205" cy="25205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标注: 左箭头 62">
            <a:extLst>
              <a:ext uri="{FF2B5EF4-FFF2-40B4-BE49-F238E27FC236}">
                <a16:creationId xmlns:a16="http://schemas.microsoft.com/office/drawing/2014/main" id="{D5311497-18E7-D362-A0B6-F503D3E31B7C}"/>
              </a:ext>
            </a:extLst>
          </p:cNvPr>
          <p:cNvSpPr/>
          <p:nvPr/>
        </p:nvSpPr>
        <p:spPr>
          <a:xfrm rot="5400000">
            <a:off x="10167903" y="3628903"/>
            <a:ext cx="3586261" cy="7442806"/>
          </a:xfrm>
          <a:prstGeom prst="leftArrowCallout">
            <a:avLst>
              <a:gd name="adj1" fmla="val 7616"/>
              <a:gd name="adj2" fmla="val 7213"/>
              <a:gd name="adj3" fmla="val 18389"/>
              <a:gd name="adj4" fmla="val 4253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76" name="textbox 34">
            <a:extLst>
              <a:ext uri="{FF2B5EF4-FFF2-40B4-BE49-F238E27FC236}">
                <a16:creationId xmlns:a16="http://schemas.microsoft.com/office/drawing/2014/main" id="{3C9C068A-0090-89BA-FFF9-E5E7E56FAC48}"/>
              </a:ext>
            </a:extLst>
          </p:cNvPr>
          <p:cNvSpPr/>
          <p:nvPr/>
        </p:nvSpPr>
        <p:spPr>
          <a:xfrm>
            <a:off x="10928392" y="9143436"/>
            <a:ext cx="1665995" cy="47970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71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431165" algn="l" rtl="0" eaLnBrk="0">
              <a:lnSpc>
                <a:spcPct val="91000"/>
              </a:lnSpc>
            </a:pPr>
            <a:r>
              <a:rPr sz="2800" b="1" kern="0" dirty="0">
                <a:solidFill>
                  <a:schemeClr val="bg1"/>
                </a:solidFill>
                <a:latin typeface="Times New Roman"/>
                <a:cs typeface="Times New Roman"/>
              </a:rPr>
              <a:t>Python</a:t>
            </a:r>
            <a:endParaRPr sz="10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048577" name="文本框 1048576">
            <a:extLst>
              <a:ext uri="{FF2B5EF4-FFF2-40B4-BE49-F238E27FC236}">
                <a16:creationId xmlns:a16="http://schemas.microsoft.com/office/drawing/2014/main" id="{4EAC6EB1-847D-5588-E8E6-EC3362BD64A0}"/>
              </a:ext>
            </a:extLst>
          </p:cNvPr>
          <p:cNvSpPr txBox="1"/>
          <p:nvPr/>
        </p:nvSpPr>
        <p:spPr>
          <a:xfrm rot="10800000" flipV="1">
            <a:off x="12611510" y="8067769"/>
            <a:ext cx="3070927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 rtl="0" eaLnBrk="0">
              <a:lnSpc>
                <a:spcPct val="95000"/>
              </a:lnSpc>
              <a:spcBef>
                <a:spcPts val="1"/>
              </a:spcBef>
            </a:pPr>
            <a:r>
              <a:rPr lang="zh-CN" altLang="en-US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输出初始相位与掩膜</a:t>
            </a:r>
          </a:p>
        </p:txBody>
      </p:sp>
      <p:sp>
        <p:nvSpPr>
          <p:cNvPr id="1048578" name="文本框 1048577">
            <a:extLst>
              <a:ext uri="{FF2B5EF4-FFF2-40B4-BE49-F238E27FC236}">
                <a16:creationId xmlns:a16="http://schemas.microsoft.com/office/drawing/2014/main" id="{795C2594-50B3-735B-CC5B-D68C10359756}"/>
              </a:ext>
            </a:extLst>
          </p:cNvPr>
          <p:cNvSpPr txBox="1"/>
          <p:nvPr/>
        </p:nvSpPr>
        <p:spPr>
          <a:xfrm>
            <a:off x="8200371" y="8113146"/>
            <a:ext cx="3070927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algn="ctr" rtl="0" eaLnBrk="0">
              <a:lnSpc>
                <a:spcPct val="95000"/>
              </a:lnSpc>
              <a:spcBef>
                <a:spcPts val="759"/>
              </a:spcBef>
            </a:pPr>
            <a:r>
              <a:rPr lang="zh-CN" altLang="en-US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深度学习</a:t>
            </a:r>
            <a:r>
              <a:rPr lang="en-US" altLang="zh-CN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b="1" kern="0" spc="1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梯度优化</a:t>
            </a:r>
          </a:p>
        </p:txBody>
      </p:sp>
      <p:sp>
        <p:nvSpPr>
          <p:cNvPr id="1048585" name="箭头: 左 1048584">
            <a:extLst>
              <a:ext uri="{FF2B5EF4-FFF2-40B4-BE49-F238E27FC236}">
                <a16:creationId xmlns:a16="http://schemas.microsoft.com/office/drawing/2014/main" id="{C72F35B6-092B-8088-9D05-8F6BE28529AF}"/>
              </a:ext>
            </a:extLst>
          </p:cNvPr>
          <p:cNvSpPr/>
          <p:nvPr/>
        </p:nvSpPr>
        <p:spPr>
          <a:xfrm rot="16200000">
            <a:off x="7873718" y="5936382"/>
            <a:ext cx="3734146" cy="610172"/>
          </a:xfrm>
          <a:prstGeom prst="leftArrow">
            <a:avLst>
              <a:gd name="adj1" fmla="val 50000"/>
              <a:gd name="adj2" fmla="val 103661"/>
            </a:avLst>
          </a:prstGeom>
          <a:gradFill flip="none" rotWithShape="1">
            <a:gsLst>
              <a:gs pos="0">
                <a:srgbClr val="8FAADC"/>
              </a:gs>
              <a:gs pos="100000">
                <a:srgbClr val="2F5597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48592" name="直接箭头连接符 1048591">
            <a:extLst>
              <a:ext uri="{FF2B5EF4-FFF2-40B4-BE49-F238E27FC236}">
                <a16:creationId xmlns:a16="http://schemas.microsoft.com/office/drawing/2014/main" id="{41A8C247-5331-5A05-2855-B796257D77B5}"/>
              </a:ext>
            </a:extLst>
          </p:cNvPr>
          <p:cNvCxnSpPr>
            <a:endCxn id="23" idx="1"/>
          </p:cNvCxnSpPr>
          <p:nvPr/>
        </p:nvCxnSpPr>
        <p:spPr>
          <a:xfrm>
            <a:off x="11636679" y="5557175"/>
            <a:ext cx="669668" cy="1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596" name="直接箭头连接符 1048595">
            <a:extLst>
              <a:ext uri="{FF2B5EF4-FFF2-40B4-BE49-F238E27FC236}">
                <a16:creationId xmlns:a16="http://schemas.microsoft.com/office/drawing/2014/main" id="{99460E5D-E94F-3ED4-2EFB-A3CD7C49C2DC}"/>
              </a:ext>
            </a:extLst>
          </p:cNvPr>
          <p:cNvCxnSpPr>
            <a:endCxn id="27" idx="2"/>
          </p:cNvCxnSpPr>
          <p:nvPr/>
        </p:nvCxnSpPr>
        <p:spPr>
          <a:xfrm flipV="1">
            <a:off x="13581924" y="4861571"/>
            <a:ext cx="1" cy="399361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00" name="直接箭头连接符 1048599">
            <a:extLst>
              <a:ext uri="{FF2B5EF4-FFF2-40B4-BE49-F238E27FC236}">
                <a16:creationId xmlns:a16="http://schemas.microsoft.com/office/drawing/2014/main" id="{A249EEE0-2EA5-9B2F-7EC4-1896080DEEF4}"/>
              </a:ext>
            </a:extLst>
          </p:cNvPr>
          <p:cNvCxnSpPr>
            <a:stCxn id="27" idx="0"/>
            <a:endCxn id="28" idx="2"/>
          </p:cNvCxnSpPr>
          <p:nvPr/>
        </p:nvCxnSpPr>
        <p:spPr>
          <a:xfrm flipH="1" flipV="1">
            <a:off x="13581924" y="3951714"/>
            <a:ext cx="1" cy="450730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691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F2600-D156-36E0-D255-703099A6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5C4E7E0-E619-B8B2-0995-A7FA099DF625}"/>
              </a:ext>
            </a:extLst>
          </p:cNvPr>
          <p:cNvSpPr/>
          <p:nvPr/>
        </p:nvSpPr>
        <p:spPr>
          <a:xfrm>
            <a:off x="314449" y="1557907"/>
            <a:ext cx="16891486" cy="808713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2A60B65-765D-97FD-D665-78A83083AA1B}"/>
              </a:ext>
            </a:extLst>
          </p:cNvPr>
          <p:cNvSpPr/>
          <p:nvPr/>
        </p:nvSpPr>
        <p:spPr>
          <a:xfrm>
            <a:off x="3419567" y="5867299"/>
            <a:ext cx="2590800" cy="2520000"/>
          </a:xfrm>
          <a:prstGeom prst="roundRect">
            <a:avLst/>
          </a:prstGeom>
          <a:solidFill>
            <a:srgbClr val="3F5B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>
              <a:lnSpc>
                <a:spcPct val="82557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330200" eaLnBrk="0">
              <a:lnSpc>
                <a:spcPct val="98000"/>
              </a:lnSpc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阶段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2: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2700" eaLnBrk="0">
              <a:lnSpc>
                <a:spcPct val="111000"/>
              </a:lnSpc>
              <a:spcBef>
                <a:spcPts val="21"/>
              </a:spcBef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相位板构建与 厚度映射调试 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物理可实现性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ED73A27-9814-A6A6-9C6C-1D6EDBD7106B}"/>
              </a:ext>
            </a:extLst>
          </p:cNvPr>
          <p:cNvSpPr/>
          <p:nvPr/>
        </p:nvSpPr>
        <p:spPr>
          <a:xfrm>
            <a:off x="11425469" y="3746626"/>
            <a:ext cx="2590800" cy="4680000"/>
          </a:xfrm>
          <a:prstGeom prst="roundRect">
            <a:avLst/>
          </a:prstGeom>
          <a:solidFill>
            <a:srgbClr val="1631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45159" eaLnBrk="0">
              <a:lnSpc>
                <a:spcPct val="98000"/>
              </a:lnSpc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阶段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5: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 eaLnBrk="0">
              <a:lnSpc>
                <a:spcPct val="97000"/>
              </a:lnSpc>
              <a:spcBef>
                <a:spcPts val="504"/>
              </a:spcBef>
            </a:pP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MATLAB</a:t>
            </a:r>
          </a:p>
          <a:p>
            <a:pPr algn="r" eaLnBrk="0">
              <a:lnSpc>
                <a:spcPct val="97000"/>
              </a:lnSpc>
              <a:spcBef>
                <a:spcPts val="504"/>
              </a:spcBef>
            </a:pP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+Python</a:t>
            </a:r>
          </a:p>
          <a:p>
            <a:pPr algn="r" eaLnBrk="0">
              <a:lnSpc>
                <a:spcPct val="97000"/>
              </a:lnSpc>
              <a:spcBef>
                <a:spcPts val="504"/>
              </a:spcBef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混合优化主线形成</a:t>
            </a:r>
          </a:p>
          <a:p>
            <a:pPr marL="556259" eaLnBrk="0">
              <a:lnSpc>
                <a:spcPct val="96000"/>
              </a:lnSpc>
              <a:spcBef>
                <a:spcPts val="3"/>
              </a:spcBef>
            </a:pP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架构重构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8C1EAC6-6D20-F5F9-0962-3FBF064BF65E}"/>
              </a:ext>
            </a:extLst>
          </p:cNvPr>
          <p:cNvSpPr/>
          <p:nvPr/>
        </p:nvSpPr>
        <p:spPr>
          <a:xfrm>
            <a:off x="8760192" y="4466626"/>
            <a:ext cx="2590800" cy="3960000"/>
          </a:xfrm>
          <a:prstGeom prst="roundRect">
            <a:avLst/>
          </a:prstGeom>
          <a:solidFill>
            <a:srgbClr val="203D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9250" eaLnBrk="0">
              <a:lnSpc>
                <a:spcPct val="98000"/>
              </a:lnSpc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阶段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4: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32714" eaLnBrk="0">
              <a:lnSpc>
                <a:spcPct val="96000"/>
              </a:lnSpc>
              <a:spcBef>
                <a:spcPts val="679"/>
              </a:spcBef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热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固化评价</a:t>
            </a:r>
          </a:p>
          <a:p>
            <a:pPr marL="330200" eaLnBrk="0">
              <a:lnSpc>
                <a:spcPct val="98000"/>
              </a:lnSpc>
              <a:spcBef>
                <a:spcPts val="266"/>
              </a:spcBef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闭环建立</a:t>
            </a:r>
          </a:p>
          <a:p>
            <a:pPr marL="12700" eaLnBrk="0">
              <a:lnSpc>
                <a:spcPct val="95000"/>
              </a:lnSpc>
              <a:spcBef>
                <a:spcPts val="569"/>
              </a:spcBef>
            </a:pP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任务评价升级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5B4EF71-0B3E-A1EC-EDD5-22821390B110}"/>
              </a:ext>
            </a:extLst>
          </p:cNvPr>
          <p:cNvSpPr/>
          <p:nvPr/>
        </p:nvSpPr>
        <p:spPr>
          <a:xfrm>
            <a:off x="6091558" y="5186626"/>
            <a:ext cx="2590800" cy="3240000"/>
          </a:xfrm>
          <a:prstGeom prst="roundRect">
            <a:avLst/>
          </a:prstGeom>
          <a:solidFill>
            <a:srgbClr val="284E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3550" eaLnBrk="0">
              <a:lnSpc>
                <a:spcPct val="98000"/>
              </a:lnSpc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阶段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3: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685165" eaLnBrk="0">
              <a:lnSpc>
                <a:spcPct val="83000"/>
              </a:lnSpc>
              <a:spcBef>
                <a:spcPts val="284"/>
              </a:spcBef>
            </a:pP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IASA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4775" eaLnBrk="0">
              <a:lnSpc>
                <a:spcPct val="95000"/>
              </a:lnSpc>
              <a:spcBef>
                <a:spcPts val="489"/>
              </a:spcBef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与聚焦质量提升</a:t>
            </a:r>
          </a:p>
          <a:p>
            <a:pPr marL="104775" eaLnBrk="0">
              <a:lnSpc>
                <a:spcPct val="95000"/>
              </a:lnSpc>
              <a:spcBef>
                <a:spcPts val="489"/>
              </a:spcBef>
            </a:pP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反演质量优化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65DC2C1-33FD-E532-7690-D4D6C9944EE3}"/>
              </a:ext>
            </a:extLst>
          </p:cNvPr>
          <p:cNvSpPr/>
          <p:nvPr/>
        </p:nvSpPr>
        <p:spPr>
          <a:xfrm>
            <a:off x="14133466" y="3026626"/>
            <a:ext cx="2590800" cy="5400000"/>
          </a:xfrm>
          <a:prstGeom prst="roundRect">
            <a:avLst/>
          </a:prstGeom>
          <a:solidFill>
            <a:srgbClr val="0F21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9900" eaLnBrk="0">
              <a:lnSpc>
                <a:spcPct val="98000"/>
              </a:lnSpc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阶段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6: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70814" eaLnBrk="0">
              <a:lnSpc>
                <a:spcPct val="95000"/>
              </a:lnSpc>
              <a:spcBef>
                <a:spcPts val="587"/>
              </a:spcBef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出口平面诊断</a:t>
            </a:r>
          </a:p>
          <a:p>
            <a:pPr marL="311150" eaLnBrk="0">
              <a:lnSpc>
                <a:spcPct val="96000"/>
              </a:lnSpc>
              <a:spcBef>
                <a:spcPts val="613"/>
              </a:spcBef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与代理模型</a:t>
            </a:r>
          </a:p>
          <a:p>
            <a:pPr marL="12700" eaLnBrk="0">
              <a:lnSpc>
                <a:spcPct val="95000"/>
              </a:lnSpc>
              <a:spcBef>
                <a:spcPts val="525"/>
              </a:spcBef>
            </a:pP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诊断与拓展探索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kern="0" spc="26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83C6A42-64D4-B878-C1BA-35484E55FBE8}"/>
              </a:ext>
            </a:extLst>
          </p:cNvPr>
          <p:cNvSpPr/>
          <p:nvPr/>
        </p:nvSpPr>
        <p:spPr>
          <a:xfrm>
            <a:off x="750933" y="6537859"/>
            <a:ext cx="2590800" cy="1800000"/>
          </a:xfrm>
          <a:prstGeom prst="roundRect">
            <a:avLst/>
          </a:prstGeom>
          <a:solidFill>
            <a:srgbClr val="5870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88315" algn="ctr" eaLnBrk="0">
              <a:lnSpc>
                <a:spcPct val="98000"/>
              </a:lnSpc>
            </a:pPr>
            <a:r>
              <a:rPr lang="zh-CN" altLang="en-US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SimHei"/>
              </a:rPr>
              <a:t>阶段</a:t>
            </a:r>
            <a:r>
              <a:rPr lang="en-US" altLang="zh-CN" sz="2400" b="1" kern="0" spc="26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SimHei"/>
              </a:rPr>
              <a:t>1:</a:t>
            </a:r>
            <a:endParaRPr lang="zh-CN" altLang="en-US" sz="2400" b="1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  <a:cs typeface="SimHei"/>
            </a:endParaRPr>
          </a:p>
          <a:p>
            <a:pPr marL="469265" algn="ctr" eaLnBrk="0">
              <a:lnSpc>
                <a:spcPct val="81000"/>
              </a:lnSpc>
              <a:spcBef>
                <a:spcPts val="565"/>
              </a:spcBef>
            </a:pPr>
            <a:r>
              <a:rPr lang="en-US" altLang="zh-CN" sz="2400" b="1" kern="0" spc="-3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"/>
              </a:rPr>
              <a:t>MATLAB</a:t>
            </a:r>
            <a:r>
              <a:rPr lang="zh-CN" altLang="en-US" sz="2400" b="1" kern="0" spc="17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SimHei"/>
              </a:rPr>
              <a:t>单链路</a:t>
            </a:r>
            <a:r>
              <a:rPr lang="zh-CN" altLang="en-US" sz="2400" b="1" kern="0" spc="17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SimHei"/>
              </a:rPr>
              <a:t>原型建立</a:t>
            </a:r>
            <a:endParaRPr lang="zh-CN" altLang="en-US" sz="2400" b="1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  <a:cs typeface="SimHei"/>
            </a:endParaRPr>
          </a:p>
        </p:txBody>
      </p:sp>
      <p:sp>
        <p:nvSpPr>
          <p:cNvPr id="1048599" name="textbox 58">
            <a:extLst>
              <a:ext uri="{FF2B5EF4-FFF2-40B4-BE49-F238E27FC236}">
                <a16:creationId xmlns:a16="http://schemas.microsoft.com/office/drawing/2014/main" id="{BF149E9B-EFBF-EC99-FC75-A970F30F8309}"/>
              </a:ext>
            </a:extLst>
          </p:cNvPr>
          <p:cNvSpPr/>
          <p:nvPr/>
        </p:nvSpPr>
        <p:spPr>
          <a:xfrm>
            <a:off x="1023031" y="6825374"/>
            <a:ext cx="2046604" cy="1070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88315" algn="l" rtl="0" eaLnBrk="0">
              <a:lnSpc>
                <a:spcPct val="98000"/>
              </a:lnSpc>
            </a:pPr>
            <a:endParaRPr sz="2400" b="1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  <a:cs typeface="SimHei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38F03F3-A8ED-FDEE-B0A5-2E548FB0D646}"/>
              </a:ext>
            </a:extLst>
          </p:cNvPr>
          <p:cNvCxnSpPr>
            <a:cxnSpLocks/>
          </p:cNvCxnSpPr>
          <p:nvPr/>
        </p:nvCxnSpPr>
        <p:spPr>
          <a:xfrm>
            <a:off x="13620329" y="476250"/>
            <a:ext cx="3842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96;p14">
            <a:extLst>
              <a:ext uri="{FF2B5EF4-FFF2-40B4-BE49-F238E27FC236}">
                <a16:creationId xmlns:a16="http://schemas.microsoft.com/office/drawing/2014/main" id="{5FBC07BE-1B8C-FA4D-296A-1A7DE2DAB09E}"/>
              </a:ext>
            </a:extLst>
          </p:cNvPr>
          <p:cNvSpPr txBox="1"/>
          <p:nvPr/>
        </p:nvSpPr>
        <p:spPr>
          <a:xfrm>
            <a:off x="571500" y="476250"/>
            <a:ext cx="282194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项目演化总览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0F7566D3-85E6-3405-7BD0-95C5BABD6F0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194" y="5018397"/>
            <a:ext cx="1440000" cy="1440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D908854-39E4-46A4-927D-2B5162FC781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3739" y="4113681"/>
            <a:ext cx="1440000" cy="1440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1E6C530C-F4C3-4847-8289-63594C0C020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1284" y="3719694"/>
            <a:ext cx="1440000" cy="14400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508E2F4-A691-9CD0-1AEA-AD13BC73A4A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9335592" y="2306626"/>
            <a:ext cx="1440000" cy="144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E41BA10-2B33-B73A-6B44-AB43E75F60EA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777" y="2272603"/>
            <a:ext cx="1440000" cy="1440000"/>
          </a:xfrm>
          <a:prstGeom prst="rect">
            <a:avLst/>
          </a:prstGeom>
        </p:spPr>
      </p:pic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69A3AE7D-814D-B0CD-F36B-2DEE1AC8E2BB}"/>
              </a:ext>
            </a:extLst>
          </p:cNvPr>
          <p:cNvCxnSpPr>
            <a:cxnSpLocks/>
          </p:cNvCxnSpPr>
          <p:nvPr/>
        </p:nvCxnSpPr>
        <p:spPr>
          <a:xfrm flipV="1">
            <a:off x="2331720" y="6096787"/>
            <a:ext cx="1087847" cy="468133"/>
          </a:xfrm>
          <a:prstGeom prst="bentConnector3">
            <a:avLst>
              <a:gd name="adj1" fmla="val 50000"/>
            </a:avLst>
          </a:prstGeom>
          <a:ln w="38100">
            <a:solidFill>
              <a:srgbClr val="58709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B6393607-27C3-F24E-21EF-B17519D3EE59}"/>
              </a:ext>
            </a:extLst>
          </p:cNvPr>
          <p:cNvCxnSpPr>
            <a:cxnSpLocks/>
          </p:cNvCxnSpPr>
          <p:nvPr/>
        </p:nvCxnSpPr>
        <p:spPr>
          <a:xfrm flipV="1">
            <a:off x="5003711" y="5441430"/>
            <a:ext cx="1087847" cy="468133"/>
          </a:xfrm>
          <a:prstGeom prst="bentConnector3">
            <a:avLst>
              <a:gd name="adj1" fmla="val 50000"/>
            </a:avLst>
          </a:prstGeom>
          <a:ln w="38100">
            <a:solidFill>
              <a:srgbClr val="3F5B83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086AD7F5-976A-CF9E-8C39-21CE6122A3EB}"/>
              </a:ext>
            </a:extLst>
          </p:cNvPr>
          <p:cNvCxnSpPr>
            <a:cxnSpLocks/>
          </p:cNvCxnSpPr>
          <p:nvPr/>
        </p:nvCxnSpPr>
        <p:spPr>
          <a:xfrm flipV="1">
            <a:off x="7639689" y="4753977"/>
            <a:ext cx="1087847" cy="468133"/>
          </a:xfrm>
          <a:prstGeom prst="bentConnector3">
            <a:avLst>
              <a:gd name="adj1" fmla="val 50000"/>
            </a:avLst>
          </a:prstGeom>
          <a:ln w="38100">
            <a:solidFill>
              <a:srgbClr val="284E7A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AB2EAF4F-C431-6464-B7A5-27F8954228A5}"/>
              </a:ext>
            </a:extLst>
          </p:cNvPr>
          <p:cNvCxnSpPr>
            <a:cxnSpLocks/>
          </p:cNvCxnSpPr>
          <p:nvPr/>
        </p:nvCxnSpPr>
        <p:spPr>
          <a:xfrm flipV="1">
            <a:off x="10337622" y="4021544"/>
            <a:ext cx="1087847" cy="468133"/>
          </a:xfrm>
          <a:prstGeom prst="bentConnector3">
            <a:avLst>
              <a:gd name="adj1" fmla="val 50000"/>
            </a:avLst>
          </a:prstGeom>
          <a:ln w="38100">
            <a:solidFill>
              <a:srgbClr val="203D6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7136C9BF-4421-1B00-CF94-6D67A7AD9060}"/>
              </a:ext>
            </a:extLst>
          </p:cNvPr>
          <p:cNvCxnSpPr>
            <a:cxnSpLocks/>
          </p:cNvCxnSpPr>
          <p:nvPr/>
        </p:nvCxnSpPr>
        <p:spPr>
          <a:xfrm flipV="1">
            <a:off x="13023946" y="3319222"/>
            <a:ext cx="1087847" cy="468133"/>
          </a:xfrm>
          <a:prstGeom prst="bentConnector3">
            <a:avLst>
              <a:gd name="adj1" fmla="val 50000"/>
            </a:avLst>
          </a:prstGeom>
          <a:ln w="38100">
            <a:solidFill>
              <a:srgbClr val="16314C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A74BA1E1-2C8F-417A-B58A-4889767F893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6194" y="2306626"/>
            <a:ext cx="1440000" cy="1440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03F6B71-02FB-4F33-8D70-848E52F7B03E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6194" y="3578397"/>
            <a:ext cx="1440000" cy="14400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278E992B-FDB7-C6E7-DF83-9F6C7E4E8EF5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961" y="2272603"/>
            <a:ext cx="1440000" cy="14400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35EF269C-A6FB-423E-9387-5346F09A33DC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6958" y="2276945"/>
            <a:ext cx="1440000" cy="1440000"/>
          </a:xfrm>
          <a:prstGeom prst="rect">
            <a:avLst/>
          </a:prstGeom>
        </p:spPr>
      </p:pic>
      <p:sp>
        <p:nvSpPr>
          <p:cNvPr id="40" name="箭头: 右 39">
            <a:extLst>
              <a:ext uri="{FF2B5EF4-FFF2-40B4-BE49-F238E27FC236}">
                <a16:creationId xmlns:a16="http://schemas.microsoft.com/office/drawing/2014/main" id="{FA38996A-CA2D-3C5B-6396-994AC9B62933}"/>
              </a:ext>
            </a:extLst>
          </p:cNvPr>
          <p:cNvSpPr/>
          <p:nvPr/>
        </p:nvSpPr>
        <p:spPr>
          <a:xfrm>
            <a:off x="750933" y="8639827"/>
            <a:ext cx="15973333" cy="275253"/>
          </a:xfrm>
          <a:prstGeom prst="rightArrow">
            <a:avLst/>
          </a:prstGeom>
          <a:gradFill flip="none" rotWithShape="1">
            <a:gsLst>
              <a:gs pos="50000">
                <a:srgbClr val="284E7A"/>
              </a:gs>
              <a:gs pos="20000">
                <a:srgbClr val="3F5B83"/>
              </a:gs>
              <a:gs pos="0">
                <a:srgbClr val="587096"/>
              </a:gs>
              <a:gs pos="69000">
                <a:srgbClr val="203D65"/>
              </a:gs>
              <a:gs pos="82000">
                <a:srgbClr val="16314C"/>
              </a:gs>
              <a:gs pos="100000">
                <a:srgbClr val="0F213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注: 上箭头 46">
            <a:extLst>
              <a:ext uri="{FF2B5EF4-FFF2-40B4-BE49-F238E27FC236}">
                <a16:creationId xmlns:a16="http://schemas.microsoft.com/office/drawing/2014/main" id="{D43EE411-000B-FFE8-333A-0E21AFF4A12E}"/>
              </a:ext>
            </a:extLst>
          </p:cNvPr>
          <p:cNvSpPr/>
          <p:nvPr/>
        </p:nvSpPr>
        <p:spPr>
          <a:xfrm>
            <a:off x="1438681" y="8802742"/>
            <a:ext cx="1215026" cy="492442"/>
          </a:xfrm>
          <a:prstGeom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>
            <a:srgbClr val="5870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2025.12</a:t>
            </a:r>
            <a:endParaRPr lang="zh-CN" altLang="en-US" dirty="0"/>
          </a:p>
        </p:txBody>
      </p:sp>
      <p:sp>
        <p:nvSpPr>
          <p:cNvPr id="49" name="标注: 上箭头 48">
            <a:extLst>
              <a:ext uri="{FF2B5EF4-FFF2-40B4-BE49-F238E27FC236}">
                <a16:creationId xmlns:a16="http://schemas.microsoft.com/office/drawing/2014/main" id="{841F4F13-D4E5-3F7E-8BCA-D4F5ACD90B8C}"/>
              </a:ext>
            </a:extLst>
          </p:cNvPr>
          <p:cNvSpPr/>
          <p:nvPr/>
        </p:nvSpPr>
        <p:spPr>
          <a:xfrm>
            <a:off x="4398823" y="8795846"/>
            <a:ext cx="1215026" cy="492442"/>
          </a:xfrm>
          <a:prstGeom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>
            <a:srgbClr val="3F5B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2026.1</a:t>
            </a:r>
            <a:endParaRPr lang="zh-CN" altLang="en-US" dirty="0"/>
          </a:p>
        </p:txBody>
      </p:sp>
      <p:sp>
        <p:nvSpPr>
          <p:cNvPr id="50" name="标注: 上箭头 49">
            <a:extLst>
              <a:ext uri="{FF2B5EF4-FFF2-40B4-BE49-F238E27FC236}">
                <a16:creationId xmlns:a16="http://schemas.microsoft.com/office/drawing/2014/main" id="{40CBF64B-4DBD-6155-8D89-C5D9204DFD96}"/>
              </a:ext>
            </a:extLst>
          </p:cNvPr>
          <p:cNvSpPr/>
          <p:nvPr/>
        </p:nvSpPr>
        <p:spPr>
          <a:xfrm>
            <a:off x="7032176" y="8795846"/>
            <a:ext cx="1215026" cy="492442"/>
          </a:xfrm>
          <a:prstGeom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>
            <a:srgbClr val="284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2026.1</a:t>
            </a:r>
            <a:endParaRPr lang="zh-CN" altLang="en-US" dirty="0"/>
          </a:p>
        </p:txBody>
      </p:sp>
      <p:sp>
        <p:nvSpPr>
          <p:cNvPr id="51" name="标注: 上箭头 50">
            <a:extLst>
              <a:ext uri="{FF2B5EF4-FFF2-40B4-BE49-F238E27FC236}">
                <a16:creationId xmlns:a16="http://schemas.microsoft.com/office/drawing/2014/main" id="{47BDF48E-3C2A-4444-A420-A7EC2372BBEB}"/>
              </a:ext>
            </a:extLst>
          </p:cNvPr>
          <p:cNvSpPr/>
          <p:nvPr/>
        </p:nvSpPr>
        <p:spPr>
          <a:xfrm>
            <a:off x="9448079" y="8802742"/>
            <a:ext cx="1215026" cy="492442"/>
          </a:xfrm>
          <a:prstGeom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>
            <a:srgbClr val="203D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2026.02</a:t>
            </a:r>
            <a:endParaRPr lang="zh-CN" altLang="en-US" dirty="0"/>
          </a:p>
        </p:txBody>
      </p:sp>
      <p:sp>
        <p:nvSpPr>
          <p:cNvPr id="52" name="标注: 上箭头 51">
            <a:extLst>
              <a:ext uri="{FF2B5EF4-FFF2-40B4-BE49-F238E27FC236}">
                <a16:creationId xmlns:a16="http://schemas.microsoft.com/office/drawing/2014/main" id="{AAC3D60C-B265-EEEC-CC39-F9C577B1FED5}"/>
              </a:ext>
            </a:extLst>
          </p:cNvPr>
          <p:cNvSpPr/>
          <p:nvPr/>
        </p:nvSpPr>
        <p:spPr>
          <a:xfrm>
            <a:off x="12017264" y="8798421"/>
            <a:ext cx="1215026" cy="492442"/>
          </a:xfrm>
          <a:prstGeom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>
            <a:srgbClr val="1631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2026.03</a:t>
            </a:r>
            <a:endParaRPr lang="zh-CN" altLang="en-US" dirty="0"/>
          </a:p>
        </p:txBody>
      </p:sp>
      <p:sp>
        <p:nvSpPr>
          <p:cNvPr id="53" name="标注: 上箭头 52">
            <a:extLst>
              <a:ext uri="{FF2B5EF4-FFF2-40B4-BE49-F238E27FC236}">
                <a16:creationId xmlns:a16="http://schemas.microsoft.com/office/drawing/2014/main" id="{7640E816-766C-AC90-6D01-3D253FCF1F43}"/>
              </a:ext>
            </a:extLst>
          </p:cNvPr>
          <p:cNvSpPr/>
          <p:nvPr/>
        </p:nvSpPr>
        <p:spPr>
          <a:xfrm>
            <a:off x="14821353" y="8806668"/>
            <a:ext cx="1215026" cy="492442"/>
          </a:xfrm>
          <a:prstGeom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>
            <a:srgbClr val="0F21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2026.04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3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660B-D3A9-6F84-1A7C-FEA87732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1D80A6D-FA85-4C9B-88AC-C01EFB8DF7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46244" y="1466691"/>
            <a:ext cx="3126074" cy="288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F4CA6F8-5CB4-4D79-AFDF-382973049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51066" y="1429605"/>
            <a:ext cx="3019034" cy="288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B16F28-4277-48C0-A3A8-17DDC33A5F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32178" y="1429605"/>
            <a:ext cx="2245598" cy="2880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64ACE07B-0D36-1093-AB35-9060ED241B4A}"/>
              </a:ext>
            </a:extLst>
          </p:cNvPr>
          <p:cNvSpPr/>
          <p:nvPr/>
        </p:nvSpPr>
        <p:spPr>
          <a:xfrm>
            <a:off x="207608" y="1103825"/>
            <a:ext cx="16891486" cy="808156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02" name="textbox 76">
            <a:extLst>
              <a:ext uri="{FF2B5EF4-FFF2-40B4-BE49-F238E27FC236}">
                <a16:creationId xmlns:a16="http://schemas.microsoft.com/office/drawing/2014/main" id="{D7FABBF8-962D-4881-7CF2-960BFB4825BC}"/>
              </a:ext>
            </a:extLst>
          </p:cNvPr>
          <p:cNvSpPr/>
          <p:nvPr/>
        </p:nvSpPr>
        <p:spPr>
          <a:xfrm>
            <a:off x="1390676" y="2431532"/>
            <a:ext cx="5761354" cy="3145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84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61594" algn="l" rtl="0" eaLnBrk="0">
              <a:lnSpc>
                <a:spcPct val="97000"/>
              </a:lnSpc>
            </a:pPr>
            <a:r>
              <a:rPr lang="zh-CN" altLang="en-US" sz="2700" b="1" kern="0" spc="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基础链路</a:t>
            </a:r>
            <a:endParaRPr lang="zh-CN" altLang="en-US" sz="2700" dirty="0">
              <a:latin typeface="SimHei"/>
              <a:ea typeface="SimHei"/>
              <a:cs typeface="SimHei"/>
            </a:endParaRPr>
          </a:p>
          <a:p>
            <a:pPr marL="12700" indent="75564" algn="l" rtl="0" eaLnBrk="0">
              <a:lnSpc>
                <a:spcPct val="167000"/>
              </a:lnSpc>
              <a:spcBef>
                <a:spcPts val="219"/>
              </a:spcBef>
            </a:pP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☑</a:t>
            </a:r>
            <a:r>
              <a:rPr lang="en-US" altLang="zh-CN" sz="2700" kern="0" spc="10" dirty="0">
                <a:solidFill>
                  <a:srgbClr val="20C030">
                    <a:alpha val="100000"/>
                  </a:srgbClr>
                </a:solidFill>
                <a:latin typeface="MS Gothic"/>
                <a:ea typeface="MS Gothic"/>
              </a:rPr>
              <a:t>	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imHei"/>
              </a:rPr>
              <a:t>建立目标图案生成</a:t>
            </a:r>
            <a:r>
              <a:rPr lang="zh-CN" altLang="en-US"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imHei"/>
              </a:rPr>
              <a:t>逻辑  </a:t>
            </a:r>
            <a:endParaRPr lang="en-US" altLang="zh-CN" sz="24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SimHei"/>
            </a:endParaRPr>
          </a:p>
          <a:p>
            <a:pPr marL="12700" indent="75564" eaLnBrk="0">
              <a:lnSpc>
                <a:spcPct val="167000"/>
              </a:lnSpc>
              <a:spcBef>
                <a:spcPts val="219"/>
              </a:spcBef>
            </a:pP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☑</a:t>
            </a:r>
            <a:r>
              <a:rPr lang="en-US" altLang="zh-CN" sz="2700" kern="0" spc="920" dirty="0">
                <a:solidFill>
                  <a:srgbClr val="30C020">
                    <a:alpha val="100000"/>
                  </a:srgbClr>
                </a:solidFill>
                <a:latin typeface="MS Gothic"/>
                <a:ea typeface="MS Gothic"/>
              </a:rPr>
              <a:t>	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搭建</a:t>
            </a:r>
            <a:r>
              <a:rPr lang="en-US" altLang="zh-CN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IASA 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型相位反演初版</a:t>
            </a:r>
            <a:endParaRPr lang="en-US" sz="2400" kern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indent="75564" algn="l" rtl="0" eaLnBrk="0">
              <a:lnSpc>
                <a:spcPct val="167000"/>
              </a:lnSpc>
              <a:spcBef>
                <a:spcPts val="219"/>
              </a:spcBef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☑</a:t>
            </a:r>
            <a:r>
              <a:rPr lang="en-US" sz="2400" kern="0" spc="1020" dirty="0">
                <a:solidFill>
                  <a:srgbClr val="30C030">
                    <a:alpha val="100000"/>
                  </a:srgbClr>
                </a:solidFill>
                <a:latin typeface="MS Gothic"/>
                <a:ea typeface="MS Gothic"/>
              </a:rPr>
              <a:t>	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实现相位到厚度的初步映射与构建</a:t>
            </a:r>
            <a:endParaRPr lang="en-US" altLang="zh-CN" sz="2400" kern="0" spc="1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indent="75564" algn="l" rtl="0" eaLnBrk="0">
              <a:lnSpc>
                <a:spcPct val="167000"/>
              </a:lnSpc>
              <a:spcBef>
                <a:spcPts val="219"/>
              </a:spcBef>
            </a:pP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☑</a:t>
            </a:r>
            <a:r>
              <a:rPr lang="en-US" altLang="zh-CN" sz="2400" kern="0" spc="930" dirty="0">
                <a:solidFill>
                  <a:srgbClr val="30C020">
                    <a:alpha val="100000"/>
                  </a:srgbClr>
                </a:solidFill>
                <a:latin typeface="MS Gothic"/>
                <a:ea typeface="MS Gothic"/>
              </a:rPr>
              <a:t>	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构造三维介质并调用</a:t>
            </a:r>
            <a:r>
              <a:rPr lang="en-US" altLang="zh-CN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k-Wave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仿真</a:t>
            </a:r>
          </a:p>
          <a:p>
            <a:pPr marL="12700" indent="75564" algn="l" rtl="0" eaLnBrk="0">
              <a:lnSpc>
                <a:spcPct val="167000"/>
              </a:lnSpc>
              <a:spcBef>
                <a:spcPts val="219"/>
              </a:spcBef>
            </a:pPr>
            <a:endParaRPr sz="2400" kern="0" spc="1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97163" name="picture 78">
            <a:extLst>
              <a:ext uri="{FF2B5EF4-FFF2-40B4-BE49-F238E27FC236}">
                <a16:creationId xmlns:a16="http://schemas.microsoft.com/office/drawing/2014/main" id="{3D5A24ED-E48C-7557-B8E1-5AE905593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5404" y="6055202"/>
            <a:ext cx="6222918" cy="200017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0D77AE-5282-FFA5-10E1-356374D4ABBE}"/>
              </a:ext>
            </a:extLst>
          </p:cNvPr>
          <p:cNvSpPr/>
          <p:nvPr/>
        </p:nvSpPr>
        <p:spPr>
          <a:xfrm>
            <a:off x="7456156" y="1256226"/>
            <a:ext cx="9521018" cy="7806585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194304" name="table 82">
            <a:extLst>
              <a:ext uri="{FF2B5EF4-FFF2-40B4-BE49-F238E27FC236}">
                <a16:creationId xmlns:a16="http://schemas.microsoft.com/office/drawing/2014/main" id="{DFEC072D-34B3-BF78-22B5-E371AFCA2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87488"/>
              </p:ext>
            </p:extLst>
          </p:nvPr>
        </p:nvGraphicFramePr>
        <p:xfrm>
          <a:off x="1371449" y="6267570"/>
          <a:ext cx="5370828" cy="1575435"/>
        </p:xfrm>
        <a:graphic>
          <a:graphicData uri="http://schemas.openxmlformats.org/drawingml/2006/table">
            <a:tbl>
              <a:tblPr/>
              <a:tblGrid>
                <a:gridCol w="2742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75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24"/>
                        </a:lnSpc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</a:pPr>
                      <a:r>
                        <a:rPr sz="2700" b="1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遗留物理痛点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91770" algn="l" rtl="0" eaLnBrk="0">
                        <a:lnSpc>
                          <a:spcPct val="97000"/>
                        </a:lnSpc>
                        <a:spcBef>
                          <a:spcPts val="1802"/>
                        </a:spcBef>
                      </a:pPr>
                      <a:r>
                        <a:rPr sz="2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聚焦质量极其有限</a:t>
                      </a:r>
                      <a:endParaRPr sz="2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</a:pPr>
                      <a:r>
                        <a:rPr sz="2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相位误差评估失真</a:t>
                      </a:r>
                      <a:endParaRPr sz="2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</a:pPr>
                      <a:r>
                        <a:rPr sz="2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厚度映射极不稳定</a:t>
                      </a:r>
                      <a:endParaRPr sz="2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</a:pP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评价维度过于单一</a:t>
                      </a:r>
                      <a:endParaRPr sz="2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604" name="textbox 84">
            <a:extLst>
              <a:ext uri="{FF2B5EF4-FFF2-40B4-BE49-F238E27FC236}">
                <a16:creationId xmlns:a16="http://schemas.microsoft.com/office/drawing/2014/main" id="{7174D599-F930-7043-2E46-DCC5F030B2C7}"/>
              </a:ext>
            </a:extLst>
          </p:cNvPr>
          <p:cNvSpPr/>
          <p:nvPr/>
        </p:nvSpPr>
        <p:spPr>
          <a:xfrm>
            <a:off x="207608" y="9277348"/>
            <a:ext cx="11196319" cy="368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13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b="1" kern="0" spc="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阶段1证明了任务在统一框架下的可串联性，解决“能不能跑通”的问题。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3EA870-1D9B-9E6A-2BC1-9A71A5156B1F}"/>
              </a:ext>
            </a:extLst>
          </p:cNvPr>
          <p:cNvSpPr txBox="1"/>
          <p:nvPr/>
        </p:nvSpPr>
        <p:spPr>
          <a:xfrm>
            <a:off x="1041404" y="1589380"/>
            <a:ext cx="8740140" cy="36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l" rtl="0" eaLnBrk="0">
              <a:lnSpc>
                <a:spcPct val="97000"/>
              </a:lnSpc>
            </a:pPr>
            <a:r>
              <a:rPr lang="zh-CN" altLang="en-US" sz="1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先跑通“目标</a:t>
            </a:r>
            <a:r>
              <a:rPr lang="en-US" altLang="zh-CN" sz="1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-&gt;</a:t>
            </a:r>
            <a:r>
              <a:rPr lang="zh-CN" altLang="en-US" sz="1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相位</a:t>
            </a:r>
            <a:r>
              <a:rPr lang="en-US" altLang="zh-CN" sz="1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-&gt;</a:t>
            </a:r>
            <a:r>
              <a:rPr lang="zh-CN" altLang="en-US" sz="1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厚度</a:t>
            </a:r>
            <a:r>
              <a:rPr lang="en-US" altLang="zh-CN" sz="1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-&gt;</a:t>
            </a:r>
            <a:r>
              <a:rPr lang="zh-CN" altLang="en-US" sz="1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声场”的基本流程</a:t>
            </a:r>
            <a:endParaRPr lang="zh-CN" altLang="en-US" sz="1800" dirty="0">
              <a:latin typeface="SimHei"/>
              <a:ea typeface="SimHei"/>
              <a:cs typeface="SimHei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2787B92-23C8-56B0-C7FC-C35825CB3D31}"/>
              </a:ext>
            </a:extLst>
          </p:cNvPr>
          <p:cNvCxnSpPr>
            <a:cxnSpLocks/>
          </p:cNvCxnSpPr>
          <p:nvPr/>
        </p:nvCxnSpPr>
        <p:spPr>
          <a:xfrm>
            <a:off x="13620329" y="476250"/>
            <a:ext cx="3842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96;p14">
            <a:extLst>
              <a:ext uri="{FF2B5EF4-FFF2-40B4-BE49-F238E27FC236}">
                <a16:creationId xmlns:a16="http://schemas.microsoft.com/office/drawing/2014/main" id="{39703FCC-A0FE-703E-B4B2-9A44F6C7F0F8}"/>
              </a:ext>
            </a:extLst>
          </p:cNvPr>
          <p:cNvSpPr txBox="1"/>
          <p:nvPr/>
        </p:nvSpPr>
        <p:spPr>
          <a:xfrm>
            <a:off x="571500" y="476252"/>
            <a:ext cx="63677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阶段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1: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 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MATLAB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 单链路原型建立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D1B857-FB2B-BAF5-9E4A-4947BB0EE1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1"/>
          <a:stretch>
            <a:fillRect/>
          </a:stretch>
        </p:blipFill>
        <p:spPr>
          <a:xfrm>
            <a:off x="9437155" y="4783931"/>
            <a:ext cx="5314995" cy="42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7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0C74EA11-DA4D-EECA-A130-5F48AD5CBE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0809717"/>
              </p:ext>
            </p:extLst>
          </p:nvPr>
        </p:nvGraphicFramePr>
        <p:xfrm>
          <a:off x="487038" y="2476503"/>
          <a:ext cx="8215841" cy="5773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630" name="textbox 146"/>
          <p:cNvSpPr/>
          <p:nvPr/>
        </p:nvSpPr>
        <p:spPr>
          <a:xfrm>
            <a:off x="3739832" y="2560835"/>
            <a:ext cx="4265295" cy="106628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7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3000"/>
              </a:lnSpc>
            </a:pPr>
            <a:r>
              <a:rPr sz="27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加权策略</a:t>
            </a:r>
            <a:r>
              <a:rPr sz="2700" kern="0" spc="-5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(Weighting) 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:</a:t>
            </a:r>
            <a:endParaRPr sz="2700" dirty="0">
              <a:latin typeface="SimHei"/>
              <a:ea typeface="SimHei"/>
              <a:cs typeface="SimHei"/>
            </a:endParaRPr>
          </a:p>
          <a:p>
            <a:pPr marL="12700" eaLnBrk="0">
              <a:lnSpc>
                <a:spcPct val="105000"/>
              </a:lnSpc>
              <a:spcBef>
                <a:spcPts val="19"/>
              </a:spcBef>
            </a:pPr>
            <a:r>
              <a:rPr lang="zh-CN" altLang="en-US" sz="2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拒绝均质处理，自适</a:t>
            </a:r>
            <a:r>
              <a:rPr lang="zh-CN" altLang="en-US" sz="2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应增强暗</a:t>
            </a:r>
            <a:r>
              <a:rPr lang="zh-CN" altLang="en-US" sz="2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lang="zh-CN" altLang="en-US" sz="2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区与细微结构约束</a:t>
            </a:r>
          </a:p>
          <a:p>
            <a:pPr marL="12700" algn="l" rtl="0" eaLnBrk="0">
              <a:lnSpc>
                <a:spcPct val="105000"/>
              </a:lnSpc>
              <a:spcBef>
                <a:spcPts val="19"/>
              </a:spcBef>
            </a:pP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spcBef>
                <a:spcPts val="50"/>
              </a:spcBef>
            </a:pPr>
            <a:endParaRPr lang="en-US" sz="2200" kern="0" spc="20" dirty="0">
              <a:solidFill>
                <a:srgbClr val="000000">
                  <a:alpha val="100000"/>
                </a:srgbClr>
              </a:solidFill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1000"/>
              </a:lnSpc>
              <a:spcBef>
                <a:spcPts val="50"/>
              </a:spcBef>
            </a:pP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048632" name="textbox 152"/>
          <p:cNvSpPr/>
          <p:nvPr/>
        </p:nvSpPr>
        <p:spPr>
          <a:xfrm>
            <a:off x="571500" y="9125917"/>
            <a:ext cx="14834869" cy="603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97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12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驱使反演过程严格贴</a:t>
            </a:r>
            <a:r>
              <a:rPr sz="2700" kern="0" spc="11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合物理传播约束，实现能量分布与目标图案的高度匹配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sp>
        <p:nvSpPr>
          <p:cNvPr id="1048633" name="textbox 154"/>
          <p:cNvSpPr/>
          <p:nvPr/>
        </p:nvSpPr>
        <p:spPr>
          <a:xfrm>
            <a:off x="844575" y="1265817"/>
            <a:ext cx="7108825" cy="1188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672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94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从“能反演”走向“更稳定、更接近目标”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sp>
        <p:nvSpPr>
          <p:cNvPr id="1048634" name="textbox 156"/>
          <p:cNvSpPr/>
          <p:nvPr/>
        </p:nvSpPr>
        <p:spPr>
          <a:xfrm>
            <a:off x="14205344" y="2306921"/>
            <a:ext cx="1195092" cy="50782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2700" algn="l" rtl="0" eaLnBrk="0">
              <a:lnSpc>
                <a:spcPct val="95000"/>
              </a:lnSpc>
            </a:pPr>
            <a:r>
              <a:rPr sz="2700" b="1" kern="0" spc="7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升级后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981132B-198C-465B-5F3D-E07841D33840}"/>
              </a:ext>
            </a:extLst>
          </p:cNvPr>
          <p:cNvCxnSpPr>
            <a:cxnSpLocks/>
          </p:cNvCxnSpPr>
          <p:nvPr/>
        </p:nvCxnSpPr>
        <p:spPr>
          <a:xfrm>
            <a:off x="13620329" y="476250"/>
            <a:ext cx="3842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Google Shape;96;p14">
            <a:extLst>
              <a:ext uri="{FF2B5EF4-FFF2-40B4-BE49-F238E27FC236}">
                <a16:creationId xmlns:a16="http://schemas.microsoft.com/office/drawing/2014/main" id="{BF3F74BE-956B-3F74-0971-20F9055D3C3F}"/>
              </a:ext>
            </a:extLst>
          </p:cNvPr>
          <p:cNvSpPr txBox="1"/>
          <p:nvPr/>
        </p:nvSpPr>
        <p:spPr>
          <a:xfrm>
            <a:off x="571500" y="476252"/>
            <a:ext cx="53009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阶段3: IASA 与聚焦质量优化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EF269C-A6FB-423E-9387-5346F09A33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76228" y="2908558"/>
            <a:ext cx="2948525" cy="330882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2E4A84C-7B94-4479-BEA0-F098BCB9A4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29984" y="6311190"/>
            <a:ext cx="3145812" cy="353016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A518966-5E2E-468F-97EA-8CC839FC65E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0185" y="4332002"/>
            <a:ext cx="3183171" cy="33088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C86F52-94EF-042D-B217-425613749CFD}"/>
              </a:ext>
            </a:extLst>
          </p:cNvPr>
          <p:cNvSpPr txBox="1"/>
          <p:nvPr/>
        </p:nvSpPr>
        <p:spPr>
          <a:xfrm>
            <a:off x="9521802" y="2267801"/>
            <a:ext cx="16065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升级前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2FA0C3-55BE-2444-AAD5-7D0AD47E5321}"/>
              </a:ext>
            </a:extLst>
          </p:cNvPr>
          <p:cNvSpPr txBox="1"/>
          <p:nvPr/>
        </p:nvSpPr>
        <p:spPr>
          <a:xfrm>
            <a:off x="3714228" y="4505851"/>
            <a:ext cx="3598742" cy="1344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eaLnBrk="0">
              <a:lnSpc>
                <a:spcPct val="97000"/>
              </a:lnSpc>
              <a:spcBef>
                <a:spcPts val="817"/>
              </a:spcBef>
            </a:pPr>
            <a:r>
              <a:rPr lang="zh-CN" altLang="en-US" sz="27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加权更新</a:t>
            </a:r>
            <a:r>
              <a:rPr lang="en-US" altLang="zh-CN" sz="27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(Cumulative):</a:t>
            </a:r>
          </a:p>
          <a:p>
            <a:pPr marL="12700" eaLnBrk="0">
              <a:lnSpc>
                <a:spcPct val="101000"/>
              </a:lnSpc>
              <a:spcBef>
                <a:spcPts val="50"/>
              </a:spcBef>
            </a:pP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乘性权重更新替代简单加</a:t>
            </a:r>
            <a:r>
              <a:rPr lang="zh-CN" altLang="en-US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法</a:t>
            </a:r>
            <a:br>
              <a:rPr lang="en-US" altLang="zh-CN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</a:br>
            <a:r>
              <a:rPr lang="zh-CN" altLang="en-US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抹平亮度不均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C517E0-D73E-420A-FD2B-841C3C8537F0}"/>
              </a:ext>
            </a:extLst>
          </p:cNvPr>
          <p:cNvSpPr txBox="1"/>
          <p:nvPr/>
        </p:nvSpPr>
        <p:spPr>
          <a:xfrm>
            <a:off x="3714228" y="6363421"/>
            <a:ext cx="4064953" cy="72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eaLnBrk="0">
              <a:lnSpc>
                <a:spcPct val="97000"/>
              </a:lnSpc>
              <a:spcBef>
                <a:spcPts val="817"/>
              </a:spcBef>
            </a:pPr>
            <a:r>
              <a:rPr lang="zh-CN" altLang="en-US" sz="27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距离补偿 </a:t>
            </a:r>
            <a:r>
              <a:rPr lang="en-US" altLang="zh-CN" sz="27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(Zero-padding):</a:t>
            </a:r>
            <a:endParaRPr lang="zh-CN" altLang="en-US" sz="2700" b="1" kern="0" spc="-120" dirty="0">
              <a:solidFill>
                <a:srgbClr val="000000">
                  <a:alpha val="100000"/>
                </a:srgbClr>
              </a:solidFill>
              <a:latin typeface="SimHei"/>
              <a:ea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9"/>
              </a:spcBef>
            </a:pPr>
            <a:r>
              <a:rPr lang="zh-CN" altLang="en-US"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消除频域循环卷积造成的回卷伪影</a:t>
            </a:r>
            <a:endParaRPr lang="zh-CN" altLang="en-US" sz="1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6D2F5D5-A29D-5B25-DC68-B1F64EF18E7C}"/>
              </a:ext>
            </a:extLst>
          </p:cNvPr>
          <p:cNvSpPr/>
          <p:nvPr/>
        </p:nvSpPr>
        <p:spPr>
          <a:xfrm>
            <a:off x="9048294" y="4961792"/>
            <a:ext cx="3869210" cy="64533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09650" indent="-996950" eaLnBrk="0">
              <a:lnSpc>
                <a:spcPct val="103000"/>
              </a:lnSpc>
              <a:spcBef>
                <a:spcPts val="698"/>
              </a:spcBef>
            </a:pPr>
            <a:r>
              <a:rPr lang="zh-CN" altLang="en-US" sz="2400" b="1" kern="0" dirty="0">
                <a:solidFill>
                  <a:schemeClr val="tx1"/>
                </a:solidFill>
                <a:latin typeface="SimHei"/>
                <a:ea typeface="SimHei"/>
              </a:rPr>
              <a:t>尝试</a:t>
            </a:r>
            <a:r>
              <a:rPr lang="en-US" altLang="zh-CN" sz="2400" b="1" kern="0" dirty="0">
                <a:solidFill>
                  <a:schemeClr val="tx1"/>
                </a:solidFill>
                <a:latin typeface="SimHei"/>
                <a:ea typeface="SimHei"/>
              </a:rPr>
              <a:t>C: </a:t>
            </a:r>
            <a:r>
              <a:rPr lang="zh-CN" altLang="en-US" sz="2400" b="1" kern="0" dirty="0">
                <a:solidFill>
                  <a:schemeClr val="tx1"/>
                </a:solidFill>
                <a:latin typeface="SimHei"/>
                <a:ea typeface="SimHei"/>
              </a:rPr>
              <a:t>直接解卷</a:t>
            </a:r>
            <a:r>
              <a:rPr lang="en-US" altLang="zh-CN" sz="2400" b="1" kern="0" dirty="0">
                <a:solidFill>
                  <a:schemeClr val="tx1"/>
                </a:solidFill>
                <a:latin typeface="SimHei"/>
                <a:ea typeface="SimHei"/>
              </a:rPr>
              <a:t>unwrap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2650824-D893-37E7-9FE5-AC28A1F962D9}"/>
              </a:ext>
            </a:extLst>
          </p:cNvPr>
          <p:cNvSpPr/>
          <p:nvPr/>
        </p:nvSpPr>
        <p:spPr>
          <a:xfrm>
            <a:off x="9062591" y="4122900"/>
            <a:ext cx="3840616" cy="64533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09650" indent="-996950" eaLnBrk="0">
              <a:lnSpc>
                <a:spcPct val="103000"/>
              </a:lnSpc>
            </a:pPr>
            <a:r>
              <a:rPr lang="zh-CN" altLang="en-US" sz="2400" b="1" kern="0" dirty="0">
                <a:solidFill>
                  <a:schemeClr val="tx1"/>
                </a:solidFill>
                <a:latin typeface="SimHei"/>
                <a:ea typeface="SimHei"/>
              </a:rPr>
              <a:t>尝试</a:t>
            </a:r>
            <a:r>
              <a:rPr lang="en-US" altLang="zh-CN" sz="2400" b="1" kern="0" dirty="0">
                <a:solidFill>
                  <a:schemeClr val="tx1"/>
                </a:solidFill>
                <a:latin typeface="SimHei"/>
                <a:ea typeface="SimHei"/>
              </a:rPr>
              <a:t>B: </a:t>
            </a:r>
            <a:r>
              <a:rPr lang="zh-CN" altLang="en-US" sz="2400" b="1" kern="0" dirty="0">
                <a:solidFill>
                  <a:schemeClr val="tx1"/>
                </a:solidFill>
                <a:latin typeface="SimHei"/>
                <a:ea typeface="SimHei"/>
              </a:rPr>
              <a:t>引入高斯平滑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5A56DA-2892-1A0C-BADD-AA1FFD7E4470}"/>
              </a:ext>
            </a:extLst>
          </p:cNvPr>
          <p:cNvSpPr/>
          <p:nvPr/>
        </p:nvSpPr>
        <p:spPr>
          <a:xfrm>
            <a:off x="9033997" y="3303368"/>
            <a:ext cx="3869210" cy="64534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eaLnBrk="0">
              <a:lnSpc>
                <a:spcPct val="97000"/>
              </a:lnSpc>
            </a:pPr>
            <a:r>
              <a:rPr lang="zh-CN" altLang="en-US" sz="2400" b="1" kern="0" dirty="0">
                <a:solidFill>
                  <a:schemeClr val="tx1"/>
                </a:solidFill>
                <a:latin typeface="SimHei"/>
                <a:ea typeface="SimHei"/>
              </a:rPr>
              <a:t>尝试</a:t>
            </a:r>
            <a:r>
              <a:rPr lang="en-US" altLang="zh-CN" sz="2400" b="1" kern="0" dirty="0">
                <a:solidFill>
                  <a:schemeClr val="tx1"/>
                </a:solidFill>
                <a:latin typeface="SimHei"/>
                <a:ea typeface="SimHei"/>
              </a:rPr>
              <a:t>A:</a:t>
            </a:r>
            <a:r>
              <a:rPr lang="zh-CN" altLang="en-US" sz="2400" b="1" kern="0" dirty="0">
                <a:solidFill>
                  <a:schemeClr val="tx1"/>
                </a:solidFill>
                <a:latin typeface="SimHei"/>
                <a:ea typeface="SimHei"/>
              </a:rPr>
              <a:t>直接</a:t>
            </a:r>
            <a:r>
              <a:rPr lang="en-US" altLang="zh-CN" sz="2400" b="1" kern="0" dirty="0">
                <a:solidFill>
                  <a:schemeClr val="tx1"/>
                </a:solidFill>
                <a:latin typeface="SimHei"/>
                <a:ea typeface="SimHei"/>
              </a:rPr>
              <a:t>0-2π</a:t>
            </a:r>
            <a:r>
              <a:rPr lang="zh-CN" altLang="en-US" sz="2400" b="1" kern="0" dirty="0">
                <a:solidFill>
                  <a:schemeClr val="tx1"/>
                </a:solidFill>
                <a:latin typeface="SimHei"/>
                <a:ea typeface="SimHei"/>
              </a:rPr>
              <a:t>映射</a:t>
            </a:r>
          </a:p>
        </p:txBody>
      </p:sp>
      <p:sp>
        <p:nvSpPr>
          <p:cNvPr id="1048608" name="textbox 94"/>
          <p:cNvSpPr/>
          <p:nvPr/>
        </p:nvSpPr>
        <p:spPr>
          <a:xfrm>
            <a:off x="14136964" y="4987458"/>
            <a:ext cx="3145405" cy="78741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</a:pPr>
            <a:r>
              <a:rPr lang="zh-CN" altLang="en-US" sz="21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为了消除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2π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到0的断崖</a:t>
            </a:r>
            <a:r>
              <a:rPr lang="zh-CN" altLang="en-US" sz="21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，相位板无限堆叠，不符合物理要求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048616" name="textbox 110"/>
          <p:cNvSpPr/>
          <p:nvPr/>
        </p:nvSpPr>
        <p:spPr>
          <a:xfrm>
            <a:off x="14439880" y="7200118"/>
            <a:ext cx="15144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2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离散板投影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2451EC-A462-5ACE-419C-5FD4297268E8}"/>
              </a:ext>
            </a:extLst>
          </p:cNvPr>
          <p:cNvSpPr txBox="1"/>
          <p:nvPr/>
        </p:nvSpPr>
        <p:spPr>
          <a:xfrm>
            <a:off x="877729" y="1396959"/>
            <a:ext cx="8862060" cy="36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l" rtl="0" eaLnBrk="0">
              <a:lnSpc>
                <a:spcPct val="97000"/>
              </a:lnSpc>
              <a:spcBef>
                <a:spcPts val="1185"/>
              </a:spcBef>
            </a:pPr>
            <a:r>
              <a:rPr lang="zh-CN" altLang="en-US" sz="1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从“直接映射”走向“考虑周期</a:t>
            </a:r>
            <a:r>
              <a:rPr lang="zh-CN" altLang="en-US" sz="1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性与离散实现”的板级投影</a:t>
            </a:r>
            <a:endParaRPr lang="zh-CN" altLang="en-US" sz="18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83E0A5-F0F6-EC86-CEEC-7805EF403A0A}"/>
              </a:ext>
            </a:extLst>
          </p:cNvPr>
          <p:cNvSpPr txBox="1"/>
          <p:nvPr/>
        </p:nvSpPr>
        <p:spPr>
          <a:xfrm>
            <a:off x="877729" y="2171952"/>
            <a:ext cx="6176177" cy="36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l" rtl="0" eaLnBrk="0">
              <a:lnSpc>
                <a:spcPct val="97000"/>
              </a:lnSpc>
              <a:spcBef>
                <a:spcPts val="6"/>
              </a:spcBef>
            </a:pPr>
            <a:r>
              <a:rPr lang="zh-CN" altLang="en-US" sz="18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核心矛盾：理想连续相位面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vs</a:t>
            </a:r>
            <a:r>
              <a:rPr lang="zh-CN" altLang="en-US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离散网格构建</a:t>
            </a:r>
            <a:r>
              <a:rPr lang="en-US" altLang="zh-CN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/</a:t>
            </a:r>
            <a:r>
              <a:rPr lang="zh-CN" altLang="en-US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打印精度。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ADE95A1-AD57-92DC-A164-358C095A317F}"/>
              </a:ext>
            </a:extLst>
          </p:cNvPr>
          <p:cNvCxnSpPr>
            <a:cxnSpLocks/>
          </p:cNvCxnSpPr>
          <p:nvPr/>
        </p:nvCxnSpPr>
        <p:spPr>
          <a:xfrm>
            <a:off x="13620329" y="476250"/>
            <a:ext cx="3842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Google Shape;96;p14">
            <a:extLst>
              <a:ext uri="{FF2B5EF4-FFF2-40B4-BE49-F238E27FC236}">
                <a16:creationId xmlns:a16="http://schemas.microsoft.com/office/drawing/2014/main" id="{424D6CC8-6EDD-7867-463D-3BE7D1308AE9}"/>
              </a:ext>
            </a:extLst>
          </p:cNvPr>
          <p:cNvSpPr txBox="1"/>
          <p:nvPr/>
        </p:nvSpPr>
        <p:spPr>
          <a:xfrm>
            <a:off x="571500" y="476252"/>
            <a:ext cx="741426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阶段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2: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相位板构建与厚度映射的关键调试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76583B6-C0F6-42D5-3C98-BD98F088719F}"/>
              </a:ext>
            </a:extLst>
          </p:cNvPr>
          <p:cNvCxnSpPr>
            <a:cxnSpLocks/>
            <a:stCxn id="28" idx="3"/>
            <a:endCxn id="24" idx="1"/>
          </p:cNvCxnSpPr>
          <p:nvPr/>
        </p:nvCxnSpPr>
        <p:spPr>
          <a:xfrm flipV="1">
            <a:off x="7852950" y="3626038"/>
            <a:ext cx="1181047" cy="1715408"/>
          </a:xfrm>
          <a:prstGeom prst="straightConnector1">
            <a:avLst/>
          </a:prstGeom>
          <a:ln w="38100" cap="rnd">
            <a:solidFill>
              <a:schemeClr val="bg2">
                <a:lumMod val="50000"/>
              </a:schemeClr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A55D070-ADD9-C56C-EF19-C79498CA8A5A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7852950" y="4475541"/>
            <a:ext cx="1209641" cy="865905"/>
          </a:xfrm>
          <a:prstGeom prst="straightConnector1">
            <a:avLst/>
          </a:prstGeom>
          <a:ln w="38100" cap="rnd">
            <a:solidFill>
              <a:schemeClr val="bg2">
                <a:lumMod val="50000"/>
              </a:schemeClr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70DE05A-C3EF-D864-B931-BE59AFE5CFB3}"/>
              </a:ext>
            </a:extLst>
          </p:cNvPr>
          <p:cNvCxnSpPr>
            <a:cxnSpLocks/>
            <a:stCxn id="28" idx="3"/>
            <a:endCxn id="26" idx="1"/>
          </p:cNvCxnSpPr>
          <p:nvPr/>
        </p:nvCxnSpPr>
        <p:spPr>
          <a:xfrm flipV="1">
            <a:off x="7852950" y="5284462"/>
            <a:ext cx="1195344" cy="56984"/>
          </a:xfrm>
          <a:prstGeom prst="straightConnector1">
            <a:avLst/>
          </a:prstGeom>
          <a:ln w="38100" cap="rnd">
            <a:solidFill>
              <a:schemeClr val="bg2">
                <a:lumMod val="50000"/>
              </a:schemeClr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FA0065E-033D-8CDE-96A2-5270F99CF536}"/>
              </a:ext>
            </a:extLst>
          </p:cNvPr>
          <p:cNvSpPr/>
          <p:nvPr/>
        </p:nvSpPr>
        <p:spPr>
          <a:xfrm>
            <a:off x="9072410" y="6189999"/>
            <a:ext cx="3849371" cy="96128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 eaLnBrk="0">
              <a:lnSpc>
                <a:spcPct val="77000"/>
              </a:lnSpc>
            </a:pPr>
            <a:r>
              <a:rPr lang="zh-CN" altLang="en-US" sz="2400" b="1" kern="0" dirty="0">
                <a:solidFill>
                  <a:schemeClr val="bg1"/>
                </a:solidFill>
                <a:latin typeface="SimHei"/>
                <a:ea typeface="SimHei"/>
                <a:cs typeface="SimHei"/>
              </a:rPr>
              <a:t>最终解：回归包裹相位</a:t>
            </a:r>
            <a:endParaRPr lang="zh-CN" altLang="en-US" sz="2400" dirty="0">
              <a:solidFill>
                <a:schemeClr val="bg1"/>
              </a:solidFill>
              <a:latin typeface="SimHei"/>
              <a:ea typeface="SimHei"/>
              <a:cs typeface="SimHei"/>
            </a:endParaRPr>
          </a:p>
          <a:p>
            <a:pPr marL="751205" algn="ctr" eaLnBrk="0">
              <a:lnSpc>
                <a:spcPts val="3682"/>
              </a:lnSpc>
            </a:pPr>
            <a:r>
              <a:rPr lang="en-US" altLang="zh-CN" sz="2400" b="1" kern="0" spc="-11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(wrapped)</a:t>
            </a:r>
            <a:endParaRPr lang="en-US" altLang="zh-CN" sz="24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9A7339E-B222-D06E-4178-B02A600C50E9}"/>
              </a:ext>
            </a:extLst>
          </p:cNvPr>
          <p:cNvCxnSpPr>
            <a:cxnSpLocks/>
            <a:stCxn id="28" idx="3"/>
            <a:endCxn id="27" idx="1"/>
          </p:cNvCxnSpPr>
          <p:nvPr/>
        </p:nvCxnSpPr>
        <p:spPr>
          <a:xfrm>
            <a:off x="7852950" y="5341446"/>
            <a:ext cx="1219460" cy="1329194"/>
          </a:xfrm>
          <a:prstGeom prst="straightConnector1">
            <a:avLst/>
          </a:prstGeom>
          <a:ln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76DA4749-1067-AC77-20DE-40A528A18342}"/>
              </a:ext>
            </a:extLst>
          </p:cNvPr>
          <p:cNvSpPr txBox="1"/>
          <p:nvPr/>
        </p:nvSpPr>
        <p:spPr>
          <a:xfrm>
            <a:off x="14084254" y="3273103"/>
            <a:ext cx="3082760" cy="73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eaLnBrk="0">
              <a:lnSpc>
                <a:spcPct val="99000"/>
              </a:lnSpc>
              <a:spcBef>
                <a:spcPts val="638"/>
              </a:spcBef>
            </a:pPr>
            <a:r>
              <a:rPr lang="zh-CN" altLang="en-US" sz="21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量化误差巨大，失真严重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F49B02D-3FA4-ECDB-F8D6-994811A1065D}"/>
              </a:ext>
            </a:extLst>
          </p:cNvPr>
          <p:cNvSpPr txBox="1"/>
          <p:nvPr/>
        </p:nvSpPr>
        <p:spPr>
          <a:xfrm>
            <a:off x="14084254" y="4075377"/>
            <a:ext cx="2916355" cy="73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l" rtl="0" eaLnBrk="0">
              <a:lnSpc>
                <a:spcPct val="99000"/>
              </a:lnSpc>
              <a:spcBef>
                <a:spcPts val="638"/>
              </a:spcBef>
            </a:pPr>
            <a:r>
              <a:rPr lang="zh-CN" altLang="en-US" sz="21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菲涅尔跳变边界出现成圈伪影 放弃平滑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AB2981B-0033-7890-546C-94114A456B5A}"/>
              </a:ext>
            </a:extLst>
          </p:cNvPr>
          <p:cNvSpPr/>
          <p:nvPr/>
        </p:nvSpPr>
        <p:spPr>
          <a:xfrm>
            <a:off x="9738313" y="8540418"/>
            <a:ext cx="1947999" cy="96128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 eaLnBrk="0">
              <a:lnSpc>
                <a:spcPct val="97000"/>
              </a:lnSpc>
            </a:pPr>
            <a:r>
              <a:rPr lang="zh-CN" altLang="en-US" b="1" dirty="0"/>
              <a:t>离散板投影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E83C8A0-252A-317A-57F0-A3CAC1907247}"/>
              </a:ext>
            </a:extLst>
          </p:cNvPr>
          <p:cNvSpPr/>
          <p:nvPr/>
        </p:nvSpPr>
        <p:spPr>
          <a:xfrm>
            <a:off x="14223117" y="6187152"/>
            <a:ext cx="1947999" cy="96128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lang="zh-CN" altLang="zh-CN" b="1" dirty="0"/>
              <a:t>全局偏移</a:t>
            </a:r>
            <a:endParaRPr lang="zh-CN" altLang="zh-CN" dirty="0">
              <a:effectLst/>
            </a:endParaRPr>
          </a:p>
        </p:txBody>
      </p:sp>
      <p:sp>
        <p:nvSpPr>
          <p:cNvPr id="2097162" name="矩形: 圆角 2097161">
            <a:extLst>
              <a:ext uri="{FF2B5EF4-FFF2-40B4-BE49-F238E27FC236}">
                <a16:creationId xmlns:a16="http://schemas.microsoft.com/office/drawing/2014/main" id="{AA46BA38-1852-9418-9537-A8C335CC2CE3}"/>
              </a:ext>
            </a:extLst>
          </p:cNvPr>
          <p:cNvSpPr/>
          <p:nvPr/>
        </p:nvSpPr>
        <p:spPr>
          <a:xfrm>
            <a:off x="14223117" y="8541267"/>
            <a:ext cx="1947999" cy="96128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lang="zh-CN" altLang="en-US" b="1" dirty="0"/>
              <a:t>误差扩散量化</a:t>
            </a:r>
            <a:endParaRPr lang="zh-CN" altLang="zh-CN" dirty="0">
              <a:effectLst/>
            </a:endParaRPr>
          </a:p>
        </p:txBody>
      </p:sp>
      <p:cxnSp>
        <p:nvCxnSpPr>
          <p:cNvPr id="2097165" name="直接箭头连接符 2097164">
            <a:extLst>
              <a:ext uri="{FF2B5EF4-FFF2-40B4-BE49-F238E27FC236}">
                <a16:creationId xmlns:a16="http://schemas.microsoft.com/office/drawing/2014/main" id="{53566F37-EA9A-C0AE-888C-F7457E60D4F8}"/>
              </a:ext>
            </a:extLst>
          </p:cNvPr>
          <p:cNvCxnSpPr>
            <a:stCxn id="27" idx="3"/>
            <a:endCxn id="56" idx="1"/>
          </p:cNvCxnSpPr>
          <p:nvPr/>
        </p:nvCxnSpPr>
        <p:spPr>
          <a:xfrm flipV="1">
            <a:off x="12921781" y="6667793"/>
            <a:ext cx="1301336" cy="2847"/>
          </a:xfrm>
          <a:prstGeom prst="straightConnector1">
            <a:avLst/>
          </a:prstGeom>
          <a:ln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7167" name="直接箭头连接符 2097166">
            <a:extLst>
              <a:ext uri="{FF2B5EF4-FFF2-40B4-BE49-F238E27FC236}">
                <a16:creationId xmlns:a16="http://schemas.microsoft.com/office/drawing/2014/main" id="{B8B2CB0D-0FB4-C97D-0AC1-6CDB574AB241}"/>
              </a:ext>
            </a:extLst>
          </p:cNvPr>
          <p:cNvCxnSpPr>
            <a:cxnSpLocks/>
            <a:stCxn id="56" idx="2"/>
            <a:endCxn id="2097162" idx="0"/>
          </p:cNvCxnSpPr>
          <p:nvPr/>
        </p:nvCxnSpPr>
        <p:spPr>
          <a:xfrm>
            <a:off x="15197117" y="7148433"/>
            <a:ext cx="0" cy="1392834"/>
          </a:xfrm>
          <a:prstGeom prst="straightConnector1">
            <a:avLst/>
          </a:prstGeom>
          <a:ln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7169" name="直接箭头连接符 2097168">
            <a:extLst>
              <a:ext uri="{FF2B5EF4-FFF2-40B4-BE49-F238E27FC236}">
                <a16:creationId xmlns:a16="http://schemas.microsoft.com/office/drawing/2014/main" id="{6AEE4D1C-CDDC-8487-FEF1-0CD570A3C8CE}"/>
              </a:ext>
            </a:extLst>
          </p:cNvPr>
          <p:cNvCxnSpPr>
            <a:cxnSpLocks/>
            <a:stCxn id="2097162" idx="1"/>
            <a:endCxn id="51" idx="3"/>
          </p:cNvCxnSpPr>
          <p:nvPr/>
        </p:nvCxnSpPr>
        <p:spPr>
          <a:xfrm flipH="1" flipV="1">
            <a:off x="11686312" y="9021059"/>
            <a:ext cx="2536805" cy="849"/>
          </a:xfrm>
          <a:prstGeom prst="straightConnector1">
            <a:avLst/>
          </a:prstGeom>
          <a:ln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70" name="图片 2097169">
            <a:extLst>
              <a:ext uri="{FF2B5EF4-FFF2-40B4-BE49-F238E27FC236}">
                <a16:creationId xmlns:a16="http://schemas.microsoft.com/office/drawing/2014/main" id="{B9F99456-6404-4ED0-B86F-5B58BA2B7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1303" y="6856702"/>
            <a:ext cx="2623374" cy="2356138"/>
          </a:xfrm>
          <a:prstGeom prst="rect">
            <a:avLst/>
          </a:prstGeom>
        </p:spPr>
      </p:pic>
      <p:pic>
        <p:nvPicPr>
          <p:cNvPr id="2097171" name="图片 2097170">
            <a:extLst>
              <a:ext uri="{FF2B5EF4-FFF2-40B4-BE49-F238E27FC236}">
                <a16:creationId xmlns:a16="http://schemas.microsoft.com/office/drawing/2014/main" id="{94644A56-2559-421D-9FFA-E0168E9FDE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752644"/>
            <a:ext cx="2807698" cy="2564255"/>
          </a:xfrm>
          <a:prstGeom prst="rect">
            <a:avLst/>
          </a:prstGeom>
        </p:spPr>
      </p:pic>
      <p:sp>
        <p:nvSpPr>
          <p:cNvPr id="2097172" name="禁止符 2097171">
            <a:extLst>
              <a:ext uri="{FF2B5EF4-FFF2-40B4-BE49-F238E27FC236}">
                <a16:creationId xmlns:a16="http://schemas.microsoft.com/office/drawing/2014/main" id="{67C1ACB4-D16F-8ABD-0389-745CD2FF6437}"/>
              </a:ext>
            </a:extLst>
          </p:cNvPr>
          <p:cNvSpPr/>
          <p:nvPr/>
        </p:nvSpPr>
        <p:spPr>
          <a:xfrm>
            <a:off x="13652241" y="3365142"/>
            <a:ext cx="476019" cy="527423"/>
          </a:xfrm>
          <a:prstGeom prst="noSmoking">
            <a:avLst>
              <a:gd name="adj" fmla="val 1348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97173" name="禁止符 2097172">
            <a:extLst>
              <a:ext uri="{FF2B5EF4-FFF2-40B4-BE49-F238E27FC236}">
                <a16:creationId xmlns:a16="http://schemas.microsoft.com/office/drawing/2014/main" id="{5331562C-35F5-60AB-ED51-A93C6D31A5CC}"/>
              </a:ext>
            </a:extLst>
          </p:cNvPr>
          <p:cNvSpPr/>
          <p:nvPr/>
        </p:nvSpPr>
        <p:spPr>
          <a:xfrm>
            <a:off x="13646387" y="4190712"/>
            <a:ext cx="476019" cy="527423"/>
          </a:xfrm>
          <a:prstGeom prst="noSmoking">
            <a:avLst>
              <a:gd name="adj" fmla="val 1348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97174" name="禁止符 2097173">
            <a:extLst>
              <a:ext uri="{FF2B5EF4-FFF2-40B4-BE49-F238E27FC236}">
                <a16:creationId xmlns:a16="http://schemas.microsoft.com/office/drawing/2014/main" id="{10359F4B-74FE-6C69-51F3-B2CC5F1D04BD}"/>
              </a:ext>
            </a:extLst>
          </p:cNvPr>
          <p:cNvSpPr/>
          <p:nvPr/>
        </p:nvSpPr>
        <p:spPr>
          <a:xfrm>
            <a:off x="13646388" y="5030343"/>
            <a:ext cx="476019" cy="527423"/>
          </a:xfrm>
          <a:prstGeom prst="noSmoking">
            <a:avLst>
              <a:gd name="adj" fmla="val 1348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97176" name="直接箭头连接符 2097175">
            <a:extLst>
              <a:ext uri="{FF2B5EF4-FFF2-40B4-BE49-F238E27FC236}">
                <a16:creationId xmlns:a16="http://schemas.microsoft.com/office/drawing/2014/main" id="{78D18983-8D6B-7EA6-4C68-38C4D9E40997}"/>
              </a:ext>
            </a:extLst>
          </p:cNvPr>
          <p:cNvCxnSpPr>
            <a:cxnSpLocks/>
            <a:stCxn id="24" idx="3"/>
            <a:endCxn id="2097172" idx="2"/>
          </p:cNvCxnSpPr>
          <p:nvPr/>
        </p:nvCxnSpPr>
        <p:spPr>
          <a:xfrm>
            <a:off x="12903207" y="3626038"/>
            <a:ext cx="749034" cy="2816"/>
          </a:xfrm>
          <a:prstGeom prst="straightConnector1">
            <a:avLst/>
          </a:prstGeom>
          <a:ln w="38100" cap="rnd">
            <a:solidFill>
              <a:srgbClr val="76717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7178" name="直接箭头连接符 2097177">
            <a:extLst>
              <a:ext uri="{FF2B5EF4-FFF2-40B4-BE49-F238E27FC236}">
                <a16:creationId xmlns:a16="http://schemas.microsoft.com/office/drawing/2014/main" id="{50CABCC3-19AA-F949-AE5B-15042C205BD1}"/>
              </a:ext>
            </a:extLst>
          </p:cNvPr>
          <p:cNvCxnSpPr>
            <a:stCxn id="25" idx="3"/>
            <a:endCxn id="2097173" idx="2"/>
          </p:cNvCxnSpPr>
          <p:nvPr/>
        </p:nvCxnSpPr>
        <p:spPr>
          <a:xfrm>
            <a:off x="12903207" y="4445570"/>
            <a:ext cx="743180" cy="8854"/>
          </a:xfrm>
          <a:prstGeom prst="straightConnector1">
            <a:avLst/>
          </a:prstGeom>
          <a:ln w="38100" cap="rnd">
            <a:solidFill>
              <a:srgbClr val="76717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7180" name="直接箭头连接符 2097179">
            <a:extLst>
              <a:ext uri="{FF2B5EF4-FFF2-40B4-BE49-F238E27FC236}">
                <a16:creationId xmlns:a16="http://schemas.microsoft.com/office/drawing/2014/main" id="{D45A5703-19BC-6F33-3FB7-5EE7E52CFD9F}"/>
              </a:ext>
            </a:extLst>
          </p:cNvPr>
          <p:cNvCxnSpPr>
            <a:cxnSpLocks/>
            <a:stCxn id="26" idx="3"/>
            <a:endCxn id="2097174" idx="2"/>
          </p:cNvCxnSpPr>
          <p:nvPr/>
        </p:nvCxnSpPr>
        <p:spPr>
          <a:xfrm>
            <a:off x="12917504" y="5284462"/>
            <a:ext cx="728884" cy="9593"/>
          </a:xfrm>
          <a:prstGeom prst="straightConnector1">
            <a:avLst/>
          </a:prstGeom>
          <a:ln w="38100" cap="rnd">
            <a:solidFill>
              <a:srgbClr val="76717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0D1C0E2-D1D1-D9E8-29C0-B1A02B02B964}"/>
              </a:ext>
            </a:extLst>
          </p:cNvPr>
          <p:cNvSpPr/>
          <p:nvPr/>
        </p:nvSpPr>
        <p:spPr>
          <a:xfrm>
            <a:off x="5943606" y="4807629"/>
            <a:ext cx="1909344" cy="106763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kern="0" spc="20" dirty="0">
                <a:solidFill>
                  <a:srgbClr val="2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理想连续相位</a:t>
            </a:r>
            <a:endParaRPr lang="zh-CN" altLang="en-US" sz="2800" dirty="0"/>
          </a:p>
        </p:txBody>
      </p:sp>
      <p:graphicFrame>
        <p:nvGraphicFramePr>
          <p:cNvPr id="31" name="图示 30">
            <a:extLst>
              <a:ext uri="{FF2B5EF4-FFF2-40B4-BE49-F238E27FC236}">
                <a16:creationId xmlns:a16="http://schemas.microsoft.com/office/drawing/2014/main" id="{C934DCFC-99E0-5991-87EC-2A7226603B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8358722"/>
              </p:ext>
            </p:extLst>
          </p:nvPr>
        </p:nvGraphicFramePr>
        <p:xfrm>
          <a:off x="-182182" y="3627654"/>
          <a:ext cx="5924739" cy="2559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58" name="组合 57">
            <a:extLst>
              <a:ext uri="{FF2B5EF4-FFF2-40B4-BE49-F238E27FC236}">
                <a16:creationId xmlns:a16="http://schemas.microsoft.com/office/drawing/2014/main" id="{0FCB73FE-9577-3271-E975-D71BD6EC9C07}"/>
              </a:ext>
            </a:extLst>
          </p:cNvPr>
          <p:cNvGrpSpPr/>
          <p:nvPr/>
        </p:nvGrpSpPr>
        <p:grpSpPr>
          <a:xfrm>
            <a:off x="200632" y="2818659"/>
            <a:ext cx="6425866" cy="596178"/>
            <a:chOff x="1559894" y="7225627"/>
            <a:chExt cx="6425866" cy="596178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869E42F-8BE5-925E-7C0E-457C414A554F}"/>
                </a:ext>
              </a:extLst>
            </p:cNvPr>
            <p:cNvSpPr/>
            <p:nvPr/>
          </p:nvSpPr>
          <p:spPr>
            <a:xfrm>
              <a:off x="1559894" y="7228080"/>
              <a:ext cx="1636295" cy="5937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相位</a:t>
              </a: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693EB4DA-B4C1-25CA-28E9-E1549F008137}"/>
                </a:ext>
              </a:extLst>
            </p:cNvPr>
            <p:cNvSpPr/>
            <p:nvPr/>
          </p:nvSpPr>
          <p:spPr>
            <a:xfrm>
              <a:off x="3978745" y="7228080"/>
              <a:ext cx="1636295" cy="5937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连续厚度</a:t>
              </a: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1D3D88E5-97D6-8B59-0ED9-F3A429D86ACF}"/>
                </a:ext>
              </a:extLst>
            </p:cNvPr>
            <p:cNvSpPr/>
            <p:nvPr/>
          </p:nvSpPr>
          <p:spPr>
            <a:xfrm>
              <a:off x="6349465" y="7225627"/>
              <a:ext cx="1636295" cy="5937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离散厚度</a:t>
              </a: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451A79D7-2043-8EDD-E292-2F0DD95AED4C}"/>
                </a:ext>
              </a:extLst>
            </p:cNvPr>
            <p:cNvCxnSpPr>
              <a:cxnSpLocks/>
              <a:stCxn id="36" idx="3"/>
              <a:endCxn id="37" idx="1"/>
            </p:cNvCxnSpPr>
            <p:nvPr/>
          </p:nvCxnSpPr>
          <p:spPr>
            <a:xfrm>
              <a:off x="3196189" y="7524943"/>
              <a:ext cx="782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79B132A1-1491-68D9-3D8E-71A551E78420}"/>
                </a:ext>
              </a:extLst>
            </p:cNvPr>
            <p:cNvCxnSpPr>
              <a:cxnSpLocks/>
              <a:stCxn id="37" idx="3"/>
              <a:endCxn id="38" idx="1"/>
            </p:cNvCxnSpPr>
            <p:nvPr/>
          </p:nvCxnSpPr>
          <p:spPr>
            <a:xfrm flipV="1">
              <a:off x="5615040" y="7522490"/>
              <a:ext cx="734425" cy="24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26BDF00F-2CAC-386A-CF7F-8C4BD130A0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9"/>
          <a:stretch>
            <a:fillRect/>
          </a:stretch>
        </p:blipFill>
        <p:spPr>
          <a:xfrm>
            <a:off x="13241323" y="4605536"/>
            <a:ext cx="2873716" cy="25773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4C339CE-31ED-3B90-B855-F7366F85B16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29"/>
          <a:stretch>
            <a:fillRect/>
          </a:stretch>
        </p:blipFill>
        <p:spPr>
          <a:xfrm>
            <a:off x="10081241" y="2011170"/>
            <a:ext cx="2873716" cy="256460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CA04771-1EB7-22F0-EB61-9049251BD16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72"/>
          <a:stretch>
            <a:fillRect/>
          </a:stretch>
        </p:blipFill>
        <p:spPr>
          <a:xfrm>
            <a:off x="13241323" y="2023008"/>
            <a:ext cx="2873716" cy="258275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1729466-89C5-D214-2844-3EEEC2791BD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36"/>
          <a:stretch>
            <a:fillRect/>
          </a:stretch>
        </p:blipFill>
        <p:spPr>
          <a:xfrm>
            <a:off x="10081241" y="4616847"/>
            <a:ext cx="2873716" cy="2547823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C36B91C-3EA9-A3D8-6873-7D87AC07B4FC}"/>
              </a:ext>
            </a:extLst>
          </p:cNvPr>
          <p:cNvCxnSpPr>
            <a:cxnSpLocks/>
          </p:cNvCxnSpPr>
          <p:nvPr/>
        </p:nvCxnSpPr>
        <p:spPr>
          <a:xfrm>
            <a:off x="13620329" y="476250"/>
            <a:ext cx="3842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96;p14">
            <a:extLst>
              <a:ext uri="{FF2B5EF4-FFF2-40B4-BE49-F238E27FC236}">
                <a16:creationId xmlns:a16="http://schemas.microsoft.com/office/drawing/2014/main" id="{8C13362A-74ED-E300-E5A8-C7E44074BD68}"/>
              </a:ext>
            </a:extLst>
          </p:cNvPr>
          <p:cNvSpPr txBox="1"/>
          <p:nvPr/>
        </p:nvSpPr>
        <p:spPr>
          <a:xfrm>
            <a:off x="571500" y="476252"/>
            <a:ext cx="717042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阶段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4: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 从声场仿真到热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-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固化评价闭环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7C6CB99-28EE-7D43-6368-B74390AE5F3E}"/>
              </a:ext>
            </a:extLst>
          </p:cNvPr>
          <p:cNvSpPr/>
          <p:nvPr/>
        </p:nvSpPr>
        <p:spPr>
          <a:xfrm>
            <a:off x="1610360" y="1003096"/>
            <a:ext cx="5658788" cy="10153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>
              <a:lnSpc>
                <a:spcPct val="71321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12700" algn="ctr" eaLnBrk="0">
              <a:lnSpc>
                <a:spcPct val="98000"/>
              </a:lnSpc>
            </a:pPr>
            <a:r>
              <a:rPr lang="zh-CN" altLang="en-US"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过去</a:t>
            </a:r>
            <a:endParaRPr lang="en-US" altLang="zh-CN" sz="2600" kern="0" spc="10" dirty="0">
              <a:solidFill>
                <a:srgbClr val="000000">
                  <a:alpha val="100000"/>
                </a:srgbClr>
              </a:solidFill>
              <a:latin typeface="SimHei"/>
              <a:ea typeface="SimHei"/>
            </a:endParaRPr>
          </a:p>
          <a:p>
            <a:pPr marL="12700" algn="ctr" eaLnBrk="0">
              <a:lnSpc>
                <a:spcPct val="98000"/>
              </a:lnSpc>
            </a:pPr>
            <a:r>
              <a:rPr lang="zh-CN" altLang="en-US"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声压分布“看起来像不像”目标</a:t>
            </a:r>
            <a:r>
              <a:rPr lang="en-US" altLang="zh-CN"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?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C389F32-8458-1AFD-9C83-9BA440B5C0E9}"/>
              </a:ext>
            </a:extLst>
          </p:cNvPr>
          <p:cNvSpPr/>
          <p:nvPr/>
        </p:nvSpPr>
        <p:spPr>
          <a:xfrm>
            <a:off x="9029664" y="1003096"/>
            <a:ext cx="7721600" cy="10153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>
              <a:lnSpc>
                <a:spcPct val="71321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eaLnBrk="0">
              <a:lnSpc>
                <a:spcPct val="86007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12700" algn="ctr" eaLnBrk="0">
              <a:lnSpc>
                <a:spcPct val="97000"/>
              </a:lnSpc>
            </a:pPr>
            <a:r>
              <a:rPr lang="zh-CN" altLang="en-US" sz="2600" kern="0" spc="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现在</a:t>
            </a:r>
            <a:endParaRPr lang="zh-CN" altLang="en-US" sz="2600" dirty="0">
              <a:latin typeface="SimHei"/>
              <a:ea typeface="SimHei"/>
              <a:cs typeface="SimHei"/>
            </a:endParaRPr>
          </a:p>
          <a:p>
            <a:pPr marL="18415" algn="r" eaLnBrk="0">
              <a:lnSpc>
                <a:spcPct val="94000"/>
              </a:lnSpc>
              <a:spcBef>
                <a:spcPts val="242"/>
              </a:spcBef>
            </a:pPr>
            <a:r>
              <a:rPr lang="zh-CN" altLang="en-US"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基于热学，最终“固化出来</a:t>
            </a:r>
            <a:r>
              <a:rPr lang="zh-CN" altLang="en-US" sz="2600" kern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的实体对不对”</a:t>
            </a:r>
            <a:r>
              <a:rPr lang="en-US" altLang="zh-CN" sz="2600" kern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lang="zh-CN" altLang="en-US" sz="26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774DD16-7512-098C-6C42-7216591557D0}"/>
              </a:ext>
            </a:extLst>
          </p:cNvPr>
          <p:cNvSpPr/>
          <p:nvPr/>
        </p:nvSpPr>
        <p:spPr>
          <a:xfrm>
            <a:off x="6896698" y="1235879"/>
            <a:ext cx="2586446" cy="493997"/>
          </a:xfrm>
          <a:prstGeom prst="rightArrow">
            <a:avLst/>
          </a:prstGeom>
          <a:gradFill flip="none" rotWithShape="1">
            <a:gsLst>
              <a:gs pos="31000">
                <a:srgbClr val="B4C7E7"/>
              </a:gs>
              <a:gs pos="1000">
                <a:srgbClr val="B4C7E7">
                  <a:alpha val="20000"/>
                </a:srgbClr>
              </a:gs>
              <a:gs pos="71000">
                <a:srgbClr val="C5E0B4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D3FA8D62-3C86-5750-6A7F-86B0A072D7A9}"/>
              </a:ext>
            </a:extLst>
          </p:cNvPr>
          <p:cNvSpPr/>
          <p:nvPr/>
        </p:nvSpPr>
        <p:spPr>
          <a:xfrm>
            <a:off x="3073635" y="2157415"/>
            <a:ext cx="3213463" cy="1015385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 eaLnBrk="0">
              <a:lnSpc>
                <a:spcPct val="98000"/>
              </a:lnSpc>
            </a:pPr>
            <a:r>
              <a:rPr lang="en-US" altLang="zh-CN" sz="2600" b="1" kern="0" spc="-80" dirty="0">
                <a:solidFill>
                  <a:schemeClr val="bg1"/>
                </a:solidFill>
                <a:latin typeface="SimHei"/>
                <a:ea typeface="SimHei"/>
              </a:rPr>
              <a:t>3D</a:t>
            </a:r>
            <a:r>
              <a:rPr lang="zh-CN" altLang="en-US" sz="2600" b="1" kern="0" spc="-80" dirty="0">
                <a:solidFill>
                  <a:schemeClr val="bg1"/>
                </a:solidFill>
                <a:latin typeface="SimHei"/>
                <a:ea typeface="SimHei"/>
              </a:rPr>
              <a:t> 声场仿真</a:t>
            </a:r>
          </a:p>
          <a:p>
            <a:pPr marL="209550" algn="ctr" eaLnBrk="0">
              <a:lnSpc>
                <a:spcPct val="98000"/>
              </a:lnSpc>
              <a:spcBef>
                <a:spcPts val="408"/>
              </a:spcBef>
            </a:pP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(</a:t>
            </a:r>
            <a:r>
              <a:rPr lang="zh-CN" altLang="en-US" sz="2000" kern="0" spc="120" dirty="0">
                <a:solidFill>
                  <a:schemeClr val="bg1"/>
                </a:solidFill>
                <a:latin typeface="SimHei"/>
                <a:ea typeface="SimHei"/>
              </a:rPr>
              <a:t>物理传播</a:t>
            </a: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)</a:t>
            </a:r>
            <a:endParaRPr lang="zh-CN" altLang="en-US" dirty="0"/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161F7C31-124B-0905-5A7B-7E4D583B3411}"/>
              </a:ext>
            </a:extLst>
          </p:cNvPr>
          <p:cNvSpPr/>
          <p:nvPr/>
        </p:nvSpPr>
        <p:spPr>
          <a:xfrm>
            <a:off x="3023627" y="5711565"/>
            <a:ext cx="3313477" cy="894868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>
              <a:lnSpc>
                <a:spcPct val="81439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97000"/>
              </a:lnSpc>
            </a:pPr>
            <a:r>
              <a:rPr lang="en-US" altLang="zh-CN" sz="2600" b="1" kern="0" spc="-80" dirty="0">
                <a:solidFill>
                  <a:schemeClr val="bg1"/>
                </a:solidFill>
                <a:latin typeface="SimHei"/>
                <a:ea typeface="SimHei"/>
              </a:rPr>
              <a:t>Arrhenius</a:t>
            </a:r>
            <a:r>
              <a:rPr lang="zh-CN" altLang="en-US" sz="2600" b="1" kern="0" spc="-80" dirty="0">
                <a:solidFill>
                  <a:schemeClr val="bg1"/>
                </a:solidFill>
                <a:latin typeface="SimHei"/>
                <a:ea typeface="SimHei"/>
              </a:rPr>
              <a:t>动力学</a:t>
            </a:r>
          </a:p>
          <a:p>
            <a:pPr marL="337820" eaLnBrk="0">
              <a:lnSpc>
                <a:spcPct val="98000"/>
              </a:lnSpc>
              <a:spcBef>
                <a:spcPts val="631"/>
              </a:spcBef>
            </a:pP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(</a:t>
            </a:r>
            <a:r>
              <a:rPr lang="zh-CN" altLang="en-US" sz="2000" kern="0" spc="120" dirty="0">
                <a:solidFill>
                  <a:schemeClr val="bg1"/>
                </a:solidFill>
                <a:latin typeface="SimHei"/>
                <a:ea typeface="SimHei"/>
              </a:rPr>
              <a:t>固化阈值判定</a:t>
            </a: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)</a:t>
            </a:r>
            <a:endParaRPr lang="zh-CN" altLang="en-US" sz="2000" kern="0" spc="120" dirty="0">
              <a:solidFill>
                <a:schemeClr val="bg1"/>
              </a:solidFill>
              <a:latin typeface="SimHei"/>
              <a:ea typeface="SimHei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45B2BFB4-6B5C-9B96-5E38-A7EE591A0759}"/>
              </a:ext>
            </a:extLst>
          </p:cNvPr>
          <p:cNvSpPr/>
          <p:nvPr/>
        </p:nvSpPr>
        <p:spPr>
          <a:xfrm>
            <a:off x="125033" y="4035412"/>
            <a:ext cx="4431727" cy="894868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>
              <a:lnSpc>
                <a:spcPct val="94474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728344" eaLnBrk="0">
              <a:lnSpc>
                <a:spcPct val="97000"/>
              </a:lnSpc>
            </a:pPr>
            <a:r>
              <a:rPr lang="zh-CN" altLang="en-US" sz="2600" b="1" kern="0" spc="-80" dirty="0">
                <a:solidFill>
                  <a:schemeClr val="bg1"/>
                </a:solidFill>
                <a:latin typeface="SimHei"/>
                <a:ea typeface="SimHei"/>
              </a:rPr>
              <a:t>图案形貌评估</a:t>
            </a:r>
          </a:p>
          <a:p>
            <a:pPr marL="12700" algn="ctr" eaLnBrk="0">
              <a:lnSpc>
                <a:spcPct val="94000"/>
              </a:lnSpc>
              <a:spcBef>
                <a:spcPts val="504"/>
              </a:spcBef>
            </a:pP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(IoU</a:t>
            </a:r>
            <a:r>
              <a:rPr lang="zh-CN" altLang="en-US" sz="2000" kern="0" spc="120" dirty="0">
                <a:solidFill>
                  <a:schemeClr val="bg1"/>
                </a:solidFill>
                <a:latin typeface="SimHei"/>
                <a:ea typeface="SimHei"/>
              </a:rPr>
              <a:t>、</a:t>
            </a: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DICE,</a:t>
            </a:r>
            <a:r>
              <a:rPr lang="zh-CN" altLang="en-US" sz="2000" kern="0" spc="120" dirty="0">
                <a:solidFill>
                  <a:schemeClr val="bg1"/>
                </a:solidFill>
                <a:latin typeface="SimHei"/>
                <a:ea typeface="SimHei"/>
              </a:rPr>
              <a:t>过</a:t>
            </a: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/</a:t>
            </a:r>
            <a:r>
              <a:rPr lang="zh-CN" altLang="en-US" sz="2000" kern="0" spc="120" dirty="0">
                <a:solidFill>
                  <a:schemeClr val="bg1"/>
                </a:solidFill>
                <a:latin typeface="SimHei"/>
                <a:ea typeface="SimHei"/>
              </a:rPr>
              <a:t>欠固化分析</a:t>
            </a: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)</a:t>
            </a:r>
            <a:endParaRPr lang="zh-CN" altLang="en-US" sz="2000" kern="0" spc="120" dirty="0">
              <a:solidFill>
                <a:schemeClr val="bg1"/>
              </a:solidFill>
              <a:latin typeface="SimHei"/>
              <a:ea typeface="SimHei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B6FC8617-2242-BB87-5FFF-E5A782D34024}"/>
              </a:ext>
            </a:extLst>
          </p:cNvPr>
          <p:cNvSpPr/>
          <p:nvPr/>
        </p:nvSpPr>
        <p:spPr>
          <a:xfrm>
            <a:off x="5243147" y="4035412"/>
            <a:ext cx="4212281" cy="894868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>
              <a:lnSpc>
                <a:spcPct val="94474"/>
              </a:lnSpc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75564" algn="ctr" eaLnBrk="0">
              <a:lnSpc>
                <a:spcPct val="97000"/>
              </a:lnSpc>
            </a:pPr>
            <a:r>
              <a:rPr lang="en-US" altLang="zh-CN" sz="2600" b="1" kern="0" spc="-80" dirty="0">
                <a:solidFill>
                  <a:schemeClr val="bg1"/>
                </a:solidFill>
                <a:latin typeface="SimHei"/>
                <a:ea typeface="SimHei"/>
              </a:rPr>
              <a:t>3D</a:t>
            </a:r>
            <a:r>
              <a:rPr lang="zh-CN" altLang="en-US" sz="2600" b="1" kern="0" spc="-80" dirty="0">
                <a:solidFill>
                  <a:schemeClr val="bg1"/>
                </a:solidFill>
                <a:latin typeface="SimHei"/>
                <a:ea typeface="SimHei"/>
              </a:rPr>
              <a:t> 热扩散计算</a:t>
            </a:r>
          </a:p>
          <a:p>
            <a:pPr marL="12700" algn="ctr" eaLnBrk="0">
              <a:lnSpc>
                <a:spcPct val="97000"/>
              </a:lnSpc>
              <a:spcBef>
                <a:spcPts val="635"/>
              </a:spcBef>
            </a:pP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(</a:t>
            </a:r>
            <a:r>
              <a:rPr lang="zh-CN" altLang="en-US" sz="2000" kern="0" spc="120" dirty="0">
                <a:solidFill>
                  <a:schemeClr val="bg1"/>
                </a:solidFill>
                <a:latin typeface="SimHei"/>
                <a:ea typeface="SimHei"/>
              </a:rPr>
              <a:t>温度场时空演化</a:t>
            </a:r>
            <a:r>
              <a:rPr lang="en-US" altLang="zh-CN" sz="2000" kern="0" spc="120" dirty="0">
                <a:solidFill>
                  <a:schemeClr val="bg1"/>
                </a:solidFill>
                <a:latin typeface="SimHei"/>
                <a:ea typeface="SimHei"/>
              </a:rPr>
              <a:t>)</a:t>
            </a:r>
            <a:endParaRPr lang="zh-CN" altLang="en-US" sz="2000" kern="0" spc="120" dirty="0">
              <a:solidFill>
                <a:schemeClr val="bg1"/>
              </a:solidFill>
              <a:latin typeface="SimHei"/>
              <a:ea typeface="SimHei"/>
            </a:endParaRPr>
          </a:p>
        </p:txBody>
      </p: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F3A6C870-3F23-E788-443A-5CE1370DFA1E}"/>
              </a:ext>
            </a:extLst>
          </p:cNvPr>
          <p:cNvCxnSpPr>
            <a:stCxn id="11" idx="0"/>
          </p:cNvCxnSpPr>
          <p:nvPr/>
        </p:nvCxnSpPr>
        <p:spPr>
          <a:xfrm>
            <a:off x="6287098" y="2665108"/>
            <a:ext cx="838597" cy="1368000"/>
          </a:xfrm>
          <a:prstGeom prst="curvedConnector2">
            <a:avLst/>
          </a:prstGeom>
          <a:ln w="2286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AA5F9569-EE53-53D9-ECA7-1613E0C5405A}"/>
              </a:ext>
            </a:extLst>
          </p:cNvPr>
          <p:cNvCxnSpPr>
            <a:endCxn id="12" idx="0"/>
          </p:cNvCxnSpPr>
          <p:nvPr/>
        </p:nvCxnSpPr>
        <p:spPr>
          <a:xfrm rot="5400000">
            <a:off x="6117041" y="5150344"/>
            <a:ext cx="1228719" cy="788591"/>
          </a:xfrm>
          <a:prstGeom prst="curvedConnector2">
            <a:avLst/>
          </a:prstGeom>
          <a:ln w="2286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C62FDB6B-43D2-7633-DEB9-4D0BB72DDF14}"/>
              </a:ext>
            </a:extLst>
          </p:cNvPr>
          <p:cNvCxnSpPr>
            <a:stCxn id="12" idx="3"/>
          </p:cNvCxnSpPr>
          <p:nvPr/>
        </p:nvCxnSpPr>
        <p:spPr>
          <a:xfrm rot="10800000">
            <a:off x="2235037" y="4930281"/>
            <a:ext cx="788591" cy="1228719"/>
          </a:xfrm>
          <a:prstGeom prst="curvedConnector2">
            <a:avLst/>
          </a:prstGeom>
          <a:ln w="2286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2BB809E1-B520-0537-4D09-3809F5BD2E9E}"/>
              </a:ext>
            </a:extLst>
          </p:cNvPr>
          <p:cNvCxnSpPr>
            <a:endCxn id="11" idx="3"/>
          </p:cNvCxnSpPr>
          <p:nvPr/>
        </p:nvCxnSpPr>
        <p:spPr>
          <a:xfrm rot="5400000" flipH="1" flipV="1">
            <a:off x="1949009" y="2908482"/>
            <a:ext cx="1368000" cy="881252"/>
          </a:xfrm>
          <a:prstGeom prst="curvedConnector2">
            <a:avLst/>
          </a:prstGeom>
          <a:ln w="203200">
            <a:solidFill>
              <a:schemeClr val="tx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104191B6-A757-4A05-6F5C-809C2F689D80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942" y="7875121"/>
            <a:ext cx="1800000" cy="180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38AFCAF-4175-BE9B-2CFF-16144640A3A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931206" y="7882137"/>
            <a:ext cx="1800000" cy="180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00E8FF-24A6-5AF3-7F40-FFF03C0CB2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753" y="7882137"/>
            <a:ext cx="1800000" cy="18000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DE989C55-B16C-F205-A1DE-067CB585F808}"/>
              </a:ext>
            </a:extLst>
          </p:cNvPr>
          <p:cNvSpPr/>
          <p:nvPr/>
        </p:nvSpPr>
        <p:spPr>
          <a:xfrm>
            <a:off x="2120160" y="8754987"/>
            <a:ext cx="1808615" cy="9375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best_img_norm</a:t>
            </a:r>
            <a:r>
              <a:rPr lang="en-US" altLang="zh-CN" sz="1600" dirty="0"/>
              <a:t>&gt;</a:t>
            </a:r>
            <a:r>
              <a:rPr lang="en-US" altLang="zh-CN" sz="1600" dirty="0" err="1"/>
              <a:t>Print_Threshold</a:t>
            </a:r>
            <a:endParaRPr lang="zh-CN" altLang="en-US" sz="16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923C0BF-1078-B051-0174-36FDBAAD9FEC}"/>
              </a:ext>
            </a:extLst>
          </p:cNvPr>
          <p:cNvSpPr/>
          <p:nvPr/>
        </p:nvSpPr>
        <p:spPr>
          <a:xfrm>
            <a:off x="5731206" y="8754988"/>
            <a:ext cx="1800000" cy="937549"/>
          </a:xfrm>
          <a:prstGeom prst="roundRect">
            <a:avLst/>
          </a:prstGeom>
          <a:solidFill>
            <a:srgbClr val="8FA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T_focal_2d &gt;</a:t>
            </a:r>
            <a:r>
              <a:rPr lang="en-US" altLang="zh-CN" sz="1600" dirty="0" err="1"/>
              <a:t>Thermal_Curing_Threshold</a:t>
            </a:r>
            <a:endParaRPr lang="zh-CN" altLang="en-US" sz="16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D1745D8-CB64-8A0A-0CE7-B56A11ED43E2}"/>
              </a:ext>
            </a:extLst>
          </p:cNvPr>
          <p:cNvSpPr/>
          <p:nvPr/>
        </p:nvSpPr>
        <p:spPr>
          <a:xfrm>
            <a:off x="9363753" y="8754987"/>
            <a:ext cx="1800000" cy="937549"/>
          </a:xfrm>
          <a:prstGeom prst="roundRect">
            <a:avLst/>
          </a:prstGeom>
          <a:solidFill>
            <a:srgbClr val="8FA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Omega_final_2d &gt;</a:t>
            </a:r>
            <a:r>
              <a:rPr lang="en-US" altLang="zh-CN" sz="1600" dirty="0" err="1"/>
              <a:t>Thermal_Dose_Threshold</a:t>
            </a:r>
            <a:endParaRPr lang="zh-CN" altLang="en-US" sz="1600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5CE5DA7-EF1F-421B-88C5-75C54A4A0F45}"/>
              </a:ext>
            </a:extLst>
          </p:cNvPr>
          <p:cNvSpPr/>
          <p:nvPr/>
        </p:nvSpPr>
        <p:spPr>
          <a:xfrm>
            <a:off x="2120160" y="7667826"/>
            <a:ext cx="1808615" cy="937549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声压阈值截断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ABFC0C4-6FD8-6B16-DB67-941DEEC1C1F4}"/>
              </a:ext>
            </a:extLst>
          </p:cNvPr>
          <p:cNvSpPr/>
          <p:nvPr/>
        </p:nvSpPr>
        <p:spPr>
          <a:xfrm>
            <a:off x="5731206" y="7667826"/>
            <a:ext cx="1800000" cy="937549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温度阈值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C8B4509-71D3-A75C-5D0C-BFEECC0ED52E}"/>
              </a:ext>
            </a:extLst>
          </p:cNvPr>
          <p:cNvSpPr/>
          <p:nvPr/>
        </p:nvSpPr>
        <p:spPr>
          <a:xfrm>
            <a:off x="9363753" y="7667826"/>
            <a:ext cx="1800000" cy="937549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热剂量累积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A8114CF-C80A-69FE-7153-1C0127717FA6}"/>
              </a:ext>
            </a:extLst>
          </p:cNvPr>
          <p:cNvSpPr/>
          <p:nvPr/>
        </p:nvSpPr>
        <p:spPr>
          <a:xfrm>
            <a:off x="13555040" y="7667826"/>
            <a:ext cx="1800000" cy="937549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声空化</a:t>
            </a:r>
            <a:endParaRPr lang="en-US" altLang="zh-CN" sz="1600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841EC12-CF50-41B0-A72E-292D74E07C1A}"/>
              </a:ext>
            </a:extLst>
          </p:cNvPr>
          <p:cNvGrpSpPr/>
          <p:nvPr/>
        </p:nvGrpSpPr>
        <p:grpSpPr>
          <a:xfrm>
            <a:off x="11226243" y="8750505"/>
            <a:ext cx="6236743" cy="942030"/>
            <a:chOff x="11226243" y="9078206"/>
            <a:chExt cx="6236743" cy="675394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8484FC2-3001-6D2C-1FA8-E714D1668F63}"/>
                </a:ext>
              </a:extLst>
            </p:cNvPr>
            <p:cNvSpPr/>
            <p:nvPr/>
          </p:nvSpPr>
          <p:spPr>
            <a:xfrm>
              <a:off x="11226243" y="9078206"/>
              <a:ext cx="6236743" cy="675394"/>
            </a:xfrm>
            <a:prstGeom prst="roundRect">
              <a:avLst/>
            </a:prstGeom>
            <a:solidFill>
              <a:srgbClr val="8FAA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CBAC775A-7F8E-D8F4-C67C-F329A4D51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28" r="21252"/>
            <a:stretch>
              <a:fillRect/>
            </a:stretch>
          </p:blipFill>
          <p:spPr>
            <a:xfrm>
              <a:off x="11226243" y="9115225"/>
              <a:ext cx="6236743" cy="603931"/>
            </a:xfrm>
            <a:prstGeom prst="rect">
              <a:avLst/>
            </a:prstGeom>
          </p:spPr>
        </p:pic>
      </p:grp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95372032-5275-F493-8F82-2CE31C0605B1}"/>
              </a:ext>
            </a:extLst>
          </p:cNvPr>
          <p:cNvCxnSpPr>
            <a:stCxn id="29" idx="0"/>
            <a:endCxn id="30" idx="0"/>
          </p:cNvCxnSpPr>
          <p:nvPr/>
        </p:nvCxnSpPr>
        <p:spPr>
          <a:xfrm rot="5400000" flipH="1" flipV="1">
            <a:off x="4827837" y="5864457"/>
            <a:ext cx="12700" cy="3606738"/>
          </a:xfrm>
          <a:prstGeom prst="curvedConnector3">
            <a:avLst>
              <a:gd name="adj1" fmla="val 1800000"/>
            </a:avLst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1D8F8005-DF8B-5615-861E-6C7C150463DB}"/>
              </a:ext>
            </a:extLst>
          </p:cNvPr>
          <p:cNvCxnSpPr>
            <a:stCxn id="30" idx="0"/>
            <a:endCxn id="31" idx="0"/>
          </p:cNvCxnSpPr>
          <p:nvPr/>
        </p:nvCxnSpPr>
        <p:spPr>
          <a:xfrm rot="5400000" flipH="1" flipV="1">
            <a:off x="8447479" y="5851553"/>
            <a:ext cx="12700" cy="3632547"/>
          </a:xfrm>
          <a:prstGeom prst="curvedConnector3">
            <a:avLst>
              <a:gd name="adj1" fmla="val 1800000"/>
            </a:avLst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8F2DE31D-7B7F-8013-0A33-8BC731C5ECDC}"/>
              </a:ext>
            </a:extLst>
          </p:cNvPr>
          <p:cNvCxnSpPr>
            <a:stCxn id="31" idx="3"/>
            <a:endCxn id="36" idx="1"/>
          </p:cNvCxnSpPr>
          <p:nvPr/>
        </p:nvCxnSpPr>
        <p:spPr>
          <a:xfrm>
            <a:off x="11163753" y="8136601"/>
            <a:ext cx="2391287" cy="12700"/>
          </a:xfrm>
          <a:prstGeom prst="curvedConnector3">
            <a:avLst/>
          </a:prstGeom>
          <a:ln w="57150">
            <a:solidFill>
              <a:schemeClr val="accent1">
                <a:lumMod val="75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5F82118-ED69-E7DE-04D0-D79C8639BA41}"/>
              </a:ext>
            </a:extLst>
          </p:cNvPr>
          <p:cNvCxnSpPr/>
          <p:nvPr/>
        </p:nvCxnSpPr>
        <p:spPr>
          <a:xfrm>
            <a:off x="0" y="7182874"/>
            <a:ext cx="1747520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DD65-A397-49D3-141D-B6D93A3A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735" name="图片 1048734">
            <a:extLst>
              <a:ext uri="{FF2B5EF4-FFF2-40B4-BE49-F238E27FC236}">
                <a16:creationId xmlns:a16="http://schemas.microsoft.com/office/drawing/2014/main" id="{3366E9C8-70CA-1B3E-F0A1-16480C871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7"/>
          <a:stretch>
            <a:fillRect/>
          </a:stretch>
        </p:blipFill>
        <p:spPr>
          <a:xfrm>
            <a:off x="1029242" y="4828257"/>
            <a:ext cx="14597108" cy="5401862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B600B48-4EFD-3C21-BC08-26DA6642B0E5}"/>
              </a:ext>
            </a:extLst>
          </p:cNvPr>
          <p:cNvCxnSpPr>
            <a:cxnSpLocks/>
          </p:cNvCxnSpPr>
          <p:nvPr/>
        </p:nvCxnSpPr>
        <p:spPr>
          <a:xfrm>
            <a:off x="13620329" y="476250"/>
            <a:ext cx="3842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96;p14">
            <a:extLst>
              <a:ext uri="{FF2B5EF4-FFF2-40B4-BE49-F238E27FC236}">
                <a16:creationId xmlns:a16="http://schemas.microsoft.com/office/drawing/2014/main" id="{69CDCD9F-A229-CA37-BBAF-9BF02C57A579}"/>
              </a:ext>
            </a:extLst>
          </p:cNvPr>
          <p:cNvSpPr txBox="1"/>
          <p:nvPr/>
        </p:nvSpPr>
        <p:spPr>
          <a:xfrm>
            <a:off x="571500" y="476252"/>
            <a:ext cx="853622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阶段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5: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 </a:t>
            </a:r>
            <a:r>
              <a:rPr lang="en-US" altLang="zh-CN" sz="3200" b="1" dirty="0" err="1">
                <a:solidFill>
                  <a:srgbClr val="1E293B"/>
                </a:solidFill>
                <a:latin typeface="+mj-ea"/>
                <a:ea typeface="+mj-ea"/>
                <a:cs typeface="Roboto"/>
              </a:rPr>
              <a:t>MATLAB+Python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     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混合优化主线形成</a:t>
            </a:r>
          </a:p>
        </p:txBody>
      </p:sp>
      <p:grpSp>
        <p:nvGrpSpPr>
          <p:cNvPr id="1048736" name="组合 1048735">
            <a:extLst>
              <a:ext uri="{FF2B5EF4-FFF2-40B4-BE49-F238E27FC236}">
                <a16:creationId xmlns:a16="http://schemas.microsoft.com/office/drawing/2014/main" id="{0433AE2B-787A-7A73-2160-6F4729F13A83}"/>
              </a:ext>
            </a:extLst>
          </p:cNvPr>
          <p:cNvGrpSpPr/>
          <p:nvPr/>
        </p:nvGrpSpPr>
        <p:grpSpPr>
          <a:xfrm>
            <a:off x="1946401" y="1012651"/>
            <a:ext cx="10105353" cy="3795124"/>
            <a:chOff x="1888527" y="5929586"/>
            <a:chExt cx="10105353" cy="3795124"/>
          </a:xfrm>
        </p:grpSpPr>
        <p:sp>
          <p:nvSpPr>
            <p:cNvPr id="1048661" name="textbox 228">
              <a:extLst>
                <a:ext uri="{FF2B5EF4-FFF2-40B4-BE49-F238E27FC236}">
                  <a16:creationId xmlns:a16="http://schemas.microsoft.com/office/drawing/2014/main" id="{ED1FE6F1-E2A9-262F-7F26-85C400B37414}"/>
                </a:ext>
              </a:extLst>
            </p:cNvPr>
            <p:cNvSpPr/>
            <p:nvPr/>
          </p:nvSpPr>
          <p:spPr>
            <a:xfrm>
              <a:off x="7349521" y="8170896"/>
              <a:ext cx="3782695" cy="4102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11"/>
                </a:lnSpc>
              </a:pPr>
              <a:endParaRPr sz="26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EBC82505-6F96-9B0A-8021-7ACD9B1E42A0}"/>
                </a:ext>
              </a:extLst>
            </p:cNvPr>
            <p:cNvSpPr/>
            <p:nvPr/>
          </p:nvSpPr>
          <p:spPr>
            <a:xfrm>
              <a:off x="2024476" y="8807707"/>
              <a:ext cx="2099374" cy="91700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0E34A06-DDDC-E9F9-5138-553D47539802}"/>
                </a:ext>
              </a:extLst>
            </p:cNvPr>
            <p:cNvSpPr txBox="1"/>
            <p:nvPr/>
          </p:nvSpPr>
          <p:spPr>
            <a:xfrm>
              <a:off x="1888527" y="8841948"/>
              <a:ext cx="2144382" cy="5155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0" eaLnBrk="0">
                <a:lnSpc>
                  <a:spcPct val="96000"/>
                </a:lnSpc>
                <a:spcBef>
                  <a:spcPts val="5"/>
                </a:spcBef>
              </a:pPr>
              <a:r>
                <a:rPr lang="en-US" altLang="zh-CN" sz="28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MATLAB</a:t>
              </a:r>
              <a:endParaRPr lang="zh-CN" altLang="en-US" sz="28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FD0B492-8A77-8AE5-39FF-06237C3ADE0E}"/>
                </a:ext>
              </a:extLst>
            </p:cNvPr>
            <p:cNvSpPr/>
            <p:nvPr/>
          </p:nvSpPr>
          <p:spPr>
            <a:xfrm>
              <a:off x="4939506" y="5929586"/>
              <a:ext cx="7054374" cy="379512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textbox 34">
              <a:extLst>
                <a:ext uri="{FF2B5EF4-FFF2-40B4-BE49-F238E27FC236}">
                  <a16:creationId xmlns:a16="http://schemas.microsoft.com/office/drawing/2014/main" id="{A7B3C1DD-0700-3348-EE98-FB4BBD5EB255}"/>
                </a:ext>
              </a:extLst>
            </p:cNvPr>
            <p:cNvSpPr/>
            <p:nvPr/>
          </p:nvSpPr>
          <p:spPr>
            <a:xfrm>
              <a:off x="4656995" y="8884556"/>
              <a:ext cx="1649788" cy="589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marL="431165" algn="l" rtl="0" eaLnBrk="0">
                <a:lnSpc>
                  <a:spcPct val="91000"/>
                </a:lnSpc>
              </a:pPr>
              <a:r>
                <a:rPr sz="2800" b="1" kern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Python</a:t>
              </a:r>
              <a:endParaRPr sz="10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9" name="箭头: 左 38">
              <a:extLst>
                <a:ext uri="{FF2B5EF4-FFF2-40B4-BE49-F238E27FC236}">
                  <a16:creationId xmlns:a16="http://schemas.microsoft.com/office/drawing/2014/main" id="{624D36C6-5C26-B2F7-7FA2-98BD33135D5C}"/>
                </a:ext>
              </a:extLst>
            </p:cNvPr>
            <p:cNvSpPr/>
            <p:nvPr/>
          </p:nvSpPr>
          <p:spPr>
            <a:xfrm rot="10800000">
              <a:off x="3896960" y="9179266"/>
              <a:ext cx="5588172" cy="514029"/>
            </a:xfrm>
            <a:prstGeom prst="leftArrow">
              <a:avLst>
                <a:gd name="adj1" fmla="val 50000"/>
                <a:gd name="adj2" fmla="val 103661"/>
              </a:avLst>
            </a:prstGeom>
            <a:gradFill flip="none" rotWithShape="1">
              <a:gsLst>
                <a:gs pos="29000">
                  <a:srgbClr val="8FAADC"/>
                </a:gs>
                <a:gs pos="0">
                  <a:srgbClr val="DAE3F3"/>
                </a:gs>
                <a:gs pos="100000">
                  <a:srgbClr val="00399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48648" name="矩形: 圆角 1048647">
              <a:extLst>
                <a:ext uri="{FF2B5EF4-FFF2-40B4-BE49-F238E27FC236}">
                  <a16:creationId xmlns:a16="http://schemas.microsoft.com/office/drawing/2014/main" id="{32D35605-A8C3-9188-C3D9-266C901CB09B}"/>
                </a:ext>
              </a:extLst>
            </p:cNvPr>
            <p:cNvSpPr/>
            <p:nvPr/>
          </p:nvSpPr>
          <p:spPr>
            <a:xfrm>
              <a:off x="9485133" y="8620828"/>
              <a:ext cx="1365748" cy="957818"/>
            </a:xfrm>
            <a:prstGeom prst="roundRect">
              <a:avLst/>
            </a:prstGeom>
            <a:solidFill>
              <a:srgbClr val="0039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初相</a:t>
              </a:r>
            </a:p>
          </p:txBody>
        </p:sp>
        <p:sp>
          <p:nvSpPr>
            <p:cNvPr id="1048651" name="矩形: 圆角 1048650">
              <a:extLst>
                <a:ext uri="{FF2B5EF4-FFF2-40B4-BE49-F238E27FC236}">
                  <a16:creationId xmlns:a16="http://schemas.microsoft.com/office/drawing/2014/main" id="{05BC1866-5115-6B48-6552-3C9FD198083E}"/>
                </a:ext>
              </a:extLst>
            </p:cNvPr>
            <p:cNvSpPr/>
            <p:nvPr/>
          </p:nvSpPr>
          <p:spPr>
            <a:xfrm>
              <a:off x="9724342" y="6234510"/>
              <a:ext cx="1979978" cy="988904"/>
            </a:xfrm>
            <a:prstGeom prst="roundRect">
              <a:avLst/>
            </a:prstGeom>
            <a:solidFill>
              <a:srgbClr val="0039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计算指标</a:t>
              </a:r>
              <a:br>
                <a:rPr lang="en-US" altLang="zh-CN" sz="2400" b="1" dirty="0"/>
              </a:br>
              <a:r>
                <a:rPr lang="en-US" altLang="zh-CN" sz="2400" b="1" dirty="0"/>
                <a:t>EE</a:t>
              </a:r>
              <a:r>
                <a:rPr lang="zh-CN" altLang="en-US" sz="2400" b="1" dirty="0"/>
                <a:t>、</a:t>
              </a:r>
              <a:r>
                <a:rPr lang="en-US" altLang="zh-CN" sz="2400" b="1" dirty="0"/>
                <a:t>PCC</a:t>
              </a:r>
              <a:r>
                <a:rPr lang="zh-CN" altLang="en-US" sz="2400" b="1" dirty="0"/>
                <a:t>等</a:t>
              </a:r>
            </a:p>
          </p:txBody>
        </p:sp>
        <p:sp>
          <p:nvSpPr>
            <p:cNvPr id="1048652" name="矩形: 圆角 1048651">
              <a:extLst>
                <a:ext uri="{FF2B5EF4-FFF2-40B4-BE49-F238E27FC236}">
                  <a16:creationId xmlns:a16="http://schemas.microsoft.com/office/drawing/2014/main" id="{DC80360E-B43A-5638-A685-EFFA45F39882}"/>
                </a:ext>
              </a:extLst>
            </p:cNvPr>
            <p:cNvSpPr/>
            <p:nvPr/>
          </p:nvSpPr>
          <p:spPr>
            <a:xfrm>
              <a:off x="6906236" y="6806246"/>
              <a:ext cx="945110" cy="386076"/>
            </a:xfrm>
            <a:prstGeom prst="roundRect">
              <a:avLst/>
            </a:prstGeom>
            <a:solidFill>
              <a:srgbClr val="0039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ASM</a:t>
              </a:r>
              <a:endParaRPr lang="zh-CN" altLang="en-US" sz="2400" b="1" dirty="0"/>
            </a:p>
          </p:txBody>
        </p:sp>
        <p:cxnSp>
          <p:nvCxnSpPr>
            <p:cNvPr id="1048667" name="连接符: 曲线 1048666">
              <a:extLst>
                <a:ext uri="{FF2B5EF4-FFF2-40B4-BE49-F238E27FC236}">
                  <a16:creationId xmlns:a16="http://schemas.microsoft.com/office/drawing/2014/main" id="{D9C13B14-1A94-5DAD-197F-AA58148D1B58}"/>
                </a:ext>
              </a:extLst>
            </p:cNvPr>
            <p:cNvCxnSpPr>
              <a:cxnSpLocks/>
              <a:stCxn id="1048651" idx="3"/>
              <a:endCxn id="1048648" idx="3"/>
            </p:cNvCxnSpPr>
            <p:nvPr/>
          </p:nvCxnSpPr>
          <p:spPr>
            <a:xfrm flipH="1">
              <a:off x="10850881" y="6728962"/>
              <a:ext cx="853439" cy="2370775"/>
            </a:xfrm>
            <a:prstGeom prst="curvedConnector3">
              <a:avLst>
                <a:gd name="adj1" fmla="val -357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68" name="矩形: 圆角 1048667">
              <a:extLst>
                <a:ext uri="{FF2B5EF4-FFF2-40B4-BE49-F238E27FC236}">
                  <a16:creationId xmlns:a16="http://schemas.microsoft.com/office/drawing/2014/main" id="{2BB83C54-AE88-A0FD-B317-25F917EA8073}"/>
                </a:ext>
              </a:extLst>
            </p:cNvPr>
            <p:cNvSpPr/>
            <p:nvPr/>
          </p:nvSpPr>
          <p:spPr>
            <a:xfrm>
              <a:off x="7879721" y="6234510"/>
              <a:ext cx="1185076" cy="972403"/>
            </a:xfrm>
            <a:prstGeom prst="roundRect">
              <a:avLst/>
            </a:prstGeom>
            <a:solidFill>
              <a:srgbClr val="0039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声压</a:t>
              </a:r>
            </a:p>
          </p:txBody>
        </p:sp>
        <p:cxnSp>
          <p:nvCxnSpPr>
            <p:cNvPr id="1048671" name="直接箭头连接符 1048670">
              <a:extLst>
                <a:ext uri="{FF2B5EF4-FFF2-40B4-BE49-F238E27FC236}">
                  <a16:creationId xmlns:a16="http://schemas.microsoft.com/office/drawing/2014/main" id="{3502F922-879B-EF2E-9164-189DA24DF834}"/>
                </a:ext>
              </a:extLst>
            </p:cNvPr>
            <p:cNvCxnSpPr>
              <a:cxnSpLocks/>
              <a:stCxn id="1048680" idx="3"/>
              <a:endCxn id="1048668" idx="1"/>
            </p:cNvCxnSpPr>
            <p:nvPr/>
          </p:nvCxnSpPr>
          <p:spPr>
            <a:xfrm flipV="1">
              <a:off x="6877861" y="6720712"/>
              <a:ext cx="1001860" cy="72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675" name="直接箭头连接符 1048674">
              <a:extLst>
                <a:ext uri="{FF2B5EF4-FFF2-40B4-BE49-F238E27FC236}">
                  <a16:creationId xmlns:a16="http://schemas.microsoft.com/office/drawing/2014/main" id="{0320DA71-C704-DA36-F1B8-8D713A360A96}"/>
                </a:ext>
              </a:extLst>
            </p:cNvPr>
            <p:cNvCxnSpPr>
              <a:cxnSpLocks/>
              <a:stCxn id="1048668" idx="3"/>
              <a:endCxn id="1048651" idx="1"/>
            </p:cNvCxnSpPr>
            <p:nvPr/>
          </p:nvCxnSpPr>
          <p:spPr>
            <a:xfrm>
              <a:off x="9064797" y="6720712"/>
              <a:ext cx="659545" cy="82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77" name="矩形: 圆角 1048676">
              <a:extLst>
                <a:ext uri="{FF2B5EF4-FFF2-40B4-BE49-F238E27FC236}">
                  <a16:creationId xmlns:a16="http://schemas.microsoft.com/office/drawing/2014/main" id="{67A1DF77-7AE1-5226-1027-23702ED1E5C3}"/>
                </a:ext>
              </a:extLst>
            </p:cNvPr>
            <p:cNvSpPr/>
            <p:nvPr/>
          </p:nvSpPr>
          <p:spPr>
            <a:xfrm>
              <a:off x="10478640" y="7627414"/>
              <a:ext cx="1485248" cy="327785"/>
            </a:xfrm>
            <a:prstGeom prst="roundRect">
              <a:avLst/>
            </a:prstGeom>
            <a:solidFill>
              <a:srgbClr val="0039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梯度下架</a:t>
              </a:r>
            </a:p>
          </p:txBody>
        </p:sp>
        <p:sp>
          <p:nvSpPr>
            <p:cNvPr id="1048680" name="矩形: 圆角 1048679">
              <a:extLst>
                <a:ext uri="{FF2B5EF4-FFF2-40B4-BE49-F238E27FC236}">
                  <a16:creationId xmlns:a16="http://schemas.microsoft.com/office/drawing/2014/main" id="{4D44F691-E30B-DA47-DFD3-1845E798028B}"/>
                </a:ext>
              </a:extLst>
            </p:cNvPr>
            <p:cNvSpPr/>
            <p:nvPr/>
          </p:nvSpPr>
          <p:spPr>
            <a:xfrm>
              <a:off x="4988166" y="6249101"/>
              <a:ext cx="1889695" cy="957812"/>
            </a:xfrm>
            <a:prstGeom prst="roundRect">
              <a:avLst/>
            </a:prstGeom>
            <a:solidFill>
              <a:srgbClr val="0039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相位</a:t>
              </a:r>
            </a:p>
          </p:txBody>
        </p:sp>
        <p:cxnSp>
          <p:nvCxnSpPr>
            <p:cNvPr id="1048696" name="连接符: 曲线 1048695">
              <a:extLst>
                <a:ext uri="{FF2B5EF4-FFF2-40B4-BE49-F238E27FC236}">
                  <a16:creationId xmlns:a16="http://schemas.microsoft.com/office/drawing/2014/main" id="{24ED573E-A5DD-73E5-1F35-4BE9411F8D05}"/>
                </a:ext>
              </a:extLst>
            </p:cNvPr>
            <p:cNvCxnSpPr>
              <a:cxnSpLocks/>
              <a:stCxn id="1048648" idx="1"/>
              <a:endCxn id="1048680" idx="2"/>
            </p:cNvCxnSpPr>
            <p:nvPr/>
          </p:nvCxnSpPr>
          <p:spPr>
            <a:xfrm rot="10800000">
              <a:off x="5933015" y="7206913"/>
              <a:ext cx="3552119" cy="1892824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707" name="矩形: 圆角 1048706">
              <a:extLst>
                <a:ext uri="{FF2B5EF4-FFF2-40B4-BE49-F238E27FC236}">
                  <a16:creationId xmlns:a16="http://schemas.microsoft.com/office/drawing/2014/main" id="{3BF3E3C0-6E87-DE13-4571-34C326FE5CA5}"/>
                </a:ext>
              </a:extLst>
            </p:cNvPr>
            <p:cNvSpPr/>
            <p:nvPr/>
          </p:nvSpPr>
          <p:spPr>
            <a:xfrm>
              <a:off x="5494257" y="8074524"/>
              <a:ext cx="3167512" cy="722278"/>
            </a:xfrm>
            <a:prstGeom prst="roundRect">
              <a:avLst/>
            </a:prstGeom>
            <a:solidFill>
              <a:srgbClr val="0039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计算厚度、离散厚度再计算相位</a:t>
              </a:r>
            </a:p>
          </p:txBody>
        </p:sp>
      </p:grpSp>
      <p:sp>
        <p:nvSpPr>
          <p:cNvPr id="1048733" name="AutoShape 2">
            <a:extLst>
              <a:ext uri="{FF2B5EF4-FFF2-40B4-BE49-F238E27FC236}">
                <a16:creationId xmlns:a16="http://schemas.microsoft.com/office/drawing/2014/main" id="{428DCCCE-FC17-D861-8396-31644A852A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85200" y="4724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15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614E-BB73-EE94-5993-0B7BCB55E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图片 1035">
            <a:extLst>
              <a:ext uri="{FF2B5EF4-FFF2-40B4-BE49-F238E27FC236}">
                <a16:creationId xmlns:a16="http://schemas.microsoft.com/office/drawing/2014/main" id="{5316D3DB-6C1B-5314-973C-70033AFC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79" y="6117084"/>
            <a:ext cx="2076545" cy="1944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FCF76C8-AB38-452F-E7E0-868476A6A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" r="79"/>
          <a:stretch/>
        </p:blipFill>
        <p:spPr>
          <a:xfrm>
            <a:off x="2277733" y="3017202"/>
            <a:ext cx="8245044" cy="452394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31BD1DF-0028-033F-846E-A0A9643745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057" t="13573" r="9058" b="7823"/>
          <a:stretch>
            <a:fillRect/>
          </a:stretch>
        </p:blipFill>
        <p:spPr>
          <a:xfrm>
            <a:off x="136518" y="8336804"/>
            <a:ext cx="1065882" cy="108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0725E62-4F41-6FD2-17A5-91917F09D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609" y="8328057"/>
            <a:ext cx="117123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383520-303F-AD75-3D4D-CEFE88D880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659" y="8328781"/>
            <a:ext cx="1170596" cy="108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E06BD28-8325-A2ED-45C4-2C5FAF0ED60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276" y="8328781"/>
            <a:ext cx="1189668" cy="108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1F9303A-DFE5-1EBB-7BDF-13ED6006A92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76" t="27343" r="23932" b="29744"/>
          <a:stretch>
            <a:fillRect/>
          </a:stretch>
        </p:blipFill>
        <p:spPr>
          <a:xfrm>
            <a:off x="13998764" y="8328057"/>
            <a:ext cx="1096875" cy="108000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E0EAE2-CA87-9D52-0C84-334260E00BAB}"/>
              </a:ext>
            </a:extLst>
          </p:cNvPr>
          <p:cNvGrpSpPr/>
          <p:nvPr/>
        </p:nvGrpSpPr>
        <p:grpSpPr>
          <a:xfrm>
            <a:off x="54553" y="1176093"/>
            <a:ext cx="2932228" cy="2994095"/>
            <a:chOff x="139217" y="1400537"/>
            <a:chExt cx="3275315" cy="299409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79A93E5B-5DD2-B5CF-7245-D3491CC3634E}"/>
                </a:ext>
              </a:extLst>
            </p:cNvPr>
            <p:cNvSpPr/>
            <p:nvPr/>
          </p:nvSpPr>
          <p:spPr>
            <a:xfrm>
              <a:off x="139218" y="1408364"/>
              <a:ext cx="3275314" cy="2986268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BEC6416-FBCB-5F8D-A82B-7A528D2E8EB6}"/>
                </a:ext>
              </a:extLst>
            </p:cNvPr>
            <p:cNvSpPr/>
            <p:nvPr/>
          </p:nvSpPr>
          <p:spPr>
            <a:xfrm>
              <a:off x="139217" y="1400537"/>
              <a:ext cx="3275314" cy="787078"/>
            </a:xfrm>
            <a:prstGeom prst="roundRect">
              <a:avLst>
                <a:gd name="adj" fmla="val 29902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目标图案</a:t>
              </a: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C82F860-7A32-84E1-C4B1-217A49C4B024}"/>
                </a:ext>
              </a:extLst>
            </p:cNvPr>
            <p:cNvGrpSpPr/>
            <p:nvPr/>
          </p:nvGrpSpPr>
          <p:grpSpPr>
            <a:xfrm>
              <a:off x="382209" y="2314937"/>
              <a:ext cx="1781342" cy="470814"/>
              <a:chOff x="382209" y="2314937"/>
              <a:chExt cx="1781342" cy="470814"/>
            </a:xfrm>
          </p:grpSpPr>
          <p:sp>
            <p:nvSpPr>
              <p:cNvPr id="6" name="动作按钮: 文档 5">
                <a:hlinkClick r:id="" action="ppaction://noaction" highlightClick="1"/>
                <a:extLst>
                  <a:ext uri="{FF2B5EF4-FFF2-40B4-BE49-F238E27FC236}">
                    <a16:creationId xmlns:a16="http://schemas.microsoft.com/office/drawing/2014/main" id="{6CE41694-E4A5-0A40-CD84-DA5106137486}"/>
                  </a:ext>
                </a:extLst>
              </p:cNvPr>
              <p:cNvSpPr/>
              <p:nvPr/>
            </p:nvSpPr>
            <p:spPr>
              <a:xfrm>
                <a:off x="382209" y="2314937"/>
                <a:ext cx="370389" cy="462987"/>
              </a:xfrm>
              <a:prstGeom prst="actionButtonDocumen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CAFE19-A4DB-B207-8723-F1EAF2C2B850}"/>
                  </a:ext>
                </a:extLst>
              </p:cNvPr>
              <p:cNvSpPr txBox="1"/>
              <p:nvPr/>
            </p:nvSpPr>
            <p:spPr>
              <a:xfrm>
                <a:off x="747779" y="2324086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目标图案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A415339-1E9C-C5F5-BD28-FDDB91B1F883}"/>
                </a:ext>
              </a:extLst>
            </p:cNvPr>
            <p:cNvGrpSpPr/>
            <p:nvPr/>
          </p:nvGrpSpPr>
          <p:grpSpPr>
            <a:xfrm>
              <a:off x="382209" y="3055716"/>
              <a:ext cx="3012448" cy="470814"/>
              <a:chOff x="382209" y="2314937"/>
              <a:chExt cx="3012448" cy="470814"/>
            </a:xfrm>
          </p:grpSpPr>
          <p:sp>
            <p:nvSpPr>
              <p:cNvPr id="14" name="动作按钮: 文档 13">
                <a:hlinkClick r:id="" action="ppaction://noaction" highlightClick="1"/>
                <a:extLst>
                  <a:ext uri="{FF2B5EF4-FFF2-40B4-BE49-F238E27FC236}">
                    <a16:creationId xmlns:a16="http://schemas.microsoft.com/office/drawing/2014/main" id="{7E46C629-4D6D-784E-B1F3-333675A28C80}"/>
                  </a:ext>
                </a:extLst>
              </p:cNvPr>
              <p:cNvSpPr/>
              <p:nvPr/>
            </p:nvSpPr>
            <p:spPr>
              <a:xfrm>
                <a:off x="382209" y="2314937"/>
                <a:ext cx="370389" cy="462987"/>
              </a:xfrm>
              <a:prstGeom prst="actionButtonDocumen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1389F68-E24A-FD7F-6A01-AF455D8B4032}"/>
                  </a:ext>
                </a:extLst>
              </p:cNvPr>
              <p:cNvSpPr txBox="1"/>
              <p:nvPr/>
            </p:nvSpPr>
            <p:spPr>
              <a:xfrm>
                <a:off x="747779" y="2324086"/>
                <a:ext cx="2646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目标图案（蚀刻）</a:t>
                </a:r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D5D29CC-11B7-5DA3-DF1B-24F1473DBA38}"/>
                </a:ext>
              </a:extLst>
            </p:cNvPr>
            <p:cNvCxnSpPr/>
            <p:nvPr/>
          </p:nvCxnSpPr>
          <p:spPr>
            <a:xfrm>
              <a:off x="139217" y="3657600"/>
              <a:ext cx="3255440" cy="0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052899-8A2A-67E4-0E6C-83E50FF6ACA5}"/>
              </a:ext>
            </a:extLst>
          </p:cNvPr>
          <p:cNvGrpSpPr/>
          <p:nvPr/>
        </p:nvGrpSpPr>
        <p:grpSpPr>
          <a:xfrm>
            <a:off x="37460" y="5132575"/>
            <a:ext cx="2932228" cy="2994095"/>
            <a:chOff x="139217" y="1400537"/>
            <a:chExt cx="3275315" cy="2994095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50482E5-9395-95B6-5C24-90D1D1B5A5F5}"/>
                </a:ext>
              </a:extLst>
            </p:cNvPr>
            <p:cNvSpPr/>
            <p:nvPr/>
          </p:nvSpPr>
          <p:spPr>
            <a:xfrm>
              <a:off x="139218" y="1408364"/>
              <a:ext cx="3275314" cy="2986268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B20BE92-EBD9-58CF-41EE-407420CD7DCE}"/>
                </a:ext>
              </a:extLst>
            </p:cNvPr>
            <p:cNvSpPr/>
            <p:nvPr/>
          </p:nvSpPr>
          <p:spPr>
            <a:xfrm>
              <a:off x="139217" y="1400537"/>
              <a:ext cx="3275314" cy="787078"/>
            </a:xfrm>
            <a:prstGeom prst="roundRect">
              <a:avLst>
                <a:gd name="adj" fmla="val 29902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DL-IASA</a:t>
              </a:r>
              <a:endParaRPr lang="zh-CN" altLang="en-US" sz="2400" b="1" dirty="0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693D3CB-7FD6-F6DE-ED71-21F51B6CA750}"/>
                </a:ext>
              </a:extLst>
            </p:cNvPr>
            <p:cNvGrpSpPr/>
            <p:nvPr/>
          </p:nvGrpSpPr>
          <p:grpSpPr>
            <a:xfrm>
              <a:off x="382209" y="2314937"/>
              <a:ext cx="1165789" cy="470814"/>
              <a:chOff x="382209" y="2314937"/>
              <a:chExt cx="1165789" cy="470814"/>
            </a:xfrm>
          </p:grpSpPr>
          <p:sp>
            <p:nvSpPr>
              <p:cNvPr id="27" name="动作按钮: 文档 26">
                <a:hlinkClick r:id="" action="ppaction://noaction" highlightClick="1"/>
                <a:extLst>
                  <a:ext uri="{FF2B5EF4-FFF2-40B4-BE49-F238E27FC236}">
                    <a16:creationId xmlns:a16="http://schemas.microsoft.com/office/drawing/2014/main" id="{F09977F7-F6E8-093C-5960-0144901E24A0}"/>
                  </a:ext>
                </a:extLst>
              </p:cNvPr>
              <p:cNvSpPr/>
              <p:nvPr/>
            </p:nvSpPr>
            <p:spPr>
              <a:xfrm>
                <a:off x="382209" y="2314937"/>
                <a:ext cx="370389" cy="462987"/>
              </a:xfrm>
              <a:prstGeom prst="actionButtonDocumen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2E0A313-EF93-3239-764C-CCB3DD87A981}"/>
                  </a:ext>
                </a:extLst>
              </p:cNvPr>
              <p:cNvSpPr txBox="1"/>
              <p:nvPr/>
            </p:nvSpPr>
            <p:spPr>
              <a:xfrm>
                <a:off x="747779" y="2324086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初相</a:t>
                </a: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D652DDC-EF1C-2FDB-36BC-F301E86C3AFF}"/>
                </a:ext>
              </a:extLst>
            </p:cNvPr>
            <p:cNvGrpSpPr/>
            <p:nvPr/>
          </p:nvGrpSpPr>
          <p:grpSpPr>
            <a:xfrm>
              <a:off x="382209" y="3055716"/>
              <a:ext cx="1781342" cy="470814"/>
              <a:chOff x="382209" y="2314937"/>
              <a:chExt cx="1781342" cy="470814"/>
            </a:xfrm>
          </p:grpSpPr>
          <p:sp>
            <p:nvSpPr>
              <p:cNvPr id="25" name="动作按钮: 文档 24">
                <a:hlinkClick r:id="" action="ppaction://noaction" highlightClick="1"/>
                <a:extLst>
                  <a:ext uri="{FF2B5EF4-FFF2-40B4-BE49-F238E27FC236}">
                    <a16:creationId xmlns:a16="http://schemas.microsoft.com/office/drawing/2014/main" id="{EEB74EBF-99CB-6B8C-2842-3EE2873C0522}"/>
                  </a:ext>
                </a:extLst>
              </p:cNvPr>
              <p:cNvSpPr/>
              <p:nvPr/>
            </p:nvSpPr>
            <p:spPr>
              <a:xfrm>
                <a:off x="382209" y="2314937"/>
                <a:ext cx="370389" cy="462987"/>
              </a:xfrm>
              <a:prstGeom prst="actionButtonDocumen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79EAFE9-9C8F-5ECE-2422-499B98B638D6}"/>
                  </a:ext>
                </a:extLst>
              </p:cNvPr>
              <p:cNvSpPr txBox="1"/>
              <p:nvPr/>
            </p:nvSpPr>
            <p:spPr>
              <a:xfrm>
                <a:off x="747779" y="2324086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离散厚度</a:t>
                </a:r>
              </a:p>
            </p:txBody>
          </p:sp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EACFE96-7AD7-CF99-9DFC-B48B3EE32913}"/>
                </a:ext>
              </a:extLst>
            </p:cNvPr>
            <p:cNvCxnSpPr/>
            <p:nvPr/>
          </p:nvCxnSpPr>
          <p:spPr>
            <a:xfrm>
              <a:off x="139217" y="3657600"/>
              <a:ext cx="3255440" cy="0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47D51C04-AB8D-4FF6-0C45-7C407E0AE5B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131" y="8333584"/>
            <a:ext cx="1190325" cy="10800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DA324193-F552-BE28-EC20-A4AAE69E3EB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764" y="8328781"/>
            <a:ext cx="1183767" cy="10800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FBB2BC0A-7693-25ED-D062-D68D94C9B90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4351" y="8328057"/>
            <a:ext cx="1179593" cy="1080000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5D999B9C-08E9-1B1C-3574-99698FAD5684}"/>
              </a:ext>
            </a:extLst>
          </p:cNvPr>
          <p:cNvGrpSpPr/>
          <p:nvPr/>
        </p:nvGrpSpPr>
        <p:grpSpPr>
          <a:xfrm>
            <a:off x="10120817" y="1176093"/>
            <a:ext cx="2448106" cy="6950577"/>
            <a:chOff x="10864801" y="711200"/>
            <a:chExt cx="2743202" cy="747581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6074D2EC-55BB-4CA0-F24F-FFD3970A8472}"/>
                </a:ext>
              </a:extLst>
            </p:cNvPr>
            <p:cNvSpPr/>
            <p:nvPr/>
          </p:nvSpPr>
          <p:spPr>
            <a:xfrm>
              <a:off x="10864801" y="711200"/>
              <a:ext cx="2715732" cy="7475811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B4558226-9294-2CEF-E92B-BC1935C12E80}"/>
                </a:ext>
              </a:extLst>
            </p:cNvPr>
            <p:cNvSpPr/>
            <p:nvPr/>
          </p:nvSpPr>
          <p:spPr>
            <a:xfrm>
              <a:off x="10864803" y="711200"/>
              <a:ext cx="2743200" cy="846555"/>
            </a:xfrm>
            <a:prstGeom prst="roundRect">
              <a:avLst>
                <a:gd name="adj" fmla="val 28908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出口分析</a:t>
              </a:r>
            </a:p>
          </p:txBody>
        </p:sp>
      </p:grpSp>
      <p:sp>
        <p:nvSpPr>
          <p:cNvPr id="1030" name="矩形: 圆角 1029">
            <a:extLst>
              <a:ext uri="{FF2B5EF4-FFF2-40B4-BE49-F238E27FC236}">
                <a16:creationId xmlns:a16="http://schemas.microsoft.com/office/drawing/2014/main" id="{5A7E9346-67F8-19D9-50AF-F3A5F74044A1}"/>
              </a:ext>
            </a:extLst>
          </p:cNvPr>
          <p:cNvSpPr/>
          <p:nvPr/>
        </p:nvSpPr>
        <p:spPr>
          <a:xfrm>
            <a:off x="3089396" y="1176093"/>
            <a:ext cx="6938971" cy="6950577"/>
          </a:xfrm>
          <a:prstGeom prst="roundRect">
            <a:avLst>
              <a:gd name="adj" fmla="val 7678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4D644F12-DF2D-4BE2-9B99-FBA9946012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2633" y="2104149"/>
            <a:ext cx="2071636" cy="1944000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7444F494-7CE0-D04C-D5DA-5A21B90B25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58319" y="4113652"/>
            <a:ext cx="2193639" cy="1944000"/>
          </a:xfrm>
          <a:prstGeom prst="rect">
            <a:avLst/>
          </a:prstGeom>
        </p:spPr>
      </p:pic>
      <p:grpSp>
        <p:nvGrpSpPr>
          <p:cNvPr id="1037" name="组合 1036">
            <a:extLst>
              <a:ext uri="{FF2B5EF4-FFF2-40B4-BE49-F238E27FC236}">
                <a16:creationId xmlns:a16="http://schemas.microsoft.com/office/drawing/2014/main" id="{F18F2D9D-E2C2-7CBA-2A06-AF3A3EFE5E2C}"/>
              </a:ext>
            </a:extLst>
          </p:cNvPr>
          <p:cNvGrpSpPr/>
          <p:nvPr/>
        </p:nvGrpSpPr>
        <p:grpSpPr>
          <a:xfrm>
            <a:off x="12573962" y="1176090"/>
            <a:ext cx="2448105" cy="6950578"/>
            <a:chOff x="10864801" y="711199"/>
            <a:chExt cx="2743201" cy="7475812"/>
          </a:xfrm>
        </p:grpSpPr>
        <p:sp>
          <p:nvSpPr>
            <p:cNvPr id="1038" name="矩形: 圆角 1037">
              <a:extLst>
                <a:ext uri="{FF2B5EF4-FFF2-40B4-BE49-F238E27FC236}">
                  <a16:creationId xmlns:a16="http://schemas.microsoft.com/office/drawing/2014/main" id="{A2F11810-2806-982D-CB5C-31EDB01E97B6}"/>
                </a:ext>
              </a:extLst>
            </p:cNvPr>
            <p:cNvSpPr/>
            <p:nvPr/>
          </p:nvSpPr>
          <p:spPr>
            <a:xfrm>
              <a:off x="10864801" y="711200"/>
              <a:ext cx="2715732" cy="7475811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9" name="矩形: 圆角 1038">
              <a:extLst>
                <a:ext uri="{FF2B5EF4-FFF2-40B4-BE49-F238E27FC236}">
                  <a16:creationId xmlns:a16="http://schemas.microsoft.com/office/drawing/2014/main" id="{0E326DE6-7D24-38A5-5C9F-12AD9CBFFC3F}"/>
                </a:ext>
              </a:extLst>
            </p:cNvPr>
            <p:cNvSpPr/>
            <p:nvPr/>
          </p:nvSpPr>
          <p:spPr>
            <a:xfrm>
              <a:off x="10864802" y="711199"/>
              <a:ext cx="2743200" cy="846554"/>
            </a:xfrm>
            <a:prstGeom prst="roundRect">
              <a:avLst>
                <a:gd name="adj" fmla="val 28908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固化预测</a:t>
              </a:r>
            </a:p>
          </p:txBody>
        </p:sp>
      </p:grpSp>
      <p:grpSp>
        <p:nvGrpSpPr>
          <p:cNvPr id="1040" name="组合 1039">
            <a:extLst>
              <a:ext uri="{FF2B5EF4-FFF2-40B4-BE49-F238E27FC236}">
                <a16:creationId xmlns:a16="http://schemas.microsoft.com/office/drawing/2014/main" id="{9D3A9BA5-14E1-29E4-8383-6C43BEBB42CB}"/>
              </a:ext>
            </a:extLst>
          </p:cNvPr>
          <p:cNvGrpSpPr/>
          <p:nvPr/>
        </p:nvGrpSpPr>
        <p:grpSpPr>
          <a:xfrm>
            <a:off x="15032664" y="1176091"/>
            <a:ext cx="2448106" cy="6950577"/>
            <a:chOff x="10864801" y="711200"/>
            <a:chExt cx="2743202" cy="7475811"/>
          </a:xfrm>
        </p:grpSpPr>
        <p:sp>
          <p:nvSpPr>
            <p:cNvPr id="1041" name="矩形: 圆角 1040">
              <a:extLst>
                <a:ext uri="{FF2B5EF4-FFF2-40B4-BE49-F238E27FC236}">
                  <a16:creationId xmlns:a16="http://schemas.microsoft.com/office/drawing/2014/main" id="{54E6B572-B0D6-3AE9-67FB-6B84B1F71C3F}"/>
                </a:ext>
              </a:extLst>
            </p:cNvPr>
            <p:cNvSpPr/>
            <p:nvPr/>
          </p:nvSpPr>
          <p:spPr>
            <a:xfrm>
              <a:off x="10864801" y="711200"/>
              <a:ext cx="2715732" cy="7475811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8AAA1576-1CB0-1AC4-2649-DF6EF32412E0}"/>
                </a:ext>
              </a:extLst>
            </p:cNvPr>
            <p:cNvSpPr/>
            <p:nvPr/>
          </p:nvSpPr>
          <p:spPr>
            <a:xfrm>
              <a:off x="10864803" y="711200"/>
              <a:ext cx="2743200" cy="846553"/>
            </a:xfrm>
            <a:prstGeom prst="roundRect">
              <a:avLst>
                <a:gd name="adj" fmla="val 28908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/>
                <a:t>量化指标</a:t>
              </a:r>
            </a:p>
          </p:txBody>
        </p:sp>
      </p:grpSp>
      <p:sp>
        <p:nvSpPr>
          <p:cNvPr id="1046" name="矩形: 圆角 1045">
            <a:extLst>
              <a:ext uri="{FF2B5EF4-FFF2-40B4-BE49-F238E27FC236}">
                <a16:creationId xmlns:a16="http://schemas.microsoft.com/office/drawing/2014/main" id="{81FD750D-4BBB-5C28-1D7E-D6F5D597E940}"/>
              </a:ext>
            </a:extLst>
          </p:cNvPr>
          <p:cNvSpPr/>
          <p:nvPr/>
        </p:nvSpPr>
        <p:spPr>
          <a:xfrm>
            <a:off x="3089396" y="1159018"/>
            <a:ext cx="6938971" cy="804149"/>
          </a:xfrm>
          <a:prstGeom prst="roundRect">
            <a:avLst>
              <a:gd name="adj" fmla="val 3036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K-Wave</a:t>
            </a:r>
            <a:r>
              <a:rPr lang="zh-CN" altLang="en-US" sz="2400" b="1" dirty="0"/>
              <a:t>仿真</a:t>
            </a:r>
          </a:p>
        </p:txBody>
      </p:sp>
      <p:pic>
        <p:nvPicPr>
          <p:cNvPr id="1048" name="图片 1047">
            <a:extLst>
              <a:ext uri="{FF2B5EF4-FFF2-40B4-BE49-F238E27FC236}">
                <a16:creationId xmlns:a16="http://schemas.microsoft.com/office/drawing/2014/main" id="{82E844A3-889D-1EFC-EB11-21275FAC69A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1" t="26630" r="22471" b="29231"/>
          <a:stretch>
            <a:fillRect/>
          </a:stretch>
        </p:blipFill>
        <p:spPr>
          <a:xfrm>
            <a:off x="1739426" y="8336804"/>
            <a:ext cx="1074300" cy="1080000"/>
          </a:xfrm>
          <a:prstGeom prst="rect">
            <a:avLst/>
          </a:prstGeom>
        </p:spPr>
      </p:pic>
      <p:cxnSp>
        <p:nvCxnSpPr>
          <p:cNvPr id="1050" name="直接箭头连接符 1049">
            <a:extLst>
              <a:ext uri="{FF2B5EF4-FFF2-40B4-BE49-F238E27FC236}">
                <a16:creationId xmlns:a16="http://schemas.microsoft.com/office/drawing/2014/main" id="{73DD0BBC-C647-E3E3-2362-5F8D9F2E5BD8}"/>
              </a:ext>
            </a:extLst>
          </p:cNvPr>
          <p:cNvCxnSpPr>
            <a:stCxn id="4" idx="3"/>
            <a:endCxn id="1048" idx="1"/>
          </p:cNvCxnSpPr>
          <p:nvPr/>
        </p:nvCxnSpPr>
        <p:spPr>
          <a:xfrm>
            <a:off x="1202400" y="8876804"/>
            <a:ext cx="537026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直接箭头连接符 1051">
            <a:extLst>
              <a:ext uri="{FF2B5EF4-FFF2-40B4-BE49-F238E27FC236}">
                <a16:creationId xmlns:a16="http://schemas.microsoft.com/office/drawing/2014/main" id="{7C374B5B-1815-03BE-67D4-56625988201F}"/>
              </a:ext>
            </a:extLst>
          </p:cNvPr>
          <p:cNvCxnSpPr>
            <a:stCxn id="1048" idx="3"/>
            <a:endCxn id="1026" idx="1"/>
          </p:cNvCxnSpPr>
          <p:nvPr/>
        </p:nvCxnSpPr>
        <p:spPr>
          <a:xfrm flipV="1">
            <a:off x="2813726" y="8868057"/>
            <a:ext cx="709883" cy="874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直接箭头连接符 1053">
            <a:extLst>
              <a:ext uri="{FF2B5EF4-FFF2-40B4-BE49-F238E27FC236}">
                <a16:creationId xmlns:a16="http://schemas.microsoft.com/office/drawing/2014/main" id="{A49DD347-77FA-2010-B511-8A722155B199}"/>
              </a:ext>
            </a:extLst>
          </p:cNvPr>
          <p:cNvCxnSpPr>
            <a:cxnSpLocks/>
            <a:stCxn id="1026" idx="3"/>
            <a:endCxn id="7" idx="1"/>
          </p:cNvCxnSpPr>
          <p:nvPr/>
        </p:nvCxnSpPr>
        <p:spPr>
          <a:xfrm>
            <a:off x="4694839" y="8868057"/>
            <a:ext cx="534820" cy="7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直接箭头连接符 1056">
            <a:extLst>
              <a:ext uri="{FF2B5EF4-FFF2-40B4-BE49-F238E27FC236}">
                <a16:creationId xmlns:a16="http://schemas.microsoft.com/office/drawing/2014/main" id="{1538CA28-020D-F630-0702-076CEB3A5E78}"/>
              </a:ext>
            </a:extLst>
          </p:cNvPr>
          <p:cNvCxnSpPr>
            <a:stCxn id="7" idx="3"/>
            <a:endCxn id="30" idx="1"/>
          </p:cNvCxnSpPr>
          <p:nvPr/>
        </p:nvCxnSpPr>
        <p:spPr>
          <a:xfrm>
            <a:off x="6400255" y="8868781"/>
            <a:ext cx="715876" cy="480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直接箭头连接符 1058">
            <a:extLst>
              <a:ext uri="{FF2B5EF4-FFF2-40B4-BE49-F238E27FC236}">
                <a16:creationId xmlns:a16="http://schemas.microsoft.com/office/drawing/2014/main" id="{9484AB78-ED54-97B2-EF15-C546CAB9DA53}"/>
              </a:ext>
            </a:extLst>
          </p:cNvPr>
          <p:cNvCxnSpPr>
            <a:stCxn id="30" idx="3"/>
            <a:endCxn id="9" idx="1"/>
          </p:cNvCxnSpPr>
          <p:nvPr/>
        </p:nvCxnSpPr>
        <p:spPr>
          <a:xfrm flipV="1">
            <a:off x="8306456" y="8868781"/>
            <a:ext cx="534820" cy="480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直接箭头连接符 1060">
            <a:extLst>
              <a:ext uri="{FF2B5EF4-FFF2-40B4-BE49-F238E27FC236}">
                <a16:creationId xmlns:a16="http://schemas.microsoft.com/office/drawing/2014/main" id="{D3FB1460-61DB-5D6A-0625-91BA4CD9F91E}"/>
              </a:ext>
            </a:extLst>
          </p:cNvPr>
          <p:cNvCxnSpPr>
            <a:stCxn id="9" idx="3"/>
            <a:endCxn id="32" idx="1"/>
          </p:cNvCxnSpPr>
          <p:nvPr/>
        </p:nvCxnSpPr>
        <p:spPr>
          <a:xfrm>
            <a:off x="10030944" y="8868781"/>
            <a:ext cx="534820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直接箭头连接符 1062">
            <a:extLst>
              <a:ext uri="{FF2B5EF4-FFF2-40B4-BE49-F238E27FC236}">
                <a16:creationId xmlns:a16="http://schemas.microsoft.com/office/drawing/2014/main" id="{80D59E21-AEE9-5603-F6CC-CB9EDEBEA32E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 flipV="1">
            <a:off x="11749531" y="8868057"/>
            <a:ext cx="534820" cy="7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直接箭头连接符 1064">
            <a:extLst>
              <a:ext uri="{FF2B5EF4-FFF2-40B4-BE49-F238E27FC236}">
                <a16:creationId xmlns:a16="http://schemas.microsoft.com/office/drawing/2014/main" id="{2986A8F5-7AE8-E625-CD99-9778D4EA2801}"/>
              </a:ext>
            </a:extLst>
          </p:cNvPr>
          <p:cNvCxnSpPr>
            <a:stCxn id="34" idx="3"/>
            <a:endCxn id="13" idx="1"/>
          </p:cNvCxnSpPr>
          <p:nvPr/>
        </p:nvCxnSpPr>
        <p:spPr>
          <a:xfrm>
            <a:off x="13463944" y="8868057"/>
            <a:ext cx="534820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连接符: 肘形 1066">
            <a:extLst>
              <a:ext uri="{FF2B5EF4-FFF2-40B4-BE49-F238E27FC236}">
                <a16:creationId xmlns:a16="http://schemas.microsoft.com/office/drawing/2014/main" id="{52B43254-653A-311E-F993-AF2B4906E50C}"/>
              </a:ext>
            </a:extLst>
          </p:cNvPr>
          <p:cNvCxnSpPr>
            <a:stCxn id="4" idx="2"/>
            <a:endCxn id="1041" idx="2"/>
          </p:cNvCxnSpPr>
          <p:nvPr/>
        </p:nvCxnSpPr>
        <p:spPr>
          <a:xfrm rot="5400000" flipH="1" flipV="1">
            <a:off x="7811891" y="984235"/>
            <a:ext cx="1290136" cy="15575001"/>
          </a:xfrm>
          <a:prstGeom prst="bentConnector3">
            <a:avLst>
              <a:gd name="adj1" fmla="val -17719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直接连接符 1068">
            <a:extLst>
              <a:ext uri="{FF2B5EF4-FFF2-40B4-BE49-F238E27FC236}">
                <a16:creationId xmlns:a16="http://schemas.microsoft.com/office/drawing/2014/main" id="{815B06BC-F63C-7CDD-3E27-C27DA53D9120}"/>
              </a:ext>
            </a:extLst>
          </p:cNvPr>
          <p:cNvCxnSpPr>
            <a:stCxn id="13" idx="2"/>
          </p:cNvCxnSpPr>
          <p:nvPr/>
        </p:nvCxnSpPr>
        <p:spPr>
          <a:xfrm flipH="1">
            <a:off x="14547201" y="9408057"/>
            <a:ext cx="1" cy="22446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矩形: 圆角 1069">
            <a:extLst>
              <a:ext uri="{FF2B5EF4-FFF2-40B4-BE49-F238E27FC236}">
                <a16:creationId xmlns:a16="http://schemas.microsoft.com/office/drawing/2014/main" id="{FE7CA9CF-0034-CC05-5480-BC6E67CAF3F8}"/>
              </a:ext>
            </a:extLst>
          </p:cNvPr>
          <p:cNvSpPr/>
          <p:nvPr/>
        </p:nvSpPr>
        <p:spPr>
          <a:xfrm>
            <a:off x="12736312" y="2485762"/>
            <a:ext cx="2123406" cy="84709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声压记录</a:t>
            </a:r>
          </a:p>
        </p:txBody>
      </p:sp>
      <p:sp>
        <p:nvSpPr>
          <p:cNvPr id="1071" name="矩形: 圆角 1070">
            <a:extLst>
              <a:ext uri="{FF2B5EF4-FFF2-40B4-BE49-F238E27FC236}">
                <a16:creationId xmlns:a16="http://schemas.microsoft.com/office/drawing/2014/main" id="{E34751F1-A82B-3541-15D2-FFB394AABC55}"/>
              </a:ext>
            </a:extLst>
          </p:cNvPr>
          <p:cNvSpPr/>
          <p:nvPr/>
        </p:nvSpPr>
        <p:spPr>
          <a:xfrm>
            <a:off x="12733170" y="3737320"/>
            <a:ext cx="2123406" cy="84709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热量</a:t>
            </a:r>
          </a:p>
        </p:txBody>
      </p:sp>
      <p:sp>
        <p:nvSpPr>
          <p:cNvPr id="1072" name="矩形: 圆角 1071">
            <a:extLst>
              <a:ext uri="{FF2B5EF4-FFF2-40B4-BE49-F238E27FC236}">
                <a16:creationId xmlns:a16="http://schemas.microsoft.com/office/drawing/2014/main" id="{D6CD53D5-6D92-5B92-519A-930BCE2DA324}"/>
              </a:ext>
            </a:extLst>
          </p:cNvPr>
          <p:cNvSpPr/>
          <p:nvPr/>
        </p:nvSpPr>
        <p:spPr>
          <a:xfrm>
            <a:off x="12733170" y="4988878"/>
            <a:ext cx="2123406" cy="84709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温度</a:t>
            </a:r>
          </a:p>
        </p:txBody>
      </p:sp>
      <p:sp>
        <p:nvSpPr>
          <p:cNvPr id="1073" name="矩形: 圆角 1072">
            <a:extLst>
              <a:ext uri="{FF2B5EF4-FFF2-40B4-BE49-F238E27FC236}">
                <a16:creationId xmlns:a16="http://schemas.microsoft.com/office/drawing/2014/main" id="{113FE63E-E88E-CF02-957A-C826871E857D}"/>
              </a:ext>
            </a:extLst>
          </p:cNvPr>
          <p:cNvSpPr/>
          <p:nvPr/>
        </p:nvSpPr>
        <p:spPr>
          <a:xfrm>
            <a:off x="12724054" y="6237793"/>
            <a:ext cx="2123406" cy="84709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热剂量</a:t>
            </a:r>
          </a:p>
        </p:txBody>
      </p:sp>
      <p:sp>
        <p:nvSpPr>
          <p:cNvPr id="1075" name="矩形: 圆角 1074">
            <a:extLst>
              <a:ext uri="{FF2B5EF4-FFF2-40B4-BE49-F238E27FC236}">
                <a16:creationId xmlns:a16="http://schemas.microsoft.com/office/drawing/2014/main" id="{7C34357D-4557-B95F-1CFA-6119701EE300}"/>
              </a:ext>
            </a:extLst>
          </p:cNvPr>
          <p:cNvSpPr/>
          <p:nvPr/>
        </p:nvSpPr>
        <p:spPr>
          <a:xfrm>
            <a:off x="15233544" y="2485762"/>
            <a:ext cx="2046347" cy="2455521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声场指标：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en-US" altLang="zh-CN" sz="2400" dirty="0">
                <a:solidFill>
                  <a:schemeClr val="tx1"/>
                </a:solidFill>
              </a:rPr>
              <a:t>PCC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SSIM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NMSE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EE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76" name="矩形: 圆角 1075">
            <a:extLst>
              <a:ext uri="{FF2B5EF4-FFF2-40B4-BE49-F238E27FC236}">
                <a16:creationId xmlns:a16="http://schemas.microsoft.com/office/drawing/2014/main" id="{6AB2C192-D9C6-248A-1A67-6629564CC9B1}"/>
              </a:ext>
            </a:extLst>
          </p:cNvPr>
          <p:cNvSpPr/>
          <p:nvPr/>
        </p:nvSpPr>
        <p:spPr>
          <a:xfrm>
            <a:off x="15233544" y="5165917"/>
            <a:ext cx="2046347" cy="2455521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固化指标：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en-US" altLang="zh-CN" sz="2400" dirty="0">
                <a:solidFill>
                  <a:schemeClr val="tx1"/>
                </a:solidFill>
              </a:rPr>
              <a:t>IoU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Dice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zh-CN" altLang="en-US" sz="2400" dirty="0">
                <a:solidFill>
                  <a:schemeClr val="tx1"/>
                </a:solidFill>
              </a:rPr>
              <a:t>过固化、欠固化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077" name="Google Shape;96;p14">
            <a:extLst>
              <a:ext uri="{FF2B5EF4-FFF2-40B4-BE49-F238E27FC236}">
                <a16:creationId xmlns:a16="http://schemas.microsoft.com/office/drawing/2014/main" id="{92B3E7ED-4FE2-42A0-FF85-BD19493B17CB}"/>
              </a:ext>
            </a:extLst>
          </p:cNvPr>
          <p:cNvSpPr txBox="1"/>
          <p:nvPr/>
        </p:nvSpPr>
        <p:spPr>
          <a:xfrm>
            <a:off x="571500" y="476252"/>
            <a:ext cx="853622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当前总览</a:t>
            </a:r>
            <a:endParaRPr lang="en-US" altLang="zh-CN" sz="3200" b="1" dirty="0">
              <a:solidFill>
                <a:srgbClr val="1E293B"/>
              </a:solidFill>
              <a:latin typeface="+mj-ea"/>
              <a:ea typeface="+mj-ea"/>
              <a:cs typeface="Roboto"/>
            </a:endParaRPr>
          </a:p>
        </p:txBody>
      </p:sp>
      <p:cxnSp>
        <p:nvCxnSpPr>
          <p:cNvPr id="1079" name="直接连接符 1078">
            <a:extLst>
              <a:ext uri="{FF2B5EF4-FFF2-40B4-BE49-F238E27FC236}">
                <a16:creationId xmlns:a16="http://schemas.microsoft.com/office/drawing/2014/main" id="{3FF21235-92CC-6E4B-AE29-80123E458EC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436110" y="9408781"/>
            <a:ext cx="0" cy="223742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37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extbox 238"/>
          <p:cNvSpPr/>
          <p:nvPr/>
        </p:nvSpPr>
        <p:spPr>
          <a:xfrm>
            <a:off x="834907" y="1103955"/>
            <a:ext cx="11145519" cy="3202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28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6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991"/>
              </a:spcBef>
            </a:pPr>
            <a:r>
              <a:rPr sz="33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出口平面诊断与代理模型的引入(</a:t>
            </a:r>
            <a:r>
              <a:rPr sz="3300" kern="0" spc="13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发展</a:t>
            </a:r>
            <a:r>
              <a:rPr sz="3300" kern="0" spc="12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趋势</a:t>
            </a:r>
            <a:endParaRPr sz="3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762"/>
              </a:spcBef>
            </a:pP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演进主旨：直面理想相位屏模型与真实3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厚板之间的系统物理失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配。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6"/>
              </a:spcBef>
            </a:pPr>
            <a:r>
              <a:rPr sz="2500" b="1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探索1:出口平面复场诊断(物理层)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sp>
        <p:nvSpPr>
          <p:cNvPr id="1048666" name="textbox 240"/>
          <p:cNvSpPr/>
          <p:nvPr/>
        </p:nvSpPr>
        <p:spPr>
          <a:xfrm>
            <a:off x="13249533" y="4031357"/>
            <a:ext cx="2956560" cy="3304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84" rIns="0" bIns="0"/>
          <a:lstStyle/>
          <a:p>
            <a:pPr marL="894714" indent="-869314" algn="l" rtl="0" eaLnBrk="0">
              <a:lnSpc>
                <a:spcPct val="106000"/>
              </a:lnSpc>
              <a:spcBef>
                <a:spcPts val="1"/>
              </a:spcBef>
            </a:pPr>
            <a:r>
              <a:rPr sz="1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[图表占位符：出口平面复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场示意图]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/>
              <a:ea typeface="Arial"/>
              <a:cs typeface="Arial"/>
            </a:endParaRPr>
          </a:p>
          <a:p>
            <a:pPr marL="590550" indent="-577850" algn="l" rtl="0" eaLnBrk="0">
              <a:lnSpc>
                <a:spcPct val="108000"/>
              </a:lnSpc>
              <a:spcBef>
                <a:spcPts val="2"/>
              </a:spcBef>
            </a:pPr>
            <a:r>
              <a:rPr sz="1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[图表占位符：代理模型训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练/预测流程图]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048667" name="textbox 242"/>
          <p:cNvSpPr/>
          <p:nvPr/>
        </p:nvSpPr>
        <p:spPr>
          <a:xfrm>
            <a:off x="6953263" y="6304163"/>
            <a:ext cx="5340350" cy="120780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238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5000"/>
              </a:lnSpc>
            </a:pPr>
            <a:r>
              <a:rPr sz="2500" b="1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探索2:出口幅值代理模型(数据层)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4000"/>
              </a:lnSpc>
              <a:spcBef>
                <a:spcPts val="2"/>
              </a:spcBef>
            </a:pP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尝试</a:t>
            </a:r>
            <a:r>
              <a:rPr sz="19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Data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driven</a:t>
            </a:r>
            <a:r>
              <a:rPr sz="1900" kern="0" spc="-5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范式，从局部厚度与特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征学习真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实出口幅值响应，意图替代耗时的全波仿真计算。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048668" name="textbox 244"/>
          <p:cNvSpPr/>
          <p:nvPr/>
        </p:nvSpPr>
        <p:spPr>
          <a:xfrm>
            <a:off x="2521029" y="8734449"/>
            <a:ext cx="12420600" cy="37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12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在稳定主线基础上，项目正式开启“</a:t>
            </a:r>
            <a:r>
              <a:rPr sz="25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丰富内部诊</a:t>
            </a:r>
            <a:r>
              <a:rPr sz="25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断工具与加速物理逼近”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的前沿尝试。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sp>
        <p:nvSpPr>
          <p:cNvPr id="1048669" name="textbox 246"/>
          <p:cNvSpPr/>
          <p:nvPr/>
        </p:nvSpPr>
        <p:spPr>
          <a:xfrm>
            <a:off x="6953263" y="4334606"/>
            <a:ext cx="5321934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738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2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不再仅观测焦平面，直接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截取并分析厚板出口处的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复场特征，精准定位相位/幅值物理失配的根源。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2097177" name="picture 2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210970" y="6603967"/>
            <a:ext cx="425521" cy="393752"/>
          </a:xfrm>
          <a:prstGeom prst="rect">
            <a:avLst/>
          </a:prstGeom>
        </p:spPr>
      </p:pic>
      <p:sp>
        <p:nvSpPr>
          <p:cNvPr id="2" name="Google Shape;96;p14">
            <a:extLst>
              <a:ext uri="{FF2B5EF4-FFF2-40B4-BE49-F238E27FC236}">
                <a16:creationId xmlns:a16="http://schemas.microsoft.com/office/drawing/2014/main" id="{624B175C-2EC9-182F-8495-44159700B188}"/>
              </a:ext>
            </a:extLst>
          </p:cNvPr>
          <p:cNvSpPr txBox="1"/>
          <p:nvPr/>
        </p:nvSpPr>
        <p:spPr>
          <a:xfrm>
            <a:off x="571500" y="476252"/>
            <a:ext cx="490474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阶段</a:t>
            </a:r>
            <a:r>
              <a:rPr lang="en-US" altLang="zh-CN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6:</a:t>
            </a:r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后续增强与支线探索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extbox 254"/>
          <p:cNvSpPr/>
          <p:nvPr/>
        </p:nvSpPr>
        <p:spPr>
          <a:xfrm>
            <a:off x="969644" y="968695"/>
            <a:ext cx="15535910" cy="3028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364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5111"/>
              </a:lnSpc>
            </a:pPr>
            <a:r>
              <a:rPr sz="3400" kern="0" spc="6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中期阶段总结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572"/>
              </a:spcBef>
            </a:pPr>
            <a:r>
              <a:rPr sz="19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[图表占位符：三栏总结图]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/>
              <a:ea typeface="Arial"/>
              <a:cs typeface="Arial"/>
            </a:endParaRPr>
          </a:p>
          <a:p>
            <a:pPr marL="431165" algn="l" rtl="0" eaLnBrk="0">
              <a:lnSpc>
                <a:spcPts val="3886"/>
              </a:lnSpc>
              <a:spcBef>
                <a:spcPts val="7"/>
              </a:spcBef>
            </a:pPr>
            <a:r>
              <a:rPr sz="3000" kern="0" spc="-30" dirty="0">
                <a:solidFill>
                  <a:srgbClr val="309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[√]</a:t>
            </a:r>
            <a:r>
              <a:rPr sz="3000" kern="0" spc="-770" dirty="0">
                <a:solidFill>
                  <a:srgbClr val="309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0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已完成核心里程碑</a:t>
            </a:r>
            <a:r>
              <a:rPr sz="3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3000" b="1" kern="0" spc="-40" dirty="0">
                <a:solidFill>
                  <a:srgbClr val="C05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[!]</a:t>
            </a:r>
            <a:r>
              <a:rPr sz="3000" kern="0" spc="630" dirty="0">
                <a:solidFill>
                  <a:srgbClr val="C05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0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当前存在问题</a:t>
            </a: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4600" b="1" kern="0" spc="-40" baseline="87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[</a:t>
            </a:r>
            <a:r>
              <a:rPr sz="2900" kern="0" spc="-1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600" b="1" kern="0" spc="-40" baseline="87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→]下一步行动计划</a:t>
            </a:r>
            <a:endParaRPr sz="4600" baseline="8780" dirty="0">
              <a:latin typeface="SimHei"/>
              <a:ea typeface="SimHei"/>
              <a:cs typeface="SimHei"/>
            </a:endParaRPr>
          </a:p>
        </p:txBody>
      </p:sp>
      <p:sp>
        <p:nvSpPr>
          <p:cNvPr id="1048672" name="textbox 256"/>
          <p:cNvSpPr/>
          <p:nvPr/>
        </p:nvSpPr>
        <p:spPr>
          <a:xfrm>
            <a:off x="1642988" y="8785192"/>
            <a:ext cx="15718789" cy="904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8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500" b="1" kern="0" spc="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中期目标圆满达成：</a:t>
            </a:r>
            <a:r>
              <a:rPr sz="2500" kern="0" spc="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核</a:t>
            </a:r>
            <a:r>
              <a:rPr sz="2500" kern="0" spc="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心仿真大楼已封顶，下半场的重心全面转</a:t>
            </a:r>
            <a:r>
              <a:rPr sz="2500" b="1" kern="0" spc="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向精调固化与学术定稿。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/>
              <a:ea typeface="Arial"/>
              <a:cs typeface="Arial"/>
            </a:endParaRPr>
          </a:p>
        </p:txBody>
      </p:sp>
      <p:sp>
        <p:nvSpPr>
          <p:cNvPr id="1048673" name="textbox 258"/>
          <p:cNvSpPr/>
          <p:nvPr/>
        </p:nvSpPr>
        <p:spPr>
          <a:xfrm>
            <a:off x="11849116" y="4581488"/>
            <a:ext cx="4064000" cy="295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21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86000"/>
              </a:lnSpc>
            </a:pP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口稳固并冻结当前主线，统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431165" algn="l" rtl="0" eaLnBrk="0">
              <a:lnSpc>
                <a:spcPts val="3469"/>
              </a:lnSpc>
            </a:pP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一全部消融实验口径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5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754"/>
              </a:spcBef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</a:t>
            </a:r>
            <a:r>
              <a:rPr sz="2500" kern="0" spc="-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补全关键对比数据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533400" algn="l" rtl="0" eaLnBrk="0">
              <a:lnSpc>
                <a:spcPct val="81000"/>
              </a:lnSpc>
              <a:spcBef>
                <a:spcPts val="336"/>
              </a:spcBef>
            </a:pP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(Ablation Stu</a:t>
            </a:r>
            <a:r>
              <a:rPr sz="30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dy)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86000"/>
              </a:lnSpc>
              <a:spcBef>
                <a:spcPts val="754"/>
              </a:spcBef>
            </a:pP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</a:t>
            </a:r>
            <a:r>
              <a:rPr sz="25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将现有系统演化成果沉淀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450215" algn="l" rtl="0" eaLnBrk="0">
              <a:lnSpc>
                <a:spcPts val="3399"/>
              </a:lnSpc>
            </a:pP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为论文方法与实验章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节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sp>
        <p:nvSpPr>
          <p:cNvPr id="1048674" name="textbox 260"/>
          <p:cNvSpPr/>
          <p:nvPr/>
        </p:nvSpPr>
        <p:spPr>
          <a:xfrm>
            <a:off x="1327123" y="4596708"/>
            <a:ext cx="4022725" cy="2990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616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381000" indent="-368300" algn="l" rtl="0" eaLnBrk="0">
              <a:lnSpc>
                <a:spcPct val="105000"/>
              </a:lnSpc>
            </a:pP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</a:t>
            </a:r>
            <a:r>
              <a:rPr sz="2500" kern="0" spc="-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打通从目标图案到热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固化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评价的全物理闭环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381000" indent="-368300" algn="l" rtl="0" eaLnBrk="0">
              <a:lnSpc>
                <a:spcPct val="102000"/>
              </a:lnSpc>
              <a:spcBef>
                <a:spcPts val="751"/>
              </a:spcBef>
            </a:pPr>
            <a:r>
              <a:rPr sz="2500" kern="0" spc="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□确立</a:t>
            </a:r>
            <a:r>
              <a:rPr sz="2500" kern="0" spc="-5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MATLAB</a:t>
            </a:r>
            <a:r>
              <a:rPr sz="2500" kern="0" spc="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+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Python    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跨平台协同架构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</a:pPr>
            <a:endParaRPr sz="600" dirty="0">
              <a:latin typeface="Arial"/>
              <a:ea typeface="Arial"/>
              <a:cs typeface="Arial"/>
            </a:endParaRPr>
          </a:p>
          <a:p>
            <a:pPr marL="381000" indent="-368300" algn="l" rtl="0" eaLnBrk="0">
              <a:lnSpc>
                <a:spcPct val="105000"/>
              </a:lnSpc>
              <a:spcBef>
                <a:spcPts val="5"/>
              </a:spcBef>
            </a:pP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 积累多轮迭代、具备完整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证据链的量化对比数据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sp>
        <p:nvSpPr>
          <p:cNvPr id="1048675" name="textbox 262"/>
          <p:cNvSpPr/>
          <p:nvPr/>
        </p:nvSpPr>
        <p:spPr>
          <a:xfrm>
            <a:off x="6591352" y="4595413"/>
            <a:ext cx="4028440" cy="1900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16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399415" indent="-386715" algn="l" rtl="0" eaLnBrk="0">
              <a:lnSpc>
                <a:spcPct val="104000"/>
              </a:lnSpc>
            </a:pPr>
            <a:r>
              <a:rPr sz="2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□离散厚度板与最终热固化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结果间仍存耦合误差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</a:pPr>
            <a:endParaRPr sz="600" dirty="0">
              <a:latin typeface="Arial"/>
              <a:ea typeface="Arial"/>
              <a:cs typeface="Arial"/>
            </a:endParaRPr>
          </a:p>
          <a:p>
            <a:pPr marL="399415" indent="-336550" algn="l" rtl="0" eaLnBrk="0">
              <a:lnSpc>
                <a:spcPct val="106000"/>
              </a:lnSpc>
              <a:spcBef>
                <a:spcPts val="5"/>
              </a:spcBef>
            </a:pP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□多目标指标拉扯下，尚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未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敲定唯一的全局最优判据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393611D3-93C4-B5A4-9D9C-1A5F394E2760}"/>
              </a:ext>
            </a:extLst>
          </p:cNvPr>
          <p:cNvSpPr txBox="1"/>
          <p:nvPr/>
        </p:nvSpPr>
        <p:spPr>
          <a:xfrm>
            <a:off x="571500" y="476252"/>
            <a:ext cx="70281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+mj-ea"/>
                <a:ea typeface="+mj-ea"/>
                <a:cs typeface="Roboto"/>
              </a:rPr>
              <a:t>当前成果、存在问题与下一步计划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820</Words>
  <Application>Microsoft Office PowerPoint</Application>
  <PresentationFormat>自定义</PresentationFormat>
  <Paragraphs>269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MS Gothic</vt:lpstr>
      <vt:lpstr>仿宋</vt:lpstr>
      <vt:lpstr>SimHei</vt:lpstr>
      <vt:lpstr>宋体</vt:lpstr>
      <vt:lpstr>宋体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ROD2-W69</dc:creator>
  <cp:lastModifiedBy>鑫煜 赵</cp:lastModifiedBy>
  <cp:revision>18</cp:revision>
  <dcterms:created xsi:type="dcterms:W3CDTF">2026-04-13T22:18:50Z</dcterms:created>
  <dcterms:modified xsi:type="dcterms:W3CDTF">2026-04-20T11:51:53Z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2026-04-14T14:19:11Z</vt:filetime>
  </property>
  <property fmtid="{D5CDD505-2E9C-101B-9397-08002B2CF9AE}" pid="4" name="UsrData">
    <vt:lpwstr>69dddc44fdf75b001f395a9cwl</vt:lpwstr>
  </property>
  <property fmtid="{D5CDD505-2E9C-101B-9397-08002B2CF9AE}" pid="5" name="ICV">
    <vt:lpwstr>2ed1cd0d51ef4654a8ddcc10989a65a6_22</vt:lpwstr>
  </property>
</Properties>
</file>